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108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nu_symbol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860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80160" y="27432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Graduate School, Kyungpook National University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097280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MutBench: Systematic Benchmarking Framework</a:t>
            </a:r>
          </a:p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for Viral Mutation Hotspot Detection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74720"/>
            <a:ext cx="10058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Hwijun Kwon  |  Advisor: Prof. Inuk Jung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86200"/>
            <a:ext cx="10058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0">
                <a:solidFill>
                  <a:srgbClr val="888888"/>
                </a:solidFill>
                <a:latin typeface="Calibri"/>
              </a:defRPr>
            </a:pPr>
            <a:r>
              <a:t>Dept. of Computer Science, KNU  |  March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Table of Contents</a:t>
            </a:r>
          </a:p>
        </p:txBody>
      </p:sp>
      <p:pic>
        <p:nvPicPr>
          <p:cNvPr id="4" name="Picture 3" descr="knu_symbol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128016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——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1143000"/>
            <a:ext cx="502920" cy="50292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115568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700" b="1">
                <a:solidFill>
                  <a:srgbClr val="1B2A4A"/>
                </a:solidFill>
                <a:latin typeface="Calibri"/>
              </a:defRPr>
            </a:pPr>
            <a:r>
              <a:t>Introduction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1490472"/>
            <a:ext cx="7315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Prior work, biology background, problem definition    (S3 – S9)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2011680"/>
            <a:ext cx="502920" cy="502920"/>
          </a:xfrm>
          <a:prstGeom prst="round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1984248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700" b="1">
                <a:solidFill>
                  <a:srgbClr val="1B2A4A"/>
                </a:solidFill>
                <a:latin typeface="Calibri"/>
              </a:defRPr>
            </a:pPr>
            <a:r>
              <a:t>MutBench Framework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359152"/>
            <a:ext cx="7315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Pipeline, scoring/detection, 3-layer ground truth, MCC    (S10 – S15)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0" y="2880360"/>
            <a:ext cx="502920" cy="5029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852928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700" b="1">
                <a:solidFill>
                  <a:srgbClr val="1B2A4A"/>
                </a:solidFill>
                <a:latin typeface="Calibri"/>
              </a:defRPr>
            </a:pPr>
            <a:r>
              <a:t>Stage 1: 4-Pathogen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227832"/>
            <a:ext cx="7315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Method comparison, sensitivity, synthetic vs real gap    (S16 – S19)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97280" y="3749040"/>
            <a:ext cx="502920" cy="502920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21608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700" b="1">
                <a:solidFill>
                  <a:srgbClr val="1B2A4A"/>
                </a:solidFill>
                <a:latin typeface="Calibri"/>
              </a:defRPr>
            </a:pPr>
            <a:r>
              <a:t>Stage 2: 9-Pathogen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096512"/>
            <a:ext cx="7315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ANOVA, per-pathogen best, Friedman, LOPO, ESM-2    (S20 – S25)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97280" y="4617720"/>
            <a:ext cx="502920" cy="502920"/>
          </a:xfrm>
          <a:prstGeom prst="round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590288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700" b="1">
                <a:solidFill>
                  <a:srgbClr val="1B2A4A"/>
                </a:solidFill>
                <a:latin typeface="Calibri"/>
              </a:defRPr>
            </a:pPr>
            <a:r>
              <a:t>Extensions &amp; PAHD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965192"/>
            <a:ext cx="7315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PAHD algorithm, phylogenetic correction, baselines    (S26 – S28)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97280" y="5486400"/>
            <a:ext cx="502920" cy="50292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458968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700" b="1">
                <a:solidFill>
                  <a:srgbClr val="1B2A4A"/>
                </a:solidFill>
                <a:latin typeface="Calibri"/>
              </a:defRPr>
            </a:pPr>
            <a:r>
              <a:t>Conclusion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5833872"/>
            <a:ext cx="7315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Contributions, discussion, limitations, future work    (S29 – S33)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Prior Work: MOSD &amp; MutClust</a:t>
            </a:r>
          </a:p>
        </p:txBody>
      </p:sp>
      <p:pic>
        <p:nvPicPr>
          <p:cNvPr id="4" name="Picture 3" descr="knu_symbol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128016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—— 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097280"/>
            <a:ext cx="530352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097280"/>
            <a:ext cx="91440" cy="493776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48463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1">
                <a:solidFill>
                  <a:srgbClr val="0D7377"/>
                </a:solidFill>
                <a:latin typeface="Calibri"/>
              </a:defRPr>
            </a:pPr>
            <a:r>
              <a:t>Paper 1  |  BMC Genomics 2025 (SCIE)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554480"/>
            <a:ext cx="48463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1B2A4A"/>
                </a:solidFill>
                <a:latin typeface="Calibri"/>
              </a:defRPr>
            </a:pPr>
            <a:r>
              <a:t>MOSD: Multi-Omics Subtyping with Deep learning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965960"/>
            <a:ext cx="484632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Benchmarked 11 multi-omics integration methods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across 6 evaluation metrics for cancer subtyping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Key finding: No single method dominates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across all cancer datasets</a:t>
            </a:r>
          </a:p>
        </p:txBody>
      </p:sp>
      <p:pic>
        <p:nvPicPr>
          <p:cNvPr id="13" name="Picture 12" descr="hotspot_score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200400"/>
            <a:ext cx="4389120" cy="27432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309360" y="1097280"/>
            <a:ext cx="530352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097280"/>
            <a:ext cx="91440" cy="493776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1188720"/>
            <a:ext cx="48463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1">
                <a:solidFill>
                  <a:srgbClr val="C62828"/>
                </a:solidFill>
                <a:latin typeface="Calibri"/>
              </a:defRPr>
            </a:pPr>
            <a:r>
              <a:t>Paper 2  |  BioData Mining 2025 (SCIE)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1554480"/>
            <a:ext cx="48463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1B2A4A"/>
                </a:solidFill>
                <a:latin typeface="Calibri"/>
              </a:defRPr>
            </a:pPr>
            <a:r>
              <a:t>MutClust: Mutation Clustering for viral evolution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1965960"/>
            <a:ext cx="484632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H-score based mutation hotspot detection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with network propagation &amp; bootstrap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Limitation: H-score founder bias (rho = -0.876)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Single-pathogen evaluation is insufficient</a:t>
            </a:r>
          </a:p>
        </p:txBody>
      </p:sp>
      <p:pic>
        <p:nvPicPr>
          <p:cNvPr id="19" name="Picture 18" descr="method_compari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3200400"/>
            <a:ext cx="438912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The Central Dogma: DNA → RNA → Protein</a:t>
            </a:r>
          </a:p>
        </p:txBody>
      </p:sp>
      <p:pic>
        <p:nvPicPr>
          <p:cNvPr id="4" name="Picture 3" descr="knu_symbol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128016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—— 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1005840"/>
            <a:ext cx="6675120" cy="219456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[Central Dogma overview diagram]</a:t>
            </a:r>
          </a:p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DNA → Transcription → mRNA → Translation → Protein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97280"/>
            <a:ext cx="2011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Key Terms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91840"/>
            <a:ext cx="475488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19272"/>
            <a:ext cx="12801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0D7377"/>
                </a:solidFill>
                <a:latin typeface="Calibri"/>
              </a:defRPr>
            </a:pPr>
            <a:r>
              <a:t>Genome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575304"/>
            <a:ext cx="34747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Complete genetic information,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encoded as DNA or RNA.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319272"/>
            <a:ext cx="914400" cy="621792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[DNA double helix image]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23360"/>
            <a:ext cx="475488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050792"/>
            <a:ext cx="12801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0D7377"/>
                </a:solidFill>
                <a:latin typeface="Calibri"/>
              </a:defRPr>
            </a:pPr>
            <a:r>
              <a:t>Gene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06824"/>
            <a:ext cx="34747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Segment encoding a functional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protein or RNA molecule.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4050792"/>
            <a:ext cx="914400" cy="621792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[Gene segment image]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754880"/>
            <a:ext cx="475488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782312"/>
            <a:ext cx="12801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0D7377"/>
                </a:solidFill>
                <a:latin typeface="Calibri"/>
              </a:defRPr>
            </a:pPr>
            <a:r>
              <a:t>Nucleotide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34747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Building blocks: A, T/U, G, C.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0" y="4782312"/>
            <a:ext cx="914400" cy="621792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[Nucleotide structure image]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486400"/>
            <a:ext cx="475488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513832"/>
            <a:ext cx="12801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0D7377"/>
                </a:solidFill>
                <a:latin typeface="Calibri"/>
              </a:defRPr>
            </a:pPr>
            <a:r>
              <a:t>Amino Acid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769864"/>
            <a:ext cx="34747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Protein building blocks.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3 nucleotides = 1 codon = 1 AA.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97680" y="5513832"/>
            <a:ext cx="914400" cy="621792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[Amino acid image]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0" y="3291840"/>
            <a:ext cx="1920240" cy="502920"/>
          </a:xfrm>
          <a:prstGeom prst="round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DNA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60720" y="3886200"/>
            <a:ext cx="1737360" cy="13716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[DNA double helix image]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3337560"/>
            <a:ext cx="2743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000" b="1">
                <a:solidFill>
                  <a:srgbClr val="88888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863840" y="3291840"/>
            <a:ext cx="1920240" cy="502920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mRNA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55280" y="3886200"/>
            <a:ext cx="1737360" cy="13716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[mRNA transcription image]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0" y="3337560"/>
            <a:ext cx="2743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000" b="1">
                <a:solidFill>
                  <a:srgbClr val="88888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3291840"/>
            <a:ext cx="1920240" cy="502920"/>
          </a:xfrm>
          <a:prstGeom prst="round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Protein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49840" y="3886200"/>
            <a:ext cx="1737360" cy="13716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[Protein folding image]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0" y="5394960"/>
            <a:ext cx="5760720" cy="64008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RNA viruses use RNA (not DNA) as their genome.</a:t>
            </a:r>
          </a:p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Higher mutation rate due to error-prone RNA polymerase.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Mutations &amp; Their Effects</a:t>
            </a:r>
          </a:p>
        </p:txBody>
      </p:sp>
      <p:pic>
        <p:nvPicPr>
          <p:cNvPr id="4" name="Picture 3" descr="knu_symbol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128016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—— 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23160" y="1005840"/>
            <a:ext cx="7315200" cy="36576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[Mutation types diagram: substitution, insertion, deletion with DNA sequence examples]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73152" cy="100584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188720"/>
            <a:ext cx="16459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0D7377"/>
                </a:solidFill>
                <a:latin typeface="Calibri"/>
              </a:defRPr>
            </a:pPr>
            <a:r>
              <a:t>Substitution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481328"/>
            <a:ext cx="16459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One nucleotide replaced by another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286000"/>
            <a:ext cx="73152" cy="100584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377440"/>
            <a:ext cx="16459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E65100"/>
                </a:solidFill>
                <a:latin typeface="Calibri"/>
              </a:defRPr>
            </a:pPr>
            <a:r>
              <a:t>Insertion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8"/>
            <a:ext cx="16459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Extra nucleotide(s) added, shifts reading frame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474720"/>
            <a:ext cx="73152" cy="100584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566160"/>
            <a:ext cx="16459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C62828"/>
                </a:solidFill>
                <a:latin typeface="Calibri"/>
              </a:defRPr>
            </a:pPr>
            <a:r>
              <a:t>Deletion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858768"/>
            <a:ext cx="16459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Nucleotide(s) removed, disrupts structure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846320"/>
            <a:ext cx="2743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1">
                <a:solidFill>
                  <a:srgbClr val="1B2A4A"/>
                </a:solidFill>
                <a:latin typeface="Calibri"/>
              </a:defRPr>
            </a:pPr>
            <a:r>
              <a:t>Effects on Protein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257800"/>
            <a:ext cx="246888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5257800"/>
            <a:ext cx="54864" cy="73152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303520"/>
            <a:ext cx="2103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888888"/>
                </a:solidFill>
                <a:latin typeface="Calibri"/>
              </a:defRPr>
            </a:pPr>
            <a:r>
              <a:t>Silent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605272"/>
            <a:ext cx="21031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No AA change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00400" y="5257800"/>
            <a:ext cx="246888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00400" y="5257800"/>
            <a:ext cx="54864" cy="73152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83280" y="5303520"/>
            <a:ext cx="2103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1565C0"/>
                </a:solidFill>
                <a:latin typeface="Calibri"/>
              </a:defRPr>
            </a:pPr>
            <a:r>
              <a:t>Missense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80" y="5605272"/>
            <a:ext cx="21031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Different AA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852160" y="5257800"/>
            <a:ext cx="246888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852160" y="5257800"/>
            <a:ext cx="54864" cy="73152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5040" y="5303520"/>
            <a:ext cx="2103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C62828"/>
                </a:solidFill>
                <a:latin typeface="Calibri"/>
              </a:defRPr>
            </a:pPr>
            <a:r>
              <a:t>Nonsense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0" y="5605272"/>
            <a:ext cx="21031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Premature stop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0" y="4846320"/>
            <a:ext cx="3566160" cy="114300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E7D32"/>
                </a:solidFill>
                <a:latin typeface="Calibri"/>
              </a:defRPr>
            </a:pPr>
            <a:r>
              <a:t>When mutations cluster at specific</a:t>
            </a:r>
          </a:p>
          <a:p>
            <a:pPr algn="ctr">
              <a:defRPr sz="1100" b="1">
                <a:solidFill>
                  <a:srgbClr val="2E7D32"/>
                </a:solidFill>
                <a:latin typeface="Calibri"/>
              </a:defRPr>
            </a:pPr>
            <a:r>
              <a:t>positions across many lineages,</a:t>
            </a:r>
          </a:p>
          <a:p>
            <a:pPr algn="ctr">
              <a:defRPr sz="1100" b="1">
                <a:solidFill>
                  <a:srgbClr val="2E7D32"/>
                </a:solidFill>
                <a:latin typeface="Calibri"/>
              </a:defRPr>
            </a:pPr>
            <a:r>
              <a:t>they are called Mutation Hotspots.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Viral Evolution &amp; Natural Selection</a:t>
            </a:r>
          </a:p>
        </p:txBody>
      </p:sp>
      <p:pic>
        <p:nvPicPr>
          <p:cNvPr id="4" name="Picture 3" descr="knu_symbol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128016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—— 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97280"/>
            <a:ext cx="356616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3566160" cy="5029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15568"/>
            <a:ext cx="3566160" cy="4663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Positive Selection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3200400" cy="2377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Mutations that increase viral fitness spread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through the population.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Examples: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  Immune evasion mutations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  Increased transmissibility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  Drug resistance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206240"/>
            <a:ext cx="3200400" cy="169164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[Positive selection diagram]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097280"/>
            <a:ext cx="356616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1097280"/>
            <a:ext cx="3566160" cy="50292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0" y="1115568"/>
            <a:ext cx="3566160" cy="4663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Purifying Selection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1737360"/>
            <a:ext cx="3200400" cy="2377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Mutations that damage essential functions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are removed from the population.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Examples: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  Disruption of replication machinery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  Loss of structural integrity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  Impaired host entry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80560" y="4206240"/>
            <a:ext cx="3200400" cy="169164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[Purifying selection diagram]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1097280"/>
            <a:ext cx="356616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8160" y="1097280"/>
            <a:ext cx="3566160" cy="50292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1115568"/>
            <a:ext cx="3566160" cy="4663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Convergent Evolution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1737360"/>
            <a:ext cx="3200400" cy="2377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The same mutation arises independently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in different viral lineages.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Examples: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  N501Y in multiple SARS-CoV-2 variants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  E484K across Alpha, Beta, Gamma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  Strong signal of positive selection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21040" y="4206240"/>
            <a:ext cx="3200400" cy="169164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[Convergent evolution diagram]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Research Overview</a:t>
            </a:r>
          </a:p>
        </p:txBody>
      </p:sp>
      <p:pic>
        <p:nvPicPr>
          <p:cNvPr id="4" name="Picture 3" descr="knu_symbol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128016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—— 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188720"/>
            <a:ext cx="2011680" cy="137160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Problem</a:t>
            </a:r>
          </a:p>
          <a:p>
            <a:pPr algn="ctr">
              <a:spcBef>
                <a:spcPts val="200"/>
              </a:spcBef>
              <a:spcAft>
                <a:spcPts val="0"/>
              </a:spcAft>
            </a:pP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No benchmark for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hotspot detection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1554480"/>
            <a:ext cx="365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800" b="1">
                <a:solidFill>
                  <a:srgbClr val="333333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0" y="1188720"/>
            <a:ext cx="2011680" cy="137160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MutBench</a:t>
            </a:r>
          </a:p>
          <a:p>
            <a:pPr algn="ctr">
              <a:spcBef>
                <a:spcPts val="200"/>
              </a:spcBef>
              <a:spcAft>
                <a:spcPts val="0"/>
              </a:spcAft>
            </a:pP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3-Layer GT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9 Scoring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39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554480"/>
            <a:ext cx="365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800" b="1">
                <a:solidFill>
                  <a:srgbClr val="333333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20640" y="1188720"/>
            <a:ext cx="2011680" cy="13716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Stage 1</a:t>
            </a:r>
          </a:p>
          <a:p>
            <a:pPr algn="ctr">
              <a:spcBef>
                <a:spcPts val="200"/>
              </a:spcBef>
              <a:spcAft>
                <a:spcPts val="0"/>
              </a:spcAft>
            </a:pP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SARS-CoV-2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depth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1554480"/>
            <a:ext cx="365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800" b="1">
                <a:solidFill>
                  <a:srgbClr val="333333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0" y="1188720"/>
            <a:ext cx="2011680" cy="1371600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Stage 2</a:t>
            </a:r>
          </a:p>
          <a:p>
            <a:pPr algn="ctr">
              <a:spcBef>
                <a:spcPts val="200"/>
              </a:spcBef>
              <a:spcAft>
                <a:spcPts val="0"/>
              </a:spcAft>
            </a:pP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9 pathogens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2,544 evaluations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0" y="1554480"/>
            <a:ext cx="365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800" b="1">
                <a:solidFill>
                  <a:srgbClr val="333333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875520" y="1188720"/>
            <a:ext cx="2011680" cy="1371600"/>
          </a:xfrm>
          <a:prstGeom prst="round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Finding</a:t>
            </a:r>
          </a:p>
          <a:p>
            <a:pPr algn="ctr">
              <a:spcBef>
                <a:spcPts val="200"/>
              </a:spcBef>
              <a:spcAft>
                <a:spcPts val="0"/>
              </a:spcAft>
            </a:pP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No universal best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ω² = 0.285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0" y="2834640"/>
            <a:ext cx="8503920" cy="36576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23560" y="2743200"/>
            <a:ext cx="914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000" b="1">
                <a:solidFill>
                  <a:srgbClr val="1B2A4A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0400" y="3108960"/>
            <a:ext cx="5760720" cy="109728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PAHD: Pathogen-Adaptive Hotspot Detection</a:t>
            </a:r>
          </a:p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Adaptive method selection based on pathogen profile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4572000"/>
            <a:ext cx="214884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4709160"/>
            <a:ext cx="21488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800" b="1">
                <a:solidFill>
                  <a:srgbClr val="0D7377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5394960"/>
            <a:ext cx="2148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RNA Pathogens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06624" y="4572000"/>
            <a:ext cx="214884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06624" y="4709160"/>
            <a:ext cx="21488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800" b="1">
                <a:solidFill>
                  <a:srgbClr val="E65100"/>
                </a:solidFill>
                <a:latin typeface="Calibri"/>
              </a:defRPr>
            </a:pPr>
            <a:r>
              <a:t>2,544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06624" y="5394960"/>
            <a:ext cx="2148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Evaluations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47488" y="4572000"/>
            <a:ext cx="214884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47488" y="4709160"/>
            <a:ext cx="21488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800" b="1">
                <a:solidFill>
                  <a:srgbClr val="2E7D32"/>
                </a:solidFill>
                <a:latin typeface="Calibri"/>
              </a:defRPr>
            </a:pPr>
            <a:r>
              <a:t>351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47488" y="5394960"/>
            <a:ext cx="2148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Method Combos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88352" y="4572000"/>
            <a:ext cx="214884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88352" y="4709160"/>
            <a:ext cx="21488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800" b="1">
                <a:solidFill>
                  <a:srgbClr val="6A1B9A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88352" y="5394960"/>
            <a:ext cx="2148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GT Layers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729216" y="4572000"/>
            <a:ext cx="214884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29216" y="4709160"/>
            <a:ext cx="21488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800" b="1">
                <a:solidFill>
                  <a:srgbClr val="C62828"/>
                </a:solidFill>
                <a:latin typeface="Calibri"/>
              </a:defRPr>
            </a:pPr>
            <a:r>
              <a:t>0.285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29216" y="5394960"/>
            <a:ext cx="2148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Interaction ω²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What are Mutation Hotspots?</a:t>
            </a:r>
          </a:p>
        </p:txBody>
      </p:sp>
      <p:pic>
        <p:nvPicPr>
          <p:cNvPr id="4" name="Picture 3" descr="knu_symbol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128016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—— 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097280"/>
            <a:ext cx="11064240" cy="109728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Definition:  Genomic positions where mutations accumulate at significantly</a:t>
            </a:r>
          </a:p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higher frequencies than expected by chance, indicating selective pressure.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68880"/>
            <a:ext cx="5303520" cy="27432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[Image Placeholder]</a:t>
            </a:r>
          </a:p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Hotspot Visualization on Spike Protein</a:t>
            </a:r>
          </a:p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e.g., N501Y, E484K, D614G positions highlighted</a:t>
            </a:r>
          </a:p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(To be inserted)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2468880"/>
            <a:ext cx="539496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2514600"/>
            <a:ext cx="18288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1B2A4A"/>
                </a:solidFill>
                <a:latin typeface="Calibri"/>
              </a:defRPr>
            </a:pPr>
            <a:r>
              <a:t>Why do they occur?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788920"/>
            <a:ext cx="50292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Positive selection drives beneficial mutations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(e.g., immune escape at receptor binding sites).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Some regions tolerate mutations better than others.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3429000"/>
            <a:ext cx="539496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3474720"/>
            <a:ext cx="18288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1B2A4A"/>
                </a:solidFill>
                <a:latin typeface="Calibri"/>
              </a:defRPr>
            </a:pPr>
            <a:r>
              <a:t>Why are they important?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749040"/>
            <a:ext cx="50292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Track viral evolution in real-time.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Guide vaccine &amp; drug target design.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Predict emerging variants of concern.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4389120"/>
            <a:ext cx="539496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4434840"/>
            <a:ext cx="18288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1B2A4A"/>
                </a:solidFill>
                <a:latin typeface="Calibri"/>
              </a:defRPr>
            </a:pPr>
            <a:r>
              <a:t>Key Examples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4709160"/>
            <a:ext cx="50292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N501Y: Enhanced ACE2 binding affinity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E484K: Immune escape from antibodies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D614G: Founder effect vs true selection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440680"/>
            <a:ext cx="11064240" cy="640080"/>
          </a:xfrm>
          <a:prstGeom prst="roundRect">
            <a:avLst/>
          </a:prstGeom>
          <a:solidFill>
            <a:srgbClr val="FFEBEE"/>
          </a:solidFill>
          <a:ln w="127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C62828"/>
                </a:solidFill>
                <a:latin typeface="Calibri"/>
              </a:defRPr>
            </a:pPr>
            <a:r>
              <a:t>Current gap: No systematic way to compare hotspot detection methods across pathogens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Problem Definition</a:t>
            </a:r>
          </a:p>
        </p:txBody>
      </p:sp>
      <p:pic>
        <p:nvPicPr>
          <p:cNvPr id="4" name="Picture 3" descr="knu_symbol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128016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—— 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097280"/>
            <a:ext cx="896112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371600"/>
            <a:ext cx="548640" cy="45720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1280160"/>
            <a:ext cx="7772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No Standardized Benchmark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737360"/>
            <a:ext cx="77724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Existing methods evaluated on different datasets with different metrics, making fair comparison impossible.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784080" y="1234440"/>
            <a:ext cx="1828800" cy="118872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[Placeholder]</a:t>
            </a:r>
          </a:p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Incompatible metrics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788920"/>
            <a:ext cx="896112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1520" y="3063240"/>
            <a:ext cx="548640" cy="45720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2971800"/>
            <a:ext cx="7772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Single-Pathogen Bias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429000"/>
            <a:ext cx="77724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Methods tested on only 1-2 pathogens cannot generalize. Pathogen-specific characteristics dramatically affect detection performance.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84080" y="2926080"/>
            <a:ext cx="1828800" cy="118872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[Placeholder]</a:t>
            </a:r>
          </a:p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1 vs 9 pathogens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480560"/>
            <a:ext cx="896112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31520" y="4754880"/>
            <a:ext cx="548640" cy="45720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663440"/>
            <a:ext cx="7772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No Universal Best Method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120640"/>
            <a:ext cx="77724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Our prior work (MOSD, MutClust) demonstrated that no single approach dominates across all settings, demanding systematic evaluation.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84080" y="4617720"/>
            <a:ext cx="1828800" cy="118872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[Placeholder]</a:t>
            </a:r>
          </a:p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Ranking reversal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9 RNA Pathogens in MutBench</a:t>
            </a:r>
          </a:p>
        </p:txBody>
      </p:sp>
      <p:pic>
        <p:nvPicPr>
          <p:cNvPr id="4" name="Picture 3" descr="knu_symbol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128016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——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106424"/>
            <a:ext cx="201168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Pathogen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1106424"/>
            <a:ext cx="128016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Genome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40" y="1106424"/>
            <a:ext cx="237744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Target Protein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106424"/>
            <a:ext cx="557784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Key Feature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554480"/>
            <a:ext cx="11247120" cy="5303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1554480"/>
            <a:ext cx="201168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1">
                <a:solidFill>
                  <a:srgbClr val="1B2A4A"/>
                </a:solidFill>
                <a:latin typeface="Calibri"/>
              </a:defRPr>
            </a:pPr>
            <a:r>
              <a:t>SARS-CoV-2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1554480"/>
            <a:ext cx="128016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~30 kb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40" y="1554480"/>
            <a:ext cx="237744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Spike protein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1554480"/>
            <a:ext cx="557784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COVID-19 pandemic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084832"/>
            <a:ext cx="112471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084832"/>
            <a:ext cx="201168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1">
                <a:solidFill>
                  <a:srgbClr val="1B2A4A"/>
                </a:solidFill>
                <a:latin typeface="Calibri"/>
              </a:defRPr>
            </a:pPr>
            <a:r>
              <a:t>Influenza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80" y="2084832"/>
            <a:ext cx="128016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~13.5 kb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40" y="2084832"/>
            <a:ext cx="237744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Hemagglutinin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2084832"/>
            <a:ext cx="557784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Seasonal epidemics, antigenic shift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615184"/>
            <a:ext cx="11247120" cy="5303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2615184"/>
            <a:ext cx="201168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1">
                <a:solidFill>
                  <a:srgbClr val="1B2A4A"/>
                </a:solidFill>
                <a:latin typeface="Calibri"/>
              </a:defRPr>
            </a:pPr>
            <a:r>
              <a:t>HIV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68880" y="2615184"/>
            <a:ext cx="128016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~10 kb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40" y="2615184"/>
            <a:ext cx="237744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Env/Gag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2615184"/>
            <a:ext cx="557784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High mutation rate, chronic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145536"/>
            <a:ext cx="112471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3145536"/>
            <a:ext cx="201168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1">
                <a:solidFill>
                  <a:srgbClr val="1B2A4A"/>
                </a:solidFill>
                <a:latin typeface="Calibri"/>
              </a:defRPr>
            </a:pPr>
            <a:r>
              <a:t>Dengue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68880" y="3145536"/>
            <a:ext cx="128016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~11 kb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9040" y="3145536"/>
            <a:ext cx="237744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E protein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26480" y="3145536"/>
            <a:ext cx="557784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4 serotypes, tropical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3675888"/>
            <a:ext cx="11247120" cy="5303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3675888"/>
            <a:ext cx="201168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1">
                <a:solidFill>
                  <a:srgbClr val="1B2A4A"/>
                </a:solidFill>
                <a:latin typeface="Calibri"/>
              </a:defRPr>
            </a:pPr>
            <a:r>
              <a:t>MERS-CoV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68880" y="3675888"/>
            <a:ext cx="128016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~30 kb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49040" y="3675888"/>
            <a:ext cx="237744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Spike protein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3675888"/>
            <a:ext cx="557784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Camel-origin, high fatality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206240"/>
            <a:ext cx="112471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4206240"/>
            <a:ext cx="201168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1">
                <a:solidFill>
                  <a:srgbClr val="1B2A4A"/>
                </a:solidFill>
                <a:latin typeface="Calibri"/>
              </a:defRPr>
            </a:pPr>
            <a:r>
              <a:t>RSV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8880" y="4206240"/>
            <a:ext cx="128016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~15 kb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749040" y="4206240"/>
            <a:ext cx="237744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F protein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26480" y="4206240"/>
            <a:ext cx="557784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Infant respiratory disease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4736592"/>
            <a:ext cx="11247120" cy="5303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4736592"/>
            <a:ext cx="201168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1">
                <a:solidFill>
                  <a:srgbClr val="1B2A4A"/>
                </a:solidFill>
                <a:latin typeface="Calibri"/>
              </a:defRPr>
            </a:pPr>
            <a:r>
              <a:t>Norovirus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68880" y="4736592"/>
            <a:ext cx="128016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~7.5 kb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49040" y="4736592"/>
            <a:ext cx="237744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VP1 capsid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26480" y="4736592"/>
            <a:ext cx="557784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Gastroenteritis, rapid evolution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5266944"/>
            <a:ext cx="112471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5266944"/>
            <a:ext cx="201168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1">
                <a:solidFill>
                  <a:srgbClr val="1B2A4A"/>
                </a:solidFill>
                <a:latin typeface="Calibri"/>
              </a:defRPr>
            </a:pPr>
            <a:r>
              <a:t>HCV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468880" y="5266944"/>
            <a:ext cx="128016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~9.6 kb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749040" y="5266944"/>
            <a:ext cx="237744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E1/E2 proteins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26480" y="5266944"/>
            <a:ext cx="557784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Chronic hepatitis, high diversity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5797296"/>
            <a:ext cx="11247120" cy="5303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57200" y="5797296"/>
            <a:ext cx="201168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1">
                <a:solidFill>
                  <a:srgbClr val="1B2A4A"/>
                </a:solidFill>
                <a:latin typeface="Calibri"/>
              </a:defRPr>
            </a:pPr>
            <a:r>
              <a:t>Ebola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468880" y="5797296"/>
            <a:ext cx="128016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~19 kb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49040" y="5797296"/>
            <a:ext cx="237744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Glycoprotein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126480" y="5797296"/>
            <a:ext cx="557784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Hemorrhagic fever, outbreaks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000" b="0">
                <a:solidFill>
                  <a:srgbClr val="888888"/>
                </a:solidFill>
                <a:latin typeface="Calibri"/>
              </a:defRPr>
            </a:pPr>
            <a:r>
              <a:t>* All RNA viruses with publicly available sequence data from NCBI/GISAID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MutBench Pipeline Overview</a:t>
            </a:r>
          </a:p>
        </p:txBody>
      </p:sp>
      <p:pic>
        <p:nvPicPr>
          <p:cNvPr id="4" name="Picture 3" descr="knu_symbol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128016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——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097280"/>
            <a:ext cx="1600200" cy="960120"/>
          </a:xfrm>
          <a:prstGeom prst="round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Input</a:t>
            </a:r>
          </a:p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Sequences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5960" y="1325880"/>
            <a:ext cx="3200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000" b="1">
                <a:solidFill>
                  <a:srgbClr val="888888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86000" y="1097280"/>
            <a:ext cx="1600200" cy="960120"/>
          </a:xfrm>
          <a:prstGeom prst="round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MSA</a:t>
            </a:r>
          </a:p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Alignment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200" y="1325880"/>
            <a:ext cx="3200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000" b="1">
                <a:solidFill>
                  <a:srgbClr val="888888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1097280"/>
            <a:ext cx="1600200" cy="9601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Scoring</a:t>
            </a:r>
          </a:p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(9 methods)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1325880"/>
            <a:ext cx="3200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000" b="1">
                <a:solidFill>
                  <a:srgbClr val="888888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1097280"/>
            <a:ext cx="1600200" cy="9601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Detection</a:t>
            </a:r>
          </a:p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(39 methods)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26680" y="1325880"/>
            <a:ext cx="3200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000" b="1">
                <a:solidFill>
                  <a:srgbClr val="888888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097280"/>
            <a:ext cx="1600200" cy="960120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Ground</a:t>
            </a:r>
          </a:p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Truth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46920" y="1325880"/>
            <a:ext cx="3200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000" b="1">
                <a:solidFill>
                  <a:srgbClr val="888888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66960" y="1097280"/>
            <a:ext cx="1600200" cy="96012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Evaluation</a:t>
            </a:r>
          </a:p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(MCC)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377440"/>
            <a:ext cx="5486400" cy="41148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386584"/>
            <a:ext cx="5486400" cy="3931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9 Scoring Methods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2880360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0D7377"/>
                </a:solidFill>
                <a:latin typeface="Calibri"/>
              </a:defRPr>
            </a:pPr>
            <a:r>
              <a:t>  Shannon Entropy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108960"/>
            <a:ext cx="17373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888888"/>
                </a:solidFill>
                <a:latin typeface="Calibri"/>
              </a:defRPr>
            </a:pPr>
            <a:r>
              <a:t>    Position variability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880360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0D7377"/>
                </a:solidFill>
                <a:latin typeface="Calibri"/>
              </a:defRPr>
            </a:pPr>
            <a:r>
              <a:t>  Jensen-Shannon Div.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108960"/>
            <a:ext cx="17373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888888"/>
                </a:solidFill>
                <a:latin typeface="Calibri"/>
              </a:defRPr>
            </a:pPr>
            <a:r>
              <a:t>    Distribution divergence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2880360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0D7377"/>
                </a:solidFill>
                <a:latin typeface="Calibri"/>
              </a:defRPr>
            </a:pPr>
            <a:r>
              <a:t>  Mutation Frequency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3108960"/>
            <a:ext cx="17373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888888"/>
                </a:solidFill>
                <a:latin typeface="Calibri"/>
              </a:defRPr>
            </a:pPr>
            <a:r>
              <a:t>    1 - dominant freq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3383280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0D7377"/>
                </a:solidFill>
                <a:latin typeface="Calibri"/>
              </a:defRPr>
            </a:pPr>
            <a:r>
              <a:t>  Wavelet (CWT)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11880"/>
            <a:ext cx="17373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888888"/>
                </a:solidFill>
                <a:latin typeface="Calibri"/>
              </a:defRPr>
            </a:pPr>
            <a:r>
              <a:t>    Multi-scale analysis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86000" y="3383280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0D7377"/>
                </a:solidFill>
                <a:latin typeface="Calibri"/>
              </a:defRPr>
            </a:pPr>
            <a:r>
              <a:t>  Sliding Window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86000" y="3611880"/>
            <a:ext cx="17373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888888"/>
                </a:solidFill>
                <a:latin typeface="Calibri"/>
              </a:defRPr>
            </a:pPr>
            <a:r>
              <a:t>    Smoothed averages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0" y="3383280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0D7377"/>
                </a:solidFill>
                <a:latin typeface="Calibri"/>
              </a:defRPr>
            </a:pPr>
            <a:r>
              <a:t>  Phylo-aware Score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0" y="3611880"/>
            <a:ext cx="17373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888888"/>
                </a:solidFill>
                <a:latin typeface="Calibri"/>
              </a:defRPr>
            </a:pPr>
            <a:r>
              <a:t>    Branch-weighted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3886200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0D7377"/>
                </a:solidFill>
                <a:latin typeface="Calibri"/>
              </a:defRPr>
            </a:pPr>
            <a:r>
              <a:t>  dN/dS Ratio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4114800"/>
            <a:ext cx="17373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888888"/>
                </a:solidFill>
                <a:latin typeface="Calibri"/>
              </a:defRPr>
            </a:pPr>
            <a:r>
              <a:t>    Selection pressure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86000" y="3886200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0D7377"/>
                </a:solidFill>
                <a:latin typeface="Calibri"/>
              </a:defRPr>
            </a:pPr>
            <a:r>
              <a:t>  Kabat Variability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86000" y="4114800"/>
            <a:ext cx="17373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888888"/>
                </a:solidFill>
                <a:latin typeface="Calibri"/>
              </a:defRPr>
            </a:pPr>
            <a:r>
              <a:t>    AA diversity index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0" y="3886200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0D7377"/>
                </a:solidFill>
                <a:latin typeface="Calibri"/>
              </a:defRPr>
            </a:pPr>
            <a:r>
              <a:t>  Property Entropy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0" y="4114800"/>
            <a:ext cx="17373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888888"/>
                </a:solidFill>
                <a:latin typeface="Calibri"/>
              </a:defRPr>
            </a:pPr>
            <a:r>
              <a:t>    Physicochemical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26480" y="2377440"/>
            <a:ext cx="5486400" cy="4114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26480" y="2386584"/>
            <a:ext cx="5486400" cy="3931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Detection Families (39 methods)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17920" y="2880360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2E7D32"/>
                </a:solidFill>
                <a:latin typeface="Calibri"/>
              </a:defRPr>
            </a:pPr>
            <a:r>
              <a:t>  Z-score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108960"/>
            <a:ext cx="17373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888888"/>
                </a:solidFill>
                <a:latin typeface="Calibri"/>
              </a:defRPr>
            </a:pPr>
            <a:r>
              <a:t>    4 variants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46720" y="2880360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2E7D32"/>
                </a:solidFill>
                <a:latin typeface="Calibri"/>
              </a:defRPr>
            </a:pPr>
            <a:r>
              <a:t>  Percentile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46720" y="3108960"/>
            <a:ext cx="17373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888888"/>
                </a:solidFill>
                <a:latin typeface="Calibri"/>
              </a:defRPr>
            </a:pPr>
            <a:r>
              <a:t>    4 variants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75520" y="2880360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2E7D32"/>
                </a:solidFill>
                <a:latin typeface="Calibri"/>
              </a:defRPr>
            </a:pPr>
            <a:r>
              <a:t>  IQR Outlier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75520" y="3108960"/>
            <a:ext cx="17373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888888"/>
                </a:solidFill>
                <a:latin typeface="Calibri"/>
              </a:defRPr>
            </a:pPr>
            <a:r>
              <a:t>    2 variants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17920" y="3383280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2E7D32"/>
                </a:solidFill>
                <a:latin typeface="Calibri"/>
              </a:defRPr>
            </a:pPr>
            <a:r>
              <a:t>  DBSCAN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17920" y="3611880"/>
            <a:ext cx="17373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888888"/>
                </a:solidFill>
                <a:latin typeface="Calibri"/>
              </a:defRPr>
            </a:pPr>
            <a:r>
              <a:t>    6 variants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46720" y="3383280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2E7D32"/>
                </a:solidFill>
                <a:latin typeface="Calibri"/>
              </a:defRPr>
            </a:pPr>
            <a:r>
              <a:t>  HDBSCAN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46720" y="3611880"/>
            <a:ext cx="17373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888888"/>
                </a:solidFill>
                <a:latin typeface="Calibri"/>
              </a:defRPr>
            </a:pPr>
            <a:r>
              <a:t>    3 variants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75520" y="3383280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2E7D32"/>
                </a:solidFill>
                <a:latin typeface="Calibri"/>
              </a:defRPr>
            </a:pPr>
            <a:r>
              <a:t>  Gaussian Mix.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75520" y="3611880"/>
            <a:ext cx="17373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888888"/>
                </a:solidFill>
                <a:latin typeface="Calibri"/>
              </a:defRPr>
            </a:pPr>
            <a:r>
              <a:t>    4 variants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17920" y="3886200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2E7D32"/>
                </a:solidFill>
                <a:latin typeface="Calibri"/>
              </a:defRPr>
            </a:pPr>
            <a:r>
              <a:t>  Kernel Density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217920" y="4114800"/>
            <a:ext cx="17373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888888"/>
                </a:solidFill>
                <a:latin typeface="Calibri"/>
              </a:defRPr>
            </a:pPr>
            <a:r>
              <a:t>    4 variants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46720" y="3886200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2E7D32"/>
                </a:solidFill>
                <a:latin typeface="Calibri"/>
              </a:defRPr>
            </a:pPr>
            <a:r>
              <a:t>  Isolation Forest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046720" y="4114800"/>
            <a:ext cx="17373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888888"/>
                </a:solidFill>
                <a:latin typeface="Calibri"/>
              </a:defRPr>
            </a:pPr>
            <a:r>
              <a:t>    3 variants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875520" y="3886200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2E7D32"/>
                </a:solidFill>
                <a:latin typeface="Calibri"/>
              </a:defRPr>
            </a:pPr>
            <a:r>
              <a:t>  Wavelet Peaks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875520" y="4114800"/>
            <a:ext cx="17373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888888"/>
                </a:solidFill>
                <a:latin typeface="Calibri"/>
              </a:defRPr>
            </a:pPr>
            <a:r>
              <a:t>    3 variants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4389120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2E7D32"/>
                </a:solidFill>
                <a:latin typeface="Calibri"/>
              </a:defRPr>
            </a:pPr>
            <a:r>
              <a:t>  LOF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17920" y="4617720"/>
            <a:ext cx="17373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888888"/>
                </a:solidFill>
                <a:latin typeface="Calibri"/>
              </a:defRPr>
            </a:pPr>
            <a:r>
              <a:t>    2 variants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046720" y="4389120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2E7D32"/>
                </a:solidFill>
                <a:latin typeface="Calibri"/>
              </a:defRPr>
            </a:pPr>
            <a:r>
              <a:t>  Threshold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46720" y="4617720"/>
            <a:ext cx="17373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888888"/>
                </a:solidFill>
                <a:latin typeface="Calibri"/>
              </a:defRPr>
            </a:pPr>
            <a:r>
              <a:t>    2 variants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875520" y="4389120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2E7D32"/>
                </a:solidFill>
                <a:latin typeface="Calibri"/>
              </a:defRPr>
            </a:pPr>
            <a:r>
              <a:t>  Bayesian CP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875520" y="4617720"/>
            <a:ext cx="17373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888888"/>
                </a:solidFill>
                <a:latin typeface="Calibri"/>
              </a:defRPr>
            </a:pPr>
            <a:r>
              <a:t>    2 variants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200400" y="5303520"/>
            <a:ext cx="57607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200" b="1">
                <a:solidFill>
                  <a:srgbClr val="1B2A4A"/>
                </a:solidFill>
                <a:latin typeface="Calibri"/>
              </a:defRPr>
            </a:pPr>
            <a:r>
              <a:t>Total: 9 x 39 = 351 unique scoring-detection combinations per pathogen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Scoring Methods: 9 Approaches to Quantify Variability</a:t>
            </a:r>
          </a:p>
        </p:txBody>
      </p:sp>
      <p:pic>
        <p:nvPicPr>
          <p:cNvPr id="4" name="Picture 3" descr="knu_symbol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128016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——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051560"/>
            <a:ext cx="361188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051560"/>
            <a:ext cx="73152" cy="155448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143000"/>
            <a:ext cx="32918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0D7377"/>
                </a:solidFill>
                <a:latin typeface="Calibri"/>
              </a:defRPr>
            </a:pPr>
            <a:r>
              <a:t>Shannon Entropy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508760"/>
            <a:ext cx="3200400" cy="365760"/>
          </a:xfrm>
          <a:prstGeom prst="rect">
            <a:avLst/>
          </a:prstGeom>
          <a:solidFill>
            <a:srgbClr val="F0F4F8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B2A4A"/>
                </a:solidFill>
                <a:latin typeface="Calibri"/>
              </a:defRPr>
            </a:pPr>
            <a:r>
              <a:t>H(x) = -Sum p(i) log2 p(i)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965960"/>
            <a:ext cx="32004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Measures nucleotide uncertainty</a:t>
            </a:r>
          </a:p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at each alignment position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0" y="1051560"/>
            <a:ext cx="361188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06240" y="1051560"/>
            <a:ext cx="73152" cy="155448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1143000"/>
            <a:ext cx="32918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0D7377"/>
                </a:solidFill>
                <a:latin typeface="Calibri"/>
              </a:defRPr>
            </a:pPr>
            <a:r>
              <a:t>Jensen-Shannon Div.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120" y="1508760"/>
            <a:ext cx="3200400" cy="365760"/>
          </a:xfrm>
          <a:prstGeom prst="rect">
            <a:avLst/>
          </a:prstGeom>
          <a:solidFill>
            <a:srgbClr val="F0F4F8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B2A4A"/>
                </a:solidFill>
                <a:latin typeface="Calibri"/>
              </a:defRPr>
            </a:pPr>
            <a:r>
              <a:t>JSD(P||Q) = H(M) - [H(P)+H(Q)]/2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1965960"/>
            <a:ext cx="32004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Divergence from background</a:t>
            </a:r>
          </a:p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distribution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1051560"/>
            <a:ext cx="361188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46720" y="1051560"/>
            <a:ext cx="73152" cy="155448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1143000"/>
            <a:ext cx="32918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0D7377"/>
                </a:solidFill>
                <a:latin typeface="Calibri"/>
              </a:defRPr>
            </a:pPr>
            <a:r>
              <a:t>Mutation Frequency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0" y="1508760"/>
            <a:ext cx="3200400" cy="365760"/>
          </a:xfrm>
          <a:prstGeom prst="rect">
            <a:avLst/>
          </a:prstGeom>
          <a:solidFill>
            <a:srgbClr val="F0F4F8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B2A4A"/>
                </a:solidFill>
                <a:latin typeface="Calibri"/>
              </a:defRPr>
            </a:pPr>
            <a:r>
              <a:t>f(x) = 1 - max(p(i))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1965960"/>
            <a:ext cx="32004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Simple: 1 minus dominant</a:t>
            </a:r>
          </a:p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nucleotide frequency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2788920"/>
            <a:ext cx="361188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2788920"/>
            <a:ext cx="73152" cy="155448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880360"/>
            <a:ext cx="32918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0D7377"/>
                </a:solidFill>
                <a:latin typeface="Calibri"/>
              </a:defRPr>
            </a:pPr>
            <a:r>
              <a:t>Wavelet (CWT)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3246120"/>
            <a:ext cx="3200400" cy="365760"/>
          </a:xfrm>
          <a:prstGeom prst="rect">
            <a:avLst/>
          </a:prstGeom>
          <a:solidFill>
            <a:srgbClr val="F0F4F8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B2A4A"/>
                </a:solidFill>
                <a:latin typeface="Calibri"/>
              </a:defRPr>
            </a:pPr>
            <a:r>
              <a:t>CWT with Ricker wavelet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3703320"/>
            <a:ext cx="32004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Multi-scale frequency analysis</a:t>
            </a:r>
          </a:p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captures local + global patterns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06240" y="2788920"/>
            <a:ext cx="361188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06240" y="2788920"/>
            <a:ext cx="73152" cy="155448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89120" y="2880360"/>
            <a:ext cx="32918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0D7377"/>
                </a:solidFill>
                <a:latin typeface="Calibri"/>
              </a:defRPr>
            </a:pPr>
            <a:r>
              <a:t>Sliding Window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120" y="3246120"/>
            <a:ext cx="3200400" cy="365760"/>
          </a:xfrm>
          <a:prstGeom prst="rect">
            <a:avLst/>
          </a:prstGeom>
          <a:solidFill>
            <a:srgbClr val="F0F4F8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B2A4A"/>
                </a:solidFill>
                <a:latin typeface="Calibri"/>
              </a:defRPr>
            </a:pPr>
            <a:r>
              <a:t>Mean score in window of size 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120" y="3703320"/>
            <a:ext cx="32004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Smoothed signal reduces noise</a:t>
            </a:r>
          </a:p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parameter: window size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46720" y="2788920"/>
            <a:ext cx="361188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046720" y="2788920"/>
            <a:ext cx="73152" cy="155448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0" y="2880360"/>
            <a:ext cx="32918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0D7377"/>
                </a:solidFill>
                <a:latin typeface="Calibri"/>
              </a:defRPr>
            </a:pPr>
            <a:r>
              <a:t>Phylo-aware Score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0" y="3246120"/>
            <a:ext cx="3200400" cy="365760"/>
          </a:xfrm>
          <a:prstGeom prst="rect">
            <a:avLst/>
          </a:prstGeom>
          <a:solidFill>
            <a:srgbClr val="F0F4F8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B2A4A"/>
                </a:solidFill>
                <a:latin typeface="Calibri"/>
              </a:defRPr>
            </a:pPr>
            <a:r>
              <a:t>Branch-weighted mutations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0" y="3703320"/>
            <a:ext cx="32004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Weights by phylogenetic</a:t>
            </a:r>
          </a:p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independence of observations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4526280"/>
            <a:ext cx="361188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4526280"/>
            <a:ext cx="73152" cy="155448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4617720"/>
            <a:ext cx="32918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0D7377"/>
                </a:solidFill>
                <a:latin typeface="Calibri"/>
              </a:defRPr>
            </a:pPr>
            <a:r>
              <a:t>dN/dS Ratio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4983480"/>
            <a:ext cx="3200400" cy="365760"/>
          </a:xfrm>
          <a:prstGeom prst="rect">
            <a:avLst/>
          </a:prstGeom>
          <a:solidFill>
            <a:srgbClr val="F0F4F8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B2A4A"/>
                </a:solidFill>
                <a:latin typeface="Calibri"/>
              </a:defRPr>
            </a:pPr>
            <a:r>
              <a:t>omega = dN/dS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5440680"/>
            <a:ext cx="32004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Ratio of non-synonymous to</a:t>
            </a:r>
          </a:p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synonymous substitution rates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206240" y="4526280"/>
            <a:ext cx="361188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206240" y="4526280"/>
            <a:ext cx="73152" cy="155448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89120" y="4617720"/>
            <a:ext cx="32918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0D7377"/>
                </a:solidFill>
                <a:latin typeface="Calibri"/>
              </a:defRPr>
            </a:pPr>
            <a:r>
              <a:t>Kabat Variability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120" y="4983480"/>
            <a:ext cx="3200400" cy="365760"/>
          </a:xfrm>
          <a:prstGeom prst="rect">
            <a:avLst/>
          </a:prstGeom>
          <a:solidFill>
            <a:srgbClr val="F0F4F8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B2A4A"/>
                </a:solidFill>
                <a:latin typeface="Calibri"/>
              </a:defRPr>
            </a:pPr>
            <a:r>
              <a:t>K = N_aa / (n * f_max)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89120" y="5440680"/>
            <a:ext cx="32004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Wu-Kabat variability index</a:t>
            </a:r>
          </a:p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for amino acid diversity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046720" y="4526280"/>
            <a:ext cx="361188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046720" y="4526280"/>
            <a:ext cx="73152" cy="155448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29600" y="4617720"/>
            <a:ext cx="32918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0D7377"/>
                </a:solidFill>
                <a:latin typeface="Calibri"/>
              </a:defRPr>
            </a:pPr>
            <a:r>
              <a:t>Property Entropy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229600" y="4983480"/>
            <a:ext cx="3200400" cy="365760"/>
          </a:xfrm>
          <a:prstGeom prst="rect">
            <a:avLst/>
          </a:prstGeom>
          <a:solidFill>
            <a:srgbClr val="F0F4F8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B2A4A"/>
                </a:solidFill>
                <a:latin typeface="Calibri"/>
              </a:defRPr>
            </a:pPr>
            <a:r>
              <a:t>H based on AA properties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0" y="5440680"/>
            <a:ext cx="32004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Groups amino acids by</a:t>
            </a:r>
          </a:p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physicochemical properties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3-Layer Ground Truth Design</a:t>
            </a:r>
          </a:p>
        </p:txBody>
      </p:sp>
      <p:pic>
        <p:nvPicPr>
          <p:cNvPr id="4" name="Picture 3" descr="knu_symbol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128016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—— 13</a:t>
            </a:r>
          </a:p>
        </p:txBody>
      </p:sp>
      <p:pic>
        <p:nvPicPr>
          <p:cNvPr id="8" name="Picture 7" descr="multi_ground_truth_fig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05840"/>
            <a:ext cx="6858000" cy="5120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498079" y="1097280"/>
            <a:ext cx="4114800" cy="150876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0" y="1188720"/>
            <a:ext cx="3749039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0D7377"/>
                </a:solidFill>
                <a:latin typeface="Calibri"/>
              </a:defRPr>
            </a:pPr>
            <a:r>
              <a:t>Layer 1: Adaptive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1600200"/>
            <a:ext cx="3749039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Entropy-based threshold auto-adjusted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per pathogen. Captures high-variability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positions relative to background.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2834640"/>
            <a:ext cx="4114800" cy="1508760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0" y="2926080"/>
            <a:ext cx="3749039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0D7377"/>
                </a:solidFill>
                <a:latin typeface="Calibri"/>
              </a:defRPr>
            </a:pPr>
            <a:r>
              <a:t>Layer 2: Constrained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3337560"/>
            <a:ext cx="3749039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Intersection of top-K positions across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multiple scoring methods. Reduces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single-method bias.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98079" y="4572000"/>
            <a:ext cx="4114800" cy="150876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0" y="4663440"/>
            <a:ext cx="3749039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0D7377"/>
                </a:solidFill>
                <a:latin typeface="Calibri"/>
              </a:defRPr>
            </a:pPr>
            <a:r>
              <a:t>Layer 3: DMS-based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5074920"/>
            <a:ext cx="3749039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Deep mutational scanning data from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experimental fitness measurements.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Gold-standard biological validation.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Evaluation Metric: Matthews Correlation Coefficient</a:t>
            </a:r>
          </a:p>
        </p:txBody>
      </p:sp>
      <p:pic>
        <p:nvPicPr>
          <p:cNvPr id="4" name="Picture 3" descr="knu_symbol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128016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——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097280"/>
            <a:ext cx="5669280" cy="1280160"/>
          </a:xfrm>
          <a:prstGeom prst="roundRect">
            <a:avLst/>
          </a:prstGeom>
          <a:solidFill>
            <a:srgbClr val="F3E5F5"/>
          </a:solidFill>
          <a:ln w="1270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143000"/>
            <a:ext cx="53035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6A1B9A"/>
                </a:solidFill>
                <a:latin typeface="Calibri"/>
              </a:defRPr>
            </a:pPr>
            <a:r>
              <a:t>MCC Formula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508760"/>
            <a:ext cx="53035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1B2A4A"/>
                </a:solidFill>
                <a:latin typeface="Calibri"/>
              </a:defRPr>
            </a:pPr>
            <a:r>
              <a:t>MCC = (TP*TN - FP*FN) / sqrt((TP+FP)(TP+FN)(TN+FP)(TN+FN))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920240"/>
            <a:ext cx="53035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Range: [-1, +1]   |   0 = random   |   +1 = perfect agreement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651760"/>
            <a:ext cx="2743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1B2A4A"/>
                </a:solidFill>
                <a:latin typeface="Calibri"/>
              </a:defRPr>
            </a:pPr>
            <a:r>
              <a:t>Confusion Matrix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017520"/>
            <a:ext cx="1188720" cy="1188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TP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37360" y="3017520"/>
            <a:ext cx="1188720" cy="118872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FP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206240"/>
            <a:ext cx="1188720" cy="118872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FN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37360" y="4206240"/>
            <a:ext cx="1188720" cy="118872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TN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651760"/>
            <a:ext cx="30175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1B2A4A"/>
                </a:solidFill>
                <a:latin typeface="Calibri"/>
              </a:defRPr>
            </a:pPr>
            <a:r>
              <a:t>Why MCC over F1?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0" y="3063240"/>
            <a:ext cx="301752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37560" y="3136392"/>
            <a:ext cx="274320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Balanced even with severe class imbalance</a:t>
            </a:r>
          </a:p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(hotspots are rare: ~5% of positions)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0" y="3886200"/>
            <a:ext cx="301752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37560" y="3959352"/>
            <a:ext cx="274320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Uses all 4 confusion matrix quadrants</a:t>
            </a:r>
          </a:p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(F1 ignores true negatives)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00400" y="4709160"/>
            <a:ext cx="301752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7560" y="4782312"/>
            <a:ext cx="274320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Random baseline: mean = 0.001, std = 0.003</a:t>
            </a:r>
          </a:p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(verified empirically)</a:t>
            </a:r>
          </a:p>
        </p:txBody>
      </p:sp>
      <p:pic>
        <p:nvPicPr>
          <p:cNvPr id="24" name="Picture 23" descr="mcc_vs_f1_fairn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097280"/>
            <a:ext cx="512064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Two-Stage Experimental Design</a:t>
            </a:r>
          </a:p>
        </p:txBody>
      </p:sp>
      <p:pic>
        <p:nvPicPr>
          <p:cNvPr id="4" name="Picture 3" descr="knu_symbol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128016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——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097280"/>
            <a:ext cx="5303520" cy="384048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097280"/>
            <a:ext cx="5303520" cy="5486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115568"/>
            <a:ext cx="4937760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Stage 1: Controlled Comparison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828800"/>
            <a:ext cx="4937760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4 pathogens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SARS-CoV-2, Influenza, HIV, Dengue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351 scoring-detection combinations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9 scoring x 39 detection methods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Focus areas: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Method comparison &amp; ranking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Parameter sensitivity analysis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Synthetic vs real data gap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Initial ranking reversal observation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097280"/>
            <a:ext cx="5303520" cy="384048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1097280"/>
            <a:ext cx="5303520" cy="54864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115568"/>
            <a:ext cx="4937760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Stage 2: Large-Scale Validation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828800"/>
            <a:ext cx="4937760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9 pathogens (+5 more)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+ MERS, RSV, Norovirus, HCV, Ebola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2,544 evaluations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9 scoring x 39 detection x 9 pathogens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Focus areas: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Two-way ANOVA (interaction effects)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Per-pathogen best combination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Friedman test + LOPO CV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PAHD proof of concept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86000" y="5166360"/>
            <a:ext cx="7589520" cy="914400"/>
          </a:xfrm>
          <a:prstGeom prst="roundRect">
            <a:avLst/>
          </a:prstGeom>
          <a:solidFill>
            <a:srgbClr val="1B2A4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Stage 1 (discovery)  &gt;&gt;&gt;  Stage 2 (validation at scale)  &gt;&gt;&gt;  PAHD (algorithm)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Stage 1: Method Comparison Results</a:t>
            </a:r>
          </a:p>
        </p:txBody>
      </p:sp>
      <p:pic>
        <p:nvPicPr>
          <p:cNvPr id="4" name="Picture 3" descr="knu_symbol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128016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—— 16</a:t>
            </a:r>
          </a:p>
        </p:txBody>
      </p:sp>
      <p:pic>
        <p:nvPicPr>
          <p:cNvPr id="8" name="Picture 7" descr="new_methodology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7498079" cy="51206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046720" y="1097280"/>
            <a:ext cx="3657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600" b="1">
                <a:solidFill>
                  <a:srgbClr val="2E7D32"/>
                </a:solidFill>
                <a:latin typeface="Calibri"/>
              </a:defRPr>
            </a:pPr>
            <a:r>
              <a:t>Key Findings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645920"/>
            <a:ext cx="356616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1645920"/>
            <a:ext cx="54864" cy="9144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737360"/>
            <a:ext cx="32918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Wavelet scoring achieves highest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mean MCC across 4 pathogens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743200"/>
            <a:ext cx="356616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2743200"/>
            <a:ext cx="54864" cy="9144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2834640"/>
            <a:ext cx="32918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HDBSCAN-based detection outperforms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traditional threshold methods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3840480"/>
            <a:ext cx="356616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3840480"/>
            <a:ext cx="54864" cy="9144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3931920"/>
            <a:ext cx="32918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Large variance across pathogens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suggests generalization limits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4937760"/>
            <a:ext cx="356616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6720" y="4937760"/>
            <a:ext cx="54864" cy="9144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5029200"/>
            <a:ext cx="32918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Top combination differs between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SARS-CoV-2 and HIV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Parameter Sensitivity Analysis</a:t>
            </a:r>
          </a:p>
        </p:txBody>
      </p:sp>
      <p:pic>
        <p:nvPicPr>
          <p:cNvPr id="4" name="Picture 3" descr="knu_symbol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128016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—— 17</a:t>
            </a:r>
          </a:p>
        </p:txBody>
      </p:sp>
      <p:pic>
        <p:nvPicPr>
          <p:cNvPr id="8" name="Picture 7" descr="sensitivity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6858000" cy="51206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06640" y="1097280"/>
            <a:ext cx="42062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600" b="1">
                <a:solidFill>
                  <a:srgbClr val="2E7D32"/>
                </a:solidFill>
                <a:latin typeface="Calibri"/>
              </a:defRPr>
            </a:pPr>
            <a:r>
              <a:t>Sensitivity Findings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600200"/>
            <a:ext cx="4206240" cy="5029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06640" y="1600200"/>
            <a:ext cx="164592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Parameter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0" y="1600200"/>
            <a:ext cx="109728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Sensitivity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0" y="1600200"/>
            <a:ext cx="146304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Note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06640" y="2103120"/>
            <a:ext cx="4206240" cy="502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2103120"/>
            <a:ext cx="164592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Window size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60" y="2103120"/>
            <a:ext cx="109728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Moderate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40" y="2103120"/>
            <a:ext cx="146304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Optimal varies by pathogen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06640" y="2606040"/>
            <a:ext cx="420624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06640" y="2606040"/>
            <a:ext cx="164592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Epsilon (DBSCAN)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2606040"/>
            <a:ext cx="109728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0" y="2606040"/>
            <a:ext cx="146304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Requires per-pathogen tuning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06640" y="3108960"/>
            <a:ext cx="4206240" cy="502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06640" y="3108960"/>
            <a:ext cx="164592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Min-cluster (HDBSCAN)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3108960"/>
            <a:ext cx="109728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Low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3108960"/>
            <a:ext cx="146304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Robust across wide range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06640" y="3611880"/>
            <a:ext cx="420624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06640" y="3611880"/>
            <a:ext cx="164592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Threshold percentile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560" y="3611880"/>
            <a:ext cx="109728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Moderate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40" y="3611880"/>
            <a:ext cx="146304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Pathogen-dependent optima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406640" y="4389120"/>
            <a:ext cx="4206240" cy="137160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HDBSCAN is the most robust detection</a:t>
            </a:r>
          </a:p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method across parameter variations.</a:t>
            </a:r>
          </a:p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This supports its use as a default</a:t>
            </a:r>
          </a:p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choice when pathogen characteristics</a:t>
            </a:r>
          </a:p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are unknown.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Synthetic vs Real Data Gap</a:t>
            </a:r>
          </a:p>
        </p:txBody>
      </p:sp>
      <p:pic>
        <p:nvPicPr>
          <p:cNvPr id="4" name="Picture 3" descr="knu_symbol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128016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—— 18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188720"/>
            <a:ext cx="5029200" cy="4572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97864"/>
            <a:ext cx="502920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Synthetic Data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1188720"/>
            <a:ext cx="5669280" cy="4572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1197864"/>
            <a:ext cx="566928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Real Pathogen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828800"/>
            <a:ext cx="2011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1B2A4A"/>
                </a:solidFill>
                <a:latin typeface="Calibri"/>
              </a:defRPr>
            </a:pPr>
            <a:r>
              <a:t>Mutation Distribution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51760" y="1828800"/>
            <a:ext cx="292608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Uniform / Poisson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77840" y="1828800"/>
            <a:ext cx="365760" cy="685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000" b="1">
                <a:solidFill>
                  <a:srgbClr val="888888"/>
                </a:solidFill>
                <a:latin typeface="Calibri"/>
              </a:defRPr>
            </a:pPr>
            <a:r>
              <a:t>vs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0" y="1828800"/>
            <a:ext cx="5669280" cy="68580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333333"/>
                </a:solidFill>
                <a:latin typeface="Calibri"/>
              </a:defRPr>
            </a:pPr>
            <a:r>
              <a:t>Highly skewed, founder effects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651760"/>
            <a:ext cx="2011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1B2A4A"/>
                </a:solidFill>
                <a:latin typeface="Calibri"/>
              </a:defRPr>
            </a:pPr>
            <a:r>
              <a:t>Selection Pressure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51760" y="2651760"/>
            <a:ext cx="292608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None (neutral)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7840" y="2651760"/>
            <a:ext cx="365760" cy="685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000" b="1">
                <a:solidFill>
                  <a:srgbClr val="888888"/>
                </a:solidFill>
                <a:latin typeface="Calibri"/>
              </a:defRPr>
            </a:pPr>
            <a:r>
              <a:t>vs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0" y="2651760"/>
            <a:ext cx="5669280" cy="68580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333333"/>
                </a:solidFill>
                <a:latin typeface="Calibri"/>
              </a:defRPr>
            </a:pPr>
            <a:r>
              <a:t>Complex positive + purifying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474720"/>
            <a:ext cx="2011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1B2A4A"/>
                </a:solidFill>
                <a:latin typeface="Calibri"/>
              </a:defRPr>
            </a:pPr>
            <a:r>
              <a:t>Ground Truth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51760" y="3474720"/>
            <a:ext cx="292608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Known by construction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77840" y="3474720"/>
            <a:ext cx="365760" cy="685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000" b="1">
                <a:solidFill>
                  <a:srgbClr val="888888"/>
                </a:solidFill>
                <a:latin typeface="Calibri"/>
              </a:defRPr>
            </a:pPr>
            <a:r>
              <a:t>vs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0" y="3474720"/>
            <a:ext cx="5669280" cy="68580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333333"/>
                </a:solidFill>
                <a:latin typeface="Calibri"/>
              </a:defRPr>
            </a:pPr>
            <a:r>
              <a:t>Approximate (DMS / literature)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297680"/>
            <a:ext cx="2011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1B2A4A"/>
                </a:solidFill>
                <a:latin typeface="Calibri"/>
              </a:defRPr>
            </a:pPr>
            <a:r>
              <a:t>Phylogenetic Structure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51760" y="4297680"/>
            <a:ext cx="292608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Independent samples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77840" y="4297680"/>
            <a:ext cx="365760" cy="685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000" b="1">
                <a:solidFill>
                  <a:srgbClr val="888888"/>
                </a:solidFill>
                <a:latin typeface="Calibri"/>
              </a:defRPr>
            </a:pPr>
            <a:r>
              <a:t>vs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0" y="4297680"/>
            <a:ext cx="5669280" cy="68580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333333"/>
                </a:solidFill>
                <a:latin typeface="Calibri"/>
              </a:defRPr>
            </a:pPr>
            <a:r>
              <a:t>Strong non-independence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120640"/>
            <a:ext cx="2011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1B2A4A"/>
                </a:solidFill>
                <a:latin typeface="Calibri"/>
              </a:defRPr>
            </a:pPr>
            <a:r>
              <a:t>Best Method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51760" y="5120640"/>
            <a:ext cx="292608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Threshold-based wins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5120640"/>
            <a:ext cx="365760" cy="685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000" b="1">
                <a:solidFill>
                  <a:srgbClr val="888888"/>
                </a:solidFill>
                <a:latin typeface="Calibri"/>
              </a:defRPr>
            </a:pPr>
            <a:r>
              <a:t>vs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43600" y="5120640"/>
            <a:ext cx="5669280" cy="68580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333333"/>
                </a:solidFill>
                <a:latin typeface="Calibri"/>
              </a:defRPr>
            </a:pPr>
            <a:r>
              <a:t>Clustering-based wins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371600" y="5760720"/>
            <a:ext cx="9418320" cy="548640"/>
          </a:xfrm>
          <a:prstGeom prst="roundRect">
            <a:avLst/>
          </a:prstGeom>
          <a:solidFill>
            <a:srgbClr val="FFEBEE"/>
          </a:solidFill>
          <a:ln w="127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C62828"/>
                </a:solidFill>
                <a:latin typeface="Calibri"/>
              </a:defRPr>
            </a:pPr>
            <a:r>
              <a:t>Ranking reversals between synthetic and real data demonstrate the need for real-pathogen benchmarking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Cross-Pathogen Ranking Reversal</a:t>
            </a:r>
          </a:p>
        </p:txBody>
      </p:sp>
      <p:pic>
        <p:nvPicPr>
          <p:cNvPr id="4" name="Picture 3" descr="knu_symbol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128016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—— 19</a:t>
            </a:r>
          </a:p>
        </p:txBody>
      </p:sp>
      <p:pic>
        <p:nvPicPr>
          <p:cNvPr id="8" name="Picture 7" descr="detection_rank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7132320" cy="5120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772400" y="1188720"/>
            <a:ext cx="3749039" cy="2194560"/>
          </a:xfrm>
          <a:prstGeom prst="roundRect">
            <a:avLst/>
          </a:prstGeom>
          <a:solidFill>
            <a:srgbClr val="1B2A4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1371600"/>
            <a:ext cx="3749039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5200" b="1">
                <a:solidFill>
                  <a:srgbClr val="FFFFFF"/>
                </a:solidFill>
                <a:latin typeface="Calibri"/>
              </a:defRPr>
            </a:pPr>
            <a:r>
              <a:t>9 / 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377440"/>
            <a:ext cx="3749039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800" b="0">
                <a:solidFill>
                  <a:srgbClr val="BBDEFB"/>
                </a:solidFill>
                <a:latin typeface="Calibri"/>
              </a:defRPr>
            </a:pPr>
            <a:r>
              <a:t>unique best</a:t>
            </a:r>
          </a:p>
          <a:p>
            <a:pPr algn="ctr">
              <a:defRPr sz="1800" b="0">
                <a:solidFill>
                  <a:srgbClr val="BBDEFB"/>
                </a:solidFill>
                <a:latin typeface="Calibri"/>
              </a:defRPr>
            </a:pPr>
            <a:r>
              <a:t>combinations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3657600"/>
            <a:ext cx="3749039" cy="2560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Every pathogen has a different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optimal scoring + detection pair.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No single method can be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"recommended" universally.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This motivates the need for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pathogen-adaptive selection (PAHD).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Stage 2: Scaling to 9 Pathogens</a:t>
            </a:r>
          </a:p>
        </p:txBody>
      </p:sp>
      <p:pic>
        <p:nvPicPr>
          <p:cNvPr id="4" name="Picture 3" descr="knu_symbol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128016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—— 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6" y="1371600"/>
            <a:ext cx="356616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196" y="1645920"/>
            <a:ext cx="356616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5400" b="1">
                <a:solidFill>
                  <a:srgbClr val="E65100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" y="2743200"/>
            <a:ext cx="35661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000" b="1">
                <a:solidFill>
                  <a:srgbClr val="1B2A4A"/>
                </a:solidFill>
                <a:latin typeface="Calibri"/>
              </a:defRPr>
            </a:pPr>
            <a:r>
              <a:t>Pathogens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516" y="3383280"/>
            <a:ext cx="3017520" cy="2194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SARS-CoV-2, Influenza, HIV,</a:t>
            </a:r>
          </a:p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Dengue, MERS, RSV,</a:t>
            </a:r>
          </a:p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Norovirus, HCV, Ebola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1396" y="1371600"/>
            <a:ext cx="356616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11396" y="1645920"/>
            <a:ext cx="356616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5400" b="1">
                <a:solidFill>
                  <a:srgbClr val="E65100"/>
                </a:solidFill>
                <a:latin typeface="Calibri"/>
              </a:defRPr>
            </a:pPr>
            <a:r>
              <a:t>2,544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1396" y="2743200"/>
            <a:ext cx="35661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000" b="1">
                <a:solidFill>
                  <a:srgbClr val="1B2A4A"/>
                </a:solidFill>
                <a:latin typeface="Calibri"/>
              </a:defRPr>
            </a:pPr>
            <a:r>
              <a:t>Evaluations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5716" y="3383280"/>
            <a:ext cx="3017520" cy="2194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9 scoring methods</a:t>
            </a:r>
          </a:p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x 39 detection methods</a:t>
            </a:r>
          </a:p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x 9 pathogens (multilayer GT)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7596" y="1371600"/>
            <a:ext cx="356616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97596" y="1645920"/>
            <a:ext cx="356616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5400" b="1">
                <a:solidFill>
                  <a:srgbClr val="E65100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7596" y="2743200"/>
            <a:ext cx="35661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000" b="1">
                <a:solidFill>
                  <a:srgbClr val="1B2A4A"/>
                </a:solidFill>
                <a:latin typeface="Calibri"/>
              </a:defRPr>
            </a:pPr>
            <a:r>
              <a:t>Statistical Tests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1916" y="3383280"/>
            <a:ext cx="3017520" cy="2194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Two-way ANOVA</a:t>
            </a:r>
          </a:p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Permutation test</a:t>
            </a:r>
          </a:p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Friedman test</a:t>
            </a:r>
          </a:p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LOPO cross-validation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Two-Way ANOVA: Variance Decomposition</a:t>
            </a:r>
          </a:p>
        </p:txBody>
      </p:sp>
      <p:pic>
        <p:nvPicPr>
          <p:cNvPr id="4" name="Picture 3" descr="knu_symbol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128016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—— 21</a:t>
            </a:r>
          </a:p>
        </p:txBody>
      </p:sp>
      <p:pic>
        <p:nvPicPr>
          <p:cNvPr id="8" name="Picture 7" descr="variance_decomposi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6583680" cy="5120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223760" y="1097280"/>
            <a:ext cx="438912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223760" y="1097280"/>
            <a:ext cx="73152" cy="15087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79" y="1188720"/>
            <a:ext cx="1371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E65100"/>
                </a:solidFill>
                <a:latin typeface="Calibri"/>
              </a:defRPr>
            </a:pPr>
            <a:r>
              <a:t>Detection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1554480"/>
            <a:ext cx="13716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800" b="1">
                <a:solidFill>
                  <a:srgbClr val="E65100"/>
                </a:solidFill>
                <a:latin typeface="Calibri"/>
              </a:defRPr>
            </a:pPr>
            <a:r>
              <a:t>~35%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1280160"/>
            <a:ext cx="237744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Largest effect: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choice of detection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method matters most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3760" y="2834640"/>
            <a:ext cx="438912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223760" y="2834640"/>
            <a:ext cx="73152" cy="15087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79" y="2926080"/>
            <a:ext cx="1371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E65100"/>
                </a:solidFill>
                <a:latin typeface="Calibri"/>
              </a:defRPr>
            </a:pPr>
            <a:r>
              <a:t>Interaction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3291840"/>
            <a:ext cx="13716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800" b="1">
                <a:solidFill>
                  <a:srgbClr val="E65100"/>
                </a:solidFill>
                <a:latin typeface="Calibri"/>
              </a:defRPr>
            </a:pPr>
            <a:r>
              <a:t>28.5%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3017520"/>
            <a:ext cx="237744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Detection Family × Pathogen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interaction is strong: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no universal best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23760" y="4572000"/>
            <a:ext cx="438912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23760" y="4572000"/>
            <a:ext cx="73152" cy="15087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79" y="4663440"/>
            <a:ext cx="1371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E65100"/>
                </a:solidFill>
                <a:latin typeface="Calibri"/>
              </a:defRPr>
            </a:pPr>
            <a:r>
              <a:t>Scoring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79" y="5029200"/>
            <a:ext cx="13716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800" b="1">
                <a:solidFill>
                  <a:srgbClr val="E65100"/>
                </a:solidFill>
                <a:latin typeface="Calibri"/>
              </a:defRPr>
            </a:pPr>
            <a:r>
              <a:t>~8.3%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4754880"/>
            <a:ext cx="237744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Scoring method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contributes less than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detection or interaction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Per-Pathogen Best Combinations</a:t>
            </a:r>
          </a:p>
        </p:txBody>
      </p:sp>
      <p:pic>
        <p:nvPicPr>
          <p:cNvPr id="4" name="Picture 3" descr="knu_symbol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128016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—— 22</a:t>
            </a:r>
          </a:p>
        </p:txBody>
      </p:sp>
      <p:pic>
        <p:nvPicPr>
          <p:cNvPr id="8" name="Picture 7" descr="cross_pathogen_top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7772400" cy="5120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21040" y="1188720"/>
            <a:ext cx="3291840" cy="2011680"/>
          </a:xfrm>
          <a:prstGeom prst="roundRect">
            <a:avLst/>
          </a:prstGeom>
          <a:solidFill>
            <a:srgbClr val="E65100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1325880"/>
            <a:ext cx="329184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9 / 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2194560"/>
            <a:ext cx="32918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unique best</a:t>
            </a:r>
          </a:p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combinations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3474720"/>
            <a:ext cx="3291840" cy="2560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High entropy-function divergence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(Norovirus r=0.39 vs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SARS-CoV-2 r=0.03)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H-score founder bias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(rho = -0.876)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E-R correlation: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rho=0.517, p=0.154 (n.s.)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Friedman Test &amp; Leave-One-Pathogen-Out CV</a:t>
            </a:r>
          </a:p>
        </p:txBody>
      </p:sp>
      <p:pic>
        <p:nvPicPr>
          <p:cNvPr id="4" name="Picture 3" descr="knu_symbol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128016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—— 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097280"/>
            <a:ext cx="530352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097280"/>
            <a:ext cx="5303520" cy="54864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115568"/>
            <a:ext cx="4937760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Friedman Rank Test (Top-20)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828800"/>
            <a:ext cx="493776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Question: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Are top-20 method rankings consistent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across pathogens?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Result: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chi-squared = 42.44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p-value = 0.0015 (significant at p &lt; 0.01)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749039"/>
            <a:ext cx="4937760" cy="201168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[Image Placeholder]</a:t>
            </a:r>
          </a:p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Friedman Rank Distribution Chart</a:t>
            </a:r>
          </a:p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(To be inserted)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097280"/>
            <a:ext cx="530352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097280"/>
            <a:ext cx="5303520" cy="54864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115568"/>
            <a:ext cx="4937760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LOPO Cross-Validation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828800"/>
            <a:ext cx="493776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Protocol: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Train on 8 pathogens, test on held-out 1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Result: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0 / 9 correct predictions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Simple majority voting fails completely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92240" y="3749039"/>
            <a:ext cx="4937760" cy="201168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[Image Placeholder]</a:t>
            </a:r>
          </a:p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LOPO Prediction Results Table</a:t>
            </a:r>
          </a:p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(To be inserted)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ESM-2 Protein Language Model Validation</a:t>
            </a:r>
          </a:p>
        </p:txBody>
      </p:sp>
      <p:pic>
        <p:nvPicPr>
          <p:cNvPr id="4" name="Picture 3" descr="knu_symbol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128016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—— 24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1280160"/>
            <a:ext cx="9966960" cy="4572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289304"/>
            <a:ext cx="274320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Metric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1289304"/>
            <a:ext cx="237744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Without ESM-2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1289304"/>
            <a:ext cx="237744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With ESM-2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1289304"/>
            <a:ext cx="246888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Change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1737360"/>
            <a:ext cx="9966960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1737360"/>
            <a:ext cx="27432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Mean MCC (top-20)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1737360"/>
            <a:ext cx="237744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0.347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1737360"/>
            <a:ext cx="237744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0.352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1737360"/>
            <a:ext cx="246888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0">
                <a:solidFill>
                  <a:srgbClr val="2E7D32"/>
                </a:solidFill>
                <a:latin typeface="Calibri"/>
              </a:defRPr>
            </a:pPr>
            <a:r>
              <a:t>+0.005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97280" y="2331720"/>
            <a:ext cx="996696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2331720"/>
            <a:ext cx="27432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Median MCC (top-20)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2331720"/>
            <a:ext cx="237744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0.338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2331720"/>
            <a:ext cx="237744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0.341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2331720"/>
            <a:ext cx="246888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0">
                <a:solidFill>
                  <a:srgbClr val="2E7D32"/>
                </a:solidFill>
                <a:latin typeface="Calibri"/>
              </a:defRPr>
            </a:pPr>
            <a:r>
              <a:t>+0.003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97280" y="2926080"/>
            <a:ext cx="9966960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2926080"/>
            <a:ext cx="27432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Best single combo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0480" y="2926080"/>
            <a:ext cx="237744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0.390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2926080"/>
            <a:ext cx="237744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0.393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0" y="2926080"/>
            <a:ext cx="246888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0">
                <a:solidFill>
                  <a:srgbClr val="2E7D32"/>
                </a:solidFill>
                <a:latin typeface="Calibri"/>
              </a:defRPr>
            </a:pPr>
            <a:r>
              <a:t>+0.003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97280" y="3520440"/>
            <a:ext cx="996696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3520440"/>
            <a:ext cx="27432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Coverage (&gt;0.3 MCC)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40480" y="3520440"/>
            <a:ext cx="237744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12/20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3520440"/>
            <a:ext cx="237744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13/20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95360" y="3520440"/>
            <a:ext cx="246888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0">
                <a:solidFill>
                  <a:srgbClr val="2E7D32"/>
                </a:solidFill>
                <a:latin typeface="Calibri"/>
              </a:defRPr>
            </a:pPr>
            <a:r>
              <a:t>+1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97280" y="4114800"/>
            <a:ext cx="9966960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97280" y="4114800"/>
            <a:ext cx="27432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Rank correlation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40480" y="4114800"/>
            <a:ext cx="237744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--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0" y="4114800"/>
            <a:ext cx="237744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rho = 0.94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95360" y="4114800"/>
            <a:ext cx="246888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0">
                <a:solidFill>
                  <a:srgbClr val="2E7D32"/>
                </a:solidFill>
                <a:latin typeface="Calibri"/>
              </a:defRPr>
            </a:pPr>
            <a:r>
              <a:t>High agreement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97280" y="4754880"/>
            <a:ext cx="9966960" cy="82296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ESM-2 embeddings provide marginal improvement, confirming that</a:t>
            </a:r>
          </a:p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sequence-based scoring already captures most of the relevant signal.</a:t>
            </a:r>
          </a:p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The benchmark rankings remain stable (rho = 0.94).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00400" y="5760720"/>
            <a:ext cx="5760720" cy="54864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[Placeholder] ESM-2 Architecture Concept Diagram (To be inserted)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KEY FINDING: No Universal Best Method</a:t>
            </a:r>
          </a:p>
        </p:txBody>
      </p:sp>
      <p:pic>
        <p:nvPicPr>
          <p:cNvPr id="4" name="Picture 3" descr="knu_symbol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128016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—— 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1097280"/>
            <a:ext cx="9418320" cy="1097280"/>
          </a:xfrm>
          <a:prstGeom prst="roundRect">
            <a:avLst/>
          </a:prstGeom>
          <a:solidFill>
            <a:srgbClr val="1B2A4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No single scoring + detection combination works best for all pathogens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68880"/>
            <a:ext cx="530352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468880"/>
            <a:ext cx="73152" cy="178308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560320"/>
            <a:ext cx="48463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E65100"/>
                </a:solidFill>
                <a:latin typeface="Calibri"/>
              </a:defRPr>
            </a:pPr>
            <a:r>
              <a:t>ANOVA Interaction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26080"/>
            <a:ext cx="48463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800" b="1">
                <a:solidFill>
                  <a:srgbClr val="1B2A4A"/>
                </a:solidFill>
                <a:latin typeface="Calibri"/>
              </a:defRPr>
            </a:pPr>
            <a:r>
              <a:t>omega-sq = 0.285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520440"/>
            <a:ext cx="48463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Detection Family × Pathogen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interaction explains 28.5% of variance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2468880"/>
            <a:ext cx="530352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2468880"/>
            <a:ext cx="73152" cy="17830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2560320"/>
            <a:ext cx="48463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2E7D32"/>
                </a:solidFill>
                <a:latin typeface="Calibri"/>
              </a:defRPr>
            </a:pPr>
            <a:r>
              <a:t>Unique Best Combos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926080"/>
            <a:ext cx="48463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800" b="1">
                <a:solidFill>
                  <a:srgbClr val="1B2A4A"/>
                </a:solidFill>
                <a:latin typeface="Calibri"/>
              </a:defRPr>
            </a:pPr>
            <a:r>
              <a:t>9 / 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3520440"/>
            <a:ext cx="48463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Every pathogen has a different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optimal method pair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480560"/>
            <a:ext cx="530352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480560"/>
            <a:ext cx="73152" cy="178308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572000"/>
            <a:ext cx="48463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6A1B9A"/>
                </a:solidFill>
                <a:latin typeface="Calibri"/>
              </a:defRPr>
            </a:pPr>
            <a:r>
              <a:t>Friedman Test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937760"/>
            <a:ext cx="48463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800" b="1">
                <a:solidFill>
                  <a:srgbClr val="1B2A4A"/>
                </a:solidFill>
                <a:latin typeface="Calibri"/>
              </a:defRPr>
            </a:pPr>
            <a:r>
              <a:t>p = 0.0015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532120"/>
            <a:ext cx="48463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Rankings differ significantly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across pathogens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4480560"/>
            <a:ext cx="530352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09360" y="4480560"/>
            <a:ext cx="73152" cy="178308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60" y="4572000"/>
            <a:ext cx="48463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C62828"/>
                </a:solidFill>
                <a:latin typeface="Calibri"/>
              </a:defRPr>
            </a:pPr>
            <a:r>
              <a:t>LOPO CV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4937760"/>
            <a:ext cx="48463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800" b="1">
                <a:solidFill>
                  <a:srgbClr val="1B2A4A"/>
                </a:solidFill>
                <a:latin typeface="Calibri"/>
              </a:defRPr>
            </a:pPr>
            <a:r>
              <a:t>0 / 9 correct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5532120"/>
            <a:ext cx="48463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Majority voting fails completely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for unseen pathogens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PAHD: Pathogen-Adaptive Hotspot Detection</a:t>
            </a:r>
          </a:p>
        </p:txBody>
      </p:sp>
      <p:pic>
        <p:nvPicPr>
          <p:cNvPr id="4" name="Picture 3" descr="knu_symbol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128016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—— 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097280"/>
            <a:ext cx="356616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097280"/>
            <a:ext cx="3566160" cy="4572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143000"/>
            <a:ext cx="35661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Step 1: Profile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645920"/>
            <a:ext cx="320040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Extract pathogen profile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(entropy distribution, genome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length, mutation rate, diversity)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1691640"/>
            <a:ext cx="2743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400" b="1">
                <a:solidFill>
                  <a:srgbClr val="6A1B9A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1097280"/>
            <a:ext cx="356616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0" y="1097280"/>
            <a:ext cx="3566160" cy="4572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1143000"/>
            <a:ext cx="35661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Step 2: Match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1645920"/>
            <a:ext cx="320040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Compare profile against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MutBench knowledge base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(similarity-based retrieval)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0" y="1691640"/>
            <a:ext cx="2743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400" b="1">
                <a:solidFill>
                  <a:srgbClr val="6A1B9A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1097280"/>
            <a:ext cx="356616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0" y="1097280"/>
            <a:ext cx="3566160" cy="4572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1143000"/>
            <a:ext cx="35661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Step 3: Select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1645920"/>
            <a:ext cx="320040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Recommend optimal scoring +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detection combination based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on matched pathogen results</a:t>
            </a:r>
          </a:p>
        </p:txBody>
      </p:sp>
      <p:pic>
        <p:nvPicPr>
          <p:cNvPr id="22" name="Picture 21" descr="new_methodology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3474720"/>
            <a:ext cx="5943600" cy="25603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583680" y="3383280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1">
                <a:solidFill>
                  <a:srgbClr val="6A1B9A"/>
                </a:solidFill>
                <a:latin typeface="Calibri"/>
              </a:defRPr>
            </a:pPr>
            <a:r>
              <a:t>MCC Baseline Comparison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3840480"/>
            <a:ext cx="164592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2E7D32"/>
                </a:solidFill>
                <a:latin typeface="Calibri"/>
              </a:defRPr>
            </a:pPr>
            <a:r>
              <a:t>MutBench Best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321040" y="3840480"/>
            <a:ext cx="3120390" cy="228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801350" y="3840480"/>
            <a:ext cx="594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0.390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4270248"/>
            <a:ext cx="164592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1565C0"/>
                </a:solidFill>
                <a:latin typeface="Calibri"/>
              </a:defRPr>
            </a:pPr>
            <a:r>
              <a:t>FreqThresh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21040" y="4270248"/>
            <a:ext cx="1984248" cy="2286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65208" y="4270248"/>
            <a:ext cx="594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0.248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4700016"/>
            <a:ext cx="164592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E65100"/>
                </a:solidFill>
                <a:latin typeface="Calibri"/>
              </a:defRPr>
            </a:pPr>
            <a:r>
              <a:t>SWAN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321040" y="4700016"/>
            <a:ext cx="1544193" cy="228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25153" y="4700016"/>
            <a:ext cx="594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0.193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5129784"/>
            <a:ext cx="164592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C62828"/>
                </a:solidFill>
                <a:latin typeface="Calibri"/>
              </a:defRPr>
            </a:pPr>
            <a:r>
              <a:t>MutClust-Orig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21040" y="5129784"/>
            <a:ext cx="1104138" cy="2286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785098" y="5129784"/>
            <a:ext cx="594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0.138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5559552"/>
            <a:ext cx="164592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888888"/>
                </a:solidFill>
                <a:latin typeface="Calibri"/>
              </a:defRPr>
            </a:pPr>
            <a:r>
              <a:t>Random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321040" y="5559552"/>
            <a:ext cx="8001" cy="2286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74761" y="5559552"/>
            <a:ext cx="594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100" b="1">
                <a:solidFill>
                  <a:srgbClr val="888888"/>
                </a:solidFill>
                <a:latin typeface="Calibri"/>
              </a:defRPr>
            </a:pPr>
            <a:r>
              <a:t>0.001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Phylogenetic Correction &amp; Region Overlap</a:t>
            </a:r>
          </a:p>
        </p:txBody>
      </p:sp>
      <p:pic>
        <p:nvPicPr>
          <p:cNvPr id="4" name="Picture 3" descr="knu_symbol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128016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—— 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097280"/>
            <a:ext cx="530352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097280"/>
            <a:ext cx="5303520" cy="54864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115568"/>
            <a:ext cx="4937760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Phylogenetic Non-Independence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828800"/>
            <a:ext cx="493776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Problem: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  Closely related sequences share mutations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  by descent, not independent selection.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  e.g., D614G spread by founder effect.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Approach: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  TreeTime phylogenetic reconstruction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  Branch-weighted mutation scoring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4754880" cy="192024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[Image Placeholder]</a:t>
            </a:r>
          </a:p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Phylogenetic Tree Diagram</a:t>
            </a:r>
          </a:p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(To be inserted)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097280"/>
            <a:ext cx="530352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097280"/>
            <a:ext cx="5303520" cy="54864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115568"/>
            <a:ext cx="4937760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Region-Level Overlap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828800"/>
            <a:ext cx="493776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Motivation: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  Position-level MCC may be too strict.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  Methods may detect the right region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  but miss exact positions.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Results: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  MCC improves from 0.289 to 0.712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  with region-level evaluation.</a:t>
            </a:r>
          </a:p>
        </p:txBody>
      </p:sp>
      <p:pic>
        <p:nvPicPr>
          <p:cNvPr id="17" name="Picture 16" descr="lopo_region_preci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3840480"/>
            <a:ext cx="4754880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Scoring-Detection Heatmap &amp; Baseline Comparison</a:t>
            </a:r>
          </a:p>
        </p:txBody>
      </p:sp>
      <p:pic>
        <p:nvPicPr>
          <p:cNvPr id="4" name="Picture 3" descr="knu_symbol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128016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—— 28</a:t>
            </a:r>
          </a:p>
        </p:txBody>
      </p:sp>
      <p:pic>
        <p:nvPicPr>
          <p:cNvPr id="8" name="Picture 7" descr="scoring_detection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7132320" cy="51206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0" y="1097280"/>
            <a:ext cx="38404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600" b="1">
                <a:solidFill>
                  <a:srgbClr val="6A1B9A"/>
                </a:solidFill>
                <a:latin typeface="Calibri"/>
              </a:defRPr>
            </a:pPr>
            <a:r>
              <a:t>MCC Comparison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1645920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2E7D32"/>
                </a:solidFill>
                <a:latin typeface="Calibri"/>
              </a:defRPr>
            </a:pPr>
            <a:r>
              <a:t>MutBench Best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0" y="1993392"/>
            <a:ext cx="3120390" cy="3200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52710" y="1993392"/>
            <a:ext cx="59436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0.390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2560320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1565C0"/>
                </a:solidFill>
                <a:latin typeface="Calibri"/>
              </a:defRPr>
            </a:pPr>
            <a:r>
              <a:t>FreqThresh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2907792"/>
            <a:ext cx="1984248" cy="32004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16568" y="2907792"/>
            <a:ext cx="59436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0.248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3474720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E65100"/>
                </a:solidFill>
                <a:latin typeface="Calibri"/>
              </a:defRPr>
            </a:pPr>
            <a:r>
              <a:t>SWAN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0" y="3822192"/>
            <a:ext cx="1544193" cy="32004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76513" y="3822192"/>
            <a:ext cx="59436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0.193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4389120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C62828"/>
                </a:solidFill>
                <a:latin typeface="Calibri"/>
              </a:defRPr>
            </a:pPr>
            <a:r>
              <a:t>MutClust-Orig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0" y="4736592"/>
            <a:ext cx="1104138" cy="32004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6458" y="4736592"/>
            <a:ext cx="59436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0.138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5303520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888888"/>
                </a:solidFill>
                <a:latin typeface="Calibri"/>
              </a:defRPr>
            </a:pPr>
            <a:r>
              <a:t>Random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5650992"/>
            <a:ext cx="8001" cy="32004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26121" y="5650992"/>
            <a:ext cx="59436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100" b="1">
                <a:solidFill>
                  <a:srgbClr val="888888"/>
                </a:solidFill>
                <a:latin typeface="Calibri"/>
              </a:defRPr>
            </a:pPr>
            <a:r>
              <a:t>0.001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Research Contributions</a:t>
            </a:r>
          </a:p>
        </p:txBody>
      </p:sp>
      <p:pic>
        <p:nvPicPr>
          <p:cNvPr id="4" name="Picture 3" descr="knu_symbol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128016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—— 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097280"/>
            <a:ext cx="530352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097280"/>
            <a:ext cx="73152" cy="219456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234440"/>
            <a:ext cx="4846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600" b="1">
                <a:solidFill>
                  <a:srgbClr val="0D7377"/>
                </a:solidFill>
                <a:latin typeface="Calibri"/>
              </a:defRPr>
            </a:pPr>
            <a:r>
              <a:t>C1: MutBench Framework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91640"/>
            <a:ext cx="484632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First systematic benchmark for viral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mutation hotspot detection with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standardized pipeline &amp; evaluation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0360"/>
            <a:ext cx="48463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888888"/>
                </a:solidFill>
                <a:latin typeface="Calibri"/>
              </a:defRPr>
            </a:pPr>
            <a:r>
              <a:t>See S10-S15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097280"/>
            <a:ext cx="530352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097280"/>
            <a:ext cx="73152" cy="21945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1234440"/>
            <a:ext cx="4846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600" b="1">
                <a:solidFill>
                  <a:srgbClr val="2E7D32"/>
                </a:solidFill>
                <a:latin typeface="Calibri"/>
              </a:defRPr>
            </a:pPr>
            <a:r>
              <a:t>C2: 3-Layer Ground Truth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1691640"/>
            <a:ext cx="484632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Adaptive threshold + constrained +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DMS-based ground truth design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reduces single-reference bias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880360"/>
            <a:ext cx="48463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888888"/>
                </a:solidFill>
                <a:latin typeface="Calibri"/>
              </a:defRPr>
            </a:pPr>
            <a:r>
              <a:t>See S13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66160"/>
            <a:ext cx="530352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566160"/>
            <a:ext cx="73152" cy="21945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703320"/>
            <a:ext cx="4846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600" b="1">
                <a:solidFill>
                  <a:srgbClr val="E65100"/>
                </a:solidFill>
                <a:latin typeface="Calibri"/>
              </a:defRPr>
            </a:pPr>
            <a:r>
              <a:t>C3: Cross-Pathogen Evidence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160520"/>
            <a:ext cx="484632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9 pathogens, 2,544 evaluations prove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no universal best method exists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(interaction omega-sq = 0.285)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349240"/>
            <a:ext cx="48463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888888"/>
                </a:solidFill>
                <a:latin typeface="Calibri"/>
              </a:defRPr>
            </a:pPr>
            <a:r>
              <a:t>See S20-S25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3566160"/>
            <a:ext cx="530352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09360" y="3566160"/>
            <a:ext cx="73152" cy="219456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60" y="3703320"/>
            <a:ext cx="4846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600" b="1">
                <a:solidFill>
                  <a:srgbClr val="6A1B9A"/>
                </a:solidFill>
                <a:latin typeface="Calibri"/>
              </a:defRPr>
            </a:pPr>
            <a:r>
              <a:t>C4: PAHD Proof of Concept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4160520"/>
            <a:ext cx="484632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Pathogen-Adaptive Hotspot Detection: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profile-based method selection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outperforms any single approach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5349240"/>
            <a:ext cx="48463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888888"/>
                </a:solidFill>
                <a:latin typeface="Calibri"/>
              </a:defRPr>
            </a:pPr>
            <a:r>
              <a:t>See S26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Discussion</a:t>
            </a:r>
          </a:p>
        </p:txBody>
      </p:sp>
      <p:pic>
        <p:nvPicPr>
          <p:cNvPr id="4" name="Picture 3" descr="knu_symbol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128016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—— 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097280"/>
            <a:ext cx="1106424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097280"/>
            <a:ext cx="73152" cy="150876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207008"/>
            <a:ext cx="10515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600" b="1">
                <a:solidFill>
                  <a:srgbClr val="0D7377"/>
                </a:solidFill>
                <a:latin typeface="Calibri"/>
              </a:defRPr>
            </a:pPr>
            <a:r>
              <a:t>Benchmarking Matters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627632"/>
            <a:ext cx="1051560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Without standardized evaluation, published methods appear to perform well in isolation but fail under cross-pathogen comparison. MutBench provides the missing infrastructure for fair, reproducible comparison of hotspot detection methods.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788920"/>
            <a:ext cx="1106424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788920"/>
            <a:ext cx="73152" cy="15087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898648"/>
            <a:ext cx="10515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600" b="1">
                <a:solidFill>
                  <a:srgbClr val="E65100"/>
                </a:solidFill>
                <a:latin typeface="Calibri"/>
              </a:defRPr>
            </a:pPr>
            <a:r>
              <a:t>Method Selection is Pathogen-Dependent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319272"/>
            <a:ext cx="1051560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The strong interaction effect (omega-sq = 0.285) means that recommending a single method is fundamentally flawed. Pathogen-specific characteristics (genome structure, mutation rate, selection landscape) determine which approach works best.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480560"/>
            <a:ext cx="1106424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4480560"/>
            <a:ext cx="73152" cy="150876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590288"/>
            <a:ext cx="10515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600" b="1">
                <a:solidFill>
                  <a:srgbClr val="6A1B9A"/>
                </a:solidFill>
                <a:latin typeface="Calibri"/>
              </a:defRPr>
            </a:pPr>
            <a:r>
              <a:t>From Benchmark to Algorithm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10912"/>
            <a:ext cx="1051560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MutBench is not just a benchmark but a knowledge base. The systematic evaluation across 9 pathogens enables PAHD: data-driven, profile-based method selection that outperforms any fixed approach.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Limitations &amp; Future Work</a:t>
            </a:r>
          </a:p>
        </p:txBody>
      </p:sp>
      <p:pic>
        <p:nvPicPr>
          <p:cNvPr id="4" name="Picture 3" descr="knu_symbol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128016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—— 31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5486400" cy="4572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106424"/>
            <a:ext cx="548640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Limitations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691640"/>
            <a:ext cx="54864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691640"/>
            <a:ext cx="54864" cy="96012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783080"/>
            <a:ext cx="512064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Ground truth approximation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(no perfect gold standard exists)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834640"/>
            <a:ext cx="54864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834640"/>
            <a:ext cx="54864" cy="96012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926080"/>
            <a:ext cx="512064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Phylogenetic non-independence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not fully corrected (TreeTime partial)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977640"/>
            <a:ext cx="54864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977640"/>
            <a:ext cx="54864" cy="96012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069080"/>
            <a:ext cx="512064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Limited to substitution mutations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(no indels, recombination)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120640"/>
            <a:ext cx="54864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5120640"/>
            <a:ext cx="54864" cy="96012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212080"/>
            <a:ext cx="512064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PAHD is proof-of-concept only,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not production-ready system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1097280"/>
            <a:ext cx="5486400" cy="4572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1106424"/>
            <a:ext cx="548640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Future Work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1691640"/>
            <a:ext cx="54864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09360" y="1691640"/>
            <a:ext cx="54864" cy="96012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1783080"/>
            <a:ext cx="512064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Full PAHD implementation with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learned pathogen profiles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60" y="2834640"/>
            <a:ext cx="54864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09360" y="2834640"/>
            <a:ext cx="54864" cy="96012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2926080"/>
            <a:ext cx="512064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Integrate phylogenetic correction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(TreeTime branch weighting)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09360" y="3977640"/>
            <a:ext cx="54864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09360" y="3977640"/>
            <a:ext cx="54864" cy="96012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4069080"/>
            <a:ext cx="512064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Extend to indels, recombination,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and structural variants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09360" y="5120640"/>
            <a:ext cx="54864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09360" y="5120640"/>
            <a:ext cx="54864" cy="96012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92240" y="5212080"/>
            <a:ext cx="512064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Real-time surveillance integration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for emerging pathogens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Key Takeaway</a:t>
            </a:r>
          </a:p>
        </p:txBody>
      </p:sp>
      <p:pic>
        <p:nvPicPr>
          <p:cNvPr id="4" name="Picture 3" descr="knu_symbol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128016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—— 32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1188720"/>
            <a:ext cx="9966960" cy="1645920"/>
          </a:xfrm>
          <a:prstGeom prst="roundRect">
            <a:avLst/>
          </a:prstGeom>
          <a:solidFill>
            <a:srgbClr val="1B2A4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MutBench transforms viral hotspot detection from</a:t>
            </a:r>
          </a:p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ad-hoc single-virus evaluation to systematic cross-pathogen benchmarking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200400"/>
            <a:ext cx="2651760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3200400"/>
            <a:ext cx="73152" cy="283464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429000"/>
            <a:ext cx="2651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600" b="1">
                <a:solidFill>
                  <a:srgbClr val="0D7377"/>
                </a:solidFill>
                <a:latin typeface="Calibri"/>
              </a:defRPr>
            </a:pPr>
            <a:r>
              <a:t>9 Pathogens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023360"/>
            <a:ext cx="228600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Largest cross-pathogen</a:t>
            </a:r>
          </a:p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benchmark for hotspot</a:t>
            </a:r>
          </a:p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detection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3200400"/>
            <a:ext cx="2651760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83280" y="3200400"/>
            <a:ext cx="73152" cy="283464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3429000"/>
            <a:ext cx="2651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600" b="1">
                <a:solidFill>
                  <a:srgbClr val="E65100"/>
                </a:solidFill>
                <a:latin typeface="Calibri"/>
              </a:defRPr>
            </a:pPr>
            <a:r>
              <a:t>2,544 Evaluations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4023360"/>
            <a:ext cx="228600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Comprehensive coverage</a:t>
            </a:r>
          </a:p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of scoring x detection</a:t>
            </a:r>
          </a:p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combinations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3200400"/>
            <a:ext cx="2651760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3200400"/>
            <a:ext cx="73152" cy="283464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429000"/>
            <a:ext cx="2651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600" b="1">
                <a:solidFill>
                  <a:srgbClr val="6A1B9A"/>
                </a:solidFill>
                <a:latin typeface="Calibri"/>
              </a:defRPr>
            </a:pPr>
            <a:r>
              <a:t>omega-sq = 0.285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023360"/>
            <a:ext cx="228600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Strong interaction proves</a:t>
            </a:r>
          </a:p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pathogen-adaptive</a:t>
            </a:r>
          </a:p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selection is needed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35440" y="3200400"/>
            <a:ext cx="2651760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35440" y="3200400"/>
            <a:ext cx="73152" cy="28346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5440" y="3429000"/>
            <a:ext cx="2651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600" b="1">
                <a:solidFill>
                  <a:srgbClr val="2E7D32"/>
                </a:solidFill>
                <a:latin typeface="Calibri"/>
              </a:defRPr>
            </a:pPr>
            <a:r>
              <a:t>PAHD Concept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0" y="4023360"/>
            <a:ext cx="228600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From benchmark insight</a:t>
            </a:r>
          </a:p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to actionable algorithm</a:t>
            </a:r>
          </a:p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for method selection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2004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nu_symbol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432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097280"/>
            <a:ext cx="109728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109728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000" b="0">
                <a:solidFill>
                  <a:srgbClr val="BBDEFB"/>
                </a:solidFill>
                <a:latin typeface="Calibri"/>
              </a:defRPr>
            </a:pPr>
            <a: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3840480"/>
            <a:ext cx="6675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200" b="1">
                <a:solidFill>
                  <a:srgbClr val="1B2A4A"/>
                </a:solidFill>
                <a:latin typeface="Calibri"/>
              </a:defRPr>
            </a:pPr>
            <a:r>
              <a:t>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4297680"/>
            <a:ext cx="66751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400" b="0">
                <a:solidFill>
                  <a:srgbClr val="333333"/>
                </a:solidFill>
                <a:latin typeface="Calibri"/>
              </a:defRPr>
            </a:pPr>
            <a:r>
              <a:t>Dept. of Computer Science, Kyungpook National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4754880"/>
            <a:ext cx="66751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400" b="0">
                <a:solidFill>
                  <a:srgbClr val="333333"/>
                </a:solidFill>
                <a:latin typeface="Calibri"/>
              </a:defRPr>
            </a:pPr>
            <a:r>
              <a:t>Advisor: Prof. Inuk Jung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5212080"/>
            <a:ext cx="66751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400" b="0">
                <a:solidFill>
                  <a:srgbClr val="888888"/>
                </a:solidFill>
                <a:latin typeface="Calibri"/>
              </a:defRPr>
            </a:pPr>
            <a:r>
              <a:t>March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5669280"/>
            <a:ext cx="3017520" cy="54864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[QR Code Placeholder] GitHub Repository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