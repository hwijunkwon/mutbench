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108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743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Graduate School, Kyungpook 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PhD Dissertation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MutBench: Systematic Benchmarking Framework</a:t>
            </a:r>
          </a:p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for Viral Mutation Hotspot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Hwijun Kwon  |  Advisor: Prof. Inuk Jung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Dept. of Computer Science, KNU  | 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97280"/>
            <a:ext cx="50292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0515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1732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Prior work, biology background, 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18872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S3 - S10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65960"/>
            <a:ext cx="502920" cy="50292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0D7377"/>
                </a:solidFill>
                <a:latin typeface="Calibri"/>
              </a:defRPr>
            </a:pPr>
            <a:r>
              <a:t>MutBench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8600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Pipeline, scoring/detection, 3-layer ground truth, MCC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5740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S11 - S17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34640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Stage 1: 4-Pathogen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comparison, sensitivity, synthetic vs real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92608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S18 - S21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03320"/>
            <a:ext cx="502920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6576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Stage 2: 9-Pathogen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233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ANOVA, per-pathogen best, Friedman, LOPO, ESM-2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9476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S22 - S27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502920" cy="5029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26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6A1B9A"/>
                </a:solidFill>
                <a:latin typeface="Calibri"/>
              </a:defRPr>
            </a:pPr>
            <a:r>
              <a:t>Extensions &amp; PAHD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89204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PAHD algorithm, phylogenetic correction, baselines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66344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S28 - S30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40680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949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C6282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76072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Contributions, discussion, limitations, future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53212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S31 - S35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Prior Work: MOSD &amp; MutClust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91440" cy="3840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D7377"/>
                </a:solidFill>
                <a:latin typeface="Calibri"/>
              </a:defRPr>
            </a:pPr>
            <a:r>
              <a:t>Paper 1  |  BMC Genomics 2025 (SCIE)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MOSD: Multi-Omics Subtyping with 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Benchmarked 11 multi-omics integration methods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across 6 evaluation metrics for cancer subtyping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Key finding: No single method dominates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across all cancer datasets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3891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MOSD Key Figure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91440" cy="3840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Paper 2  |  BioData Mining 2025 (SCIE)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MutClust: Mutation Clustering for viral evolution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H-score based mutation hotspot detection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with network propagation &amp; bootstrap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Limitation: H-score founder bias (rho = -0.876)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Single-pathogen evaluation is insufficient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931920"/>
            <a:ext cx="43891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MutClust Key Figure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Both prior works reveal that no single method dominates -- motivating MutBench.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Central Dogma: DNA -&gt; RNA -&gt; Protein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Biological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Genome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The complete genetic information of an organism,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encoded as a DNA or RNA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Gene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 segment of the genome that encodes a functional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protein or RNA molecule.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Nucleotide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The building blocks of DNA/RNA: Adenine (A),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Thymine (T)/Uracil (U), Guanine (G), Cytosine (C).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53035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Amino Acid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Building blocks of proteins. A sequence of 3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nucleotides (codon) specifies one amino acid.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303520" cy="2743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DNA Structure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Central Dogma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572000"/>
            <a:ext cx="1371600" cy="59436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617720"/>
            <a:ext cx="365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572000"/>
            <a:ext cx="1371600" cy="5943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mRNA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617720"/>
            <a:ext cx="365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4572000"/>
            <a:ext cx="1371600" cy="5943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Protein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394960"/>
            <a:ext cx="5303520" cy="6858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RNA viruses use RNA (not DNA) as their genome.</a:t>
            </a:r>
          </a:p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Higher mutation rate due to error-prone RNA polymerase.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Mutations &amp; Their Effects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05840"/>
            <a:ext cx="110642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Mutation Types Diagram (Substitution / Insertion / Deletion)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Mutation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73152" cy="7772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7377"/>
                </a:solidFill>
                <a:latin typeface="Calibri"/>
              </a:defRPr>
            </a:pPr>
            <a:r>
              <a:t>Substitution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959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One nucleotide replaced by another (e.g., A -&gt; 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8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611880"/>
            <a:ext cx="73152" cy="7772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Insertion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959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Extra nucleotide(s) added; shifts reading frame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11880"/>
            <a:ext cx="3566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611880"/>
            <a:ext cx="73152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Deletion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95928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Nucleotide(s) removed; can disrupt protein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Effects on Protein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73152" cy="685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56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Silent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309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 change in amino acid (codon redundancy)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9834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983480"/>
            <a:ext cx="73152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056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Missense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309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Different amino acid; may alter protein function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98348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983480"/>
            <a:ext cx="73152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056632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Nonsense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309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Premature stop codon; truncated protein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Different mutation types have different impacts on protein function and viral fitness.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Viral Evolution &amp; Natural Selection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Positive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Mutations that increase viral fitness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spread through the population.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Immune evasion, transmissibility,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drug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972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56616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15568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Purifying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Mutations that damage essential functions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are removed from the population.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Disruption of replication,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loss of structural 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566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15568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Convergent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4592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The same mutation arises independently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 different viral lineages.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N501Y in multiple SARS-CoV-2 variants,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strong positive selection signal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11247120" cy="2286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Why This Matters for Hotspot Detection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Positive selection creates mutation hotspots: positions where beneficial mutations accumulate.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Purifying selection creates 'cold spots': conserved positions essential for survival.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Convergent evolution provides the strongest evidence: independent origins confirm selective pressure.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Different pathogens experience different selection landscapes, which is why detection methods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perform differently across pathogens -- the central finding of this dissertation.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are Mutation Hotspots?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0972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Definition:  Genomic positions where mutations accumulate at significantly</a:t>
            </a:r>
          </a:p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higher frequencies than expected by chance, indicating selective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2743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Hotspot Visualization on Spike Protein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e.g., N501Y, E484K, D614G positions highlighted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5394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Why do they occur?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8892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Positive selection drives beneficial mutations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(e.g., immune escape at receptor binding sites).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Some regions tolerate mutations better than others.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29000"/>
            <a:ext cx="5394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74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Why are they important?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490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Track viral evolution in real-time.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Guide vaccine &amp; drug target design.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Predict emerging variants of concern.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389120"/>
            <a:ext cx="5394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4348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Key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0916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N501Y: Enhanced ACE2 binding affinity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E484K: Immune escape from antibodies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D614G: Founder effect vs true selection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11064240" cy="6400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62828"/>
                </a:solidFill>
                <a:latin typeface="Calibri"/>
              </a:defRPr>
            </a:pPr>
            <a:r>
              <a:t>Current gap: No systematic way to compare hotspot detection methods across pathogens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8961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486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8016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Standardized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Existing methods evaluated on different datasets with different metrics, making fair comparison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234440"/>
            <a:ext cx="1828800" cy="11887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Incompatible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8961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486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Single-Pathogen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Methods tested on only 1-2 pathogens cannot generalize. Pathogen-specific characteristics dramatically affect detection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926080"/>
            <a:ext cx="1828800" cy="11887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 vs 9 pathogens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8961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5486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6344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No Universal Best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20640"/>
            <a:ext cx="7772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Our prior work (MOSD, MutClust) demonstrated that no single approach dominates across all settings, demanding systematic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4617720"/>
            <a:ext cx="1828800" cy="11887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Ranking reversal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These three problems necessitate a systematic benchmarking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Overview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0D7377"/>
                </a:solidFill>
                <a:latin typeface="Calibri"/>
              </a:defRPr>
            </a:pPr>
            <a:r>
              <a:t>How MutBench Addresses These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064240" cy="2743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MutBench Research Overview - Full Pipeline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P1 (no benchmark) -&gt; MutBench Framework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P2 (single-pathogen) -&gt; 9-pathogen evaluation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P3 (no universal best) -&gt; PAHD adaptive selection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0D737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RNA Pathogens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6624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E65100"/>
                </a:solidFill>
                <a:latin typeface="Calibri"/>
              </a:defRPr>
            </a:pPr>
            <a:r>
              <a:t>2,544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Evaluations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2E7D32"/>
                </a:solidFill>
                <a:latin typeface="Calibri"/>
              </a:defRPr>
            </a:pPr>
            <a:r>
              <a:t>351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Combos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6A1B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Ground Truth Layers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9216" y="4389120"/>
            <a:ext cx="2148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4572000"/>
            <a:ext cx="2148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000" b="1">
                <a:solidFill>
                  <a:srgbClr val="C62828"/>
                </a:solidFill>
                <a:latin typeface="Calibri"/>
              </a:defRPr>
            </a:pPr>
            <a:r>
              <a:t>0.285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5303520"/>
            <a:ext cx="2148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Interaction omega-sq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9 RNA Pathogens in MutBench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06424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Pathogen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106424"/>
            <a:ext cx="1280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10642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Target Protein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06424"/>
            <a:ext cx="55778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12471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54480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SARS-CoV-2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554480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~30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1554480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Spike protein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COVID-19 pandemic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84832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084832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Influenza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084832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~13.5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084832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Hemagglutinin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84832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Seasonal epidemics, antigenic shift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15184"/>
            <a:ext cx="112471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15184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HIV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615184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~10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2615184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Env/Gag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15184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 mutation rate, chronic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45536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145536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Dengue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145536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~11 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3145536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 protein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145536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 serotypes, tropical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75888"/>
            <a:ext cx="112471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75888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MERS-CoV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3675888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~30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3675888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Spike protein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75888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Camel-origin, high fatality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06240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06240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RSV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206240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~15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4206240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 protein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206240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Infant respiratory disease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36592"/>
            <a:ext cx="112471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36592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Norovirus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736592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~7.5 kb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4736592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VP1 capsid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736592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Gastroenteritis, rapid evolution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266944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266944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HCV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266944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~9.6 kb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0" y="5266944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E1/E2 proteins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266944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Chronic hepatitis, high diversity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797296"/>
            <a:ext cx="112471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797296"/>
            <a:ext cx="201168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Ebola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5797296"/>
            <a:ext cx="12801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~19 kb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40" y="5797296"/>
            <a:ext cx="23774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Glycoprotein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5797296"/>
            <a:ext cx="55778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Hemorrhagic fever, outbreaks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635508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9 diverse RNA pathogens with varying genome sizes, mutation rates, and evolutionary pressures.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MutBench Pipeline Overview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MSA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05840"/>
            <a:ext cx="1600200" cy="86868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Scoring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(9 methods)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160020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(39 methods)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005840"/>
            <a:ext cx="1600200" cy="8686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Ground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1887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88888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005840"/>
            <a:ext cx="1600200" cy="8686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(MCC)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57400"/>
            <a:ext cx="5486400" cy="365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66543"/>
            <a:ext cx="5486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 Scoring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5146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Shannon Entropy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5146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H = -Sum p_i log p_i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25146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Jensen-Shannon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5146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JSD(P||Q)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5146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Mutation Freq.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5146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f = 1 - max(p_i)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9718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Wavelet (CWT)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9718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Multi-scale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9718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Sliding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29718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Smoothed average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9718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Phylo-aware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9718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Branch-weighted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4290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dN/dS 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4290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omega = dN/dS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34290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Kabat Variability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4290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K = N/(n*f_max)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3429000"/>
            <a:ext cx="1005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D7377"/>
                </a:solidFill>
                <a:latin typeface="Calibri"/>
              </a:defRPr>
            </a:pPr>
            <a:r>
              <a:t>  Property Entropy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429000"/>
            <a:ext cx="868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AA property groups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057400"/>
            <a:ext cx="54864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2066543"/>
            <a:ext cx="5486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Detection Families (39 methods)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Z-score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5146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Percentile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5146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IQR Outlier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25146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971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DBSCAN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29718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6 variants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971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HDBSCAN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9718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3 variants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29718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Gaussian Mix.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29718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3429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Kernel Density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34290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4 variants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429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Isolation Forest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34290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3 variants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34290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Wavelet Peaks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27080" y="34290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3 variants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886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LOF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38862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3886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Threshold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38862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38862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2E7D32"/>
                </a:solidFill>
                <a:latin typeface="Calibri"/>
              </a:defRPr>
            </a:pPr>
            <a:r>
              <a:t>  Bayesian CP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27080" y="3886200"/>
            <a:ext cx="777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8888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0" y="4480560"/>
            <a:ext cx="850392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Total: 9 scoring x 39 detection = 351 unique combinations per pathogen  |  9 pathogens = 2,544 evaluations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21208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The pipeline systematically evaluates BOTH 9 scoring AND 39 detection methods across all pathogens.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Scoring Methods: 9 Approaches (Grouped by Category)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576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60704"/>
            <a:ext cx="3657600" cy="3931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Frequency-based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36576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H-score 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H = sum(f_i &gt; threshold)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Existing (MutClust)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17520"/>
            <a:ext cx="36576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9067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 x 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Product of frequency &amp; entropy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146304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480560"/>
            <a:ext cx="36576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537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 x E^2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Frequency x entropy squared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463040" cy="3200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051560"/>
            <a:ext cx="365760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060704"/>
            <a:ext cx="3657600" cy="3931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Entropy-based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1554480"/>
            <a:ext cx="36576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6276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E_only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96596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H(x) = -Sum p_i log2 p_i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42316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Shannon entropy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017520"/>
            <a:ext cx="36576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9067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E x rare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42900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Entropy weighted by rare alleles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886200"/>
            <a:ext cx="1463040" cy="3200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480560"/>
            <a:ext cx="36576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5537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minority_E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89204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Entropy of minority nucleotides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5349240"/>
            <a:ext cx="1463040" cy="3200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051560"/>
            <a:ext cx="3657600" cy="4114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060704"/>
            <a:ext cx="3657600" cy="3931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1554480"/>
            <a:ext cx="3657600" cy="132588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162763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BF360C"/>
                </a:solidFill>
                <a:latin typeface="Calibri"/>
              </a:defRPr>
            </a:pPr>
            <a:r>
              <a:t>P x E x rare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196596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Frequency x entropy x 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2423160"/>
            <a:ext cx="1463040" cy="32004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017520"/>
            <a:ext cx="3657600" cy="132588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309067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BF360C"/>
                </a:solidFill>
                <a:latin typeface="Calibri"/>
              </a:defRPr>
            </a:pPr>
            <a:r>
              <a:t>P x minority_E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342900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Frequency x minority entropy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320" y="3886200"/>
            <a:ext cx="1463040" cy="32004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4480560"/>
            <a:ext cx="3657600" cy="132588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45537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BF360C"/>
                </a:solidFill>
                <a:latin typeface="Calibri"/>
              </a:defRPr>
            </a:pPr>
            <a:r>
              <a:t>rank(P x 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4892040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B2A4A"/>
                </a:solidFill>
                <a:latin typeface="Calibri"/>
              </a:defRPr>
            </a:pPr>
            <a:r>
              <a:t>Rank-based P x E scoring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5349240"/>
            <a:ext cx="1463040" cy="32004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NEW in MutBench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7 of 9 scoring methods are NEW contributions of MutBench; only H-score and Shannon entropy existed before.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Truth: Layer A (Adaptive)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Layer A: Adaptive Ground Truth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Entropy-based threshold auto-adjustment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per pathogen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D7377"/>
                </a:solidFill>
                <a:latin typeface="Calibri"/>
              </a:defRPr>
            </a:pPr>
            <a:r>
              <a:t>Layer A: Adaptive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Principle: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Entropy-based threshold is automatically adjusted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per pathogen based on the background mutation rate.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1. Compute Shannon entropy for all positions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2. Fit a null distribution from non-coding regions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3. Set threshold at mean + k*std (k adaptive)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4. Positions exceeding threshold = hotspot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Advantage: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Self-calibrating per pathogen, captures high-variability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positions relative to that specific pathogen's background.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May be too permissive for low-diversity pathogens.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Layer A adapts to each pathogen's mutation background, avoiding fixed-threshold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Truth: Layer B (Constrained)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Layer B: Constrained Ground Truth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Intersection of top-K across methods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Layer B: Constrained Consensus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Principle: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Intersection of top-K positions across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multiple independent scoring methods.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1. Rank all positions by each scoring method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2. Take top-K positions from each method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3. A position is 'hotspot' only if it appears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in the top-K of at least M methods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4. Parameters K, M are tuned per pathogen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Advantage: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Reduces bias from any single scoring method.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Consensus across methods increases reliability.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May miss hotspots captured by only one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Layer B requires agreement across methods, reducing single-method false positives.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3-Layer Ground Truth: Layer C (DMS-based)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48640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Layer C: DMS Ground Truth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Deep mutational scanning experimental data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Layer C: DMS-based (Experimental)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Principle: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Deep Mutational Scanning (DMS) measures the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fitness effect of every possible mutation.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sources: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Starr et al. 2020: SARS-CoV-2 RBD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Dadonaite et al. 2023: Full Spike protein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1. Obtain experimental fitness scores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2. Positions with high fitness tolerance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= likely hotspots (can mutate and survive)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3. Gold-standard biological validation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Limitation: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Only available for SARS-CoV-2 Spike protein.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Cannot be applied to all 9 pathogens.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Layer C provides gold-standard experimental validation, but is limited to SARS-CoV-2.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Evaluation Metric: Matthews Correlation Coefficient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MCC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86400" cy="6400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MCC = (TP*TN - FP*FN) / sqrt((TP+FP)(TP+FN)(TN+FP)(TN+FN))</a:t>
            </a:r>
          </a:p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Range: [-1, +1]   |   0 = random   |   +1 = perfect 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8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Predicted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8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Predicted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Actual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33333"/>
                </a:solidFill>
                <a:latin typeface="Calibri"/>
              </a:defRPr>
            </a:pPr>
            <a:r>
              <a:t>Actual 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743200"/>
            <a:ext cx="109728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200"/>
            <a:ext cx="109728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429000"/>
            <a:ext cx="109728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429000"/>
            <a:ext cx="1097280" cy="685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Why MCC over F1?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54864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50876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A1B9A"/>
                </a:solidFill>
                <a:latin typeface="Calibri"/>
              </a:defRPr>
            </a:pPr>
            <a:r>
              <a:t>Uses all 4 quadrants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73936"/>
            <a:ext cx="49377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F1 ignores True Negatives entirely.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MCC uses TP, TN, FP, and FN.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33172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331720"/>
            <a:ext cx="54864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A1B9A"/>
                </a:solidFill>
                <a:latin typeface="Calibri"/>
              </a:defRPr>
            </a:pPr>
            <a:r>
              <a:t>Robust to class imbalance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42616"/>
            <a:ext cx="49377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Hotspots are rare (~5% of positions).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MCC stays reliable with 95% negatives.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0040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200400"/>
            <a:ext cx="54864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4612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A1B9A"/>
                </a:solidFill>
                <a:latin typeface="Calibri"/>
              </a:defRPr>
            </a:pPr>
            <a:r>
              <a:t>Random baseline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11296"/>
            <a:ext cx="49377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Verified: mean MCC = 0.001, std = 0.003.</a:t>
            </a:r>
          </a:p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F1 can give misleading high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480560"/>
            <a:ext cx="11064240" cy="12801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Concrete Example: 95% negative class (950 TN, 50 actual hotspots)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 classifier that predicts ALL negative: TP=0, FP=0, FN=50, TN=950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F1 = 0  (correctly identifies failure)     MCC = 0  (correctly identifies randomness)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 classifier that predicts 50 hotspots but gets 40 wrong: TP=10, FP=40, FN=40, TN=910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 F1 = 0.20  (looks reasonable)              MCC = 0.09  (exposes the poor quality)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MCC is the gold-standard metric for imbalanced binary classification; F1 can be misleading.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Two-Stage Experimental Design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840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1: Controlled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4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SARS-CoV-2, Influenza, HIV, Dengue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351 scoring-detection combinations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9 scoring x 39 detection methods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areas: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Method comparison &amp; ranking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Parameter sensitivity analysis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Synthetic vs real data gap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Initial ranking reversal observation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303520" cy="38404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Stage 2: Large-Scale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9377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9 pathogens (+5 more)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+ MERS, RSV, Norovirus, HCV, Ebola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2,544 evaluations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9 scoring x 39 detection x 9 pathogens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areas: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Two-way ANOVA (interaction effects)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Per-pathogen best combination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Friedman test + LOPO CV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PAHD proof of concept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166360"/>
            <a:ext cx="7589520" cy="9144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Stage 1 (discovery)  &gt;&gt;&gt;  Stage 2 (validation at scale)  &gt;&gt;&gt;  PAHD (algorithm)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Method Comparison — Precision / Recall / F1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Top-10 Scoring-Detection Combinations (by mean MCC)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72184"/>
            <a:ext cx="640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72184"/>
            <a:ext cx="2011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7218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472184"/>
            <a:ext cx="10972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472184"/>
            <a:ext cx="1280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472184"/>
            <a:ext cx="12801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472184"/>
            <a:ext cx="10972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20240"/>
            <a:ext cx="110642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920240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1920240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Wavelet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20240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HDBSCAN-auto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92024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2E7D32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0.412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92024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322576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322576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 x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322576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32257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32257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232257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2257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724912"/>
            <a:ext cx="110642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724912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2724912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Shannon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2724912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DBSCAN-0.3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72491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72491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272491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72491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127248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3127248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 x E^2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3127248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GMM-3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12724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12724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0.371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312724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12724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529584"/>
            <a:ext cx="110642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529584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3529584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Kabat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529584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HDBSCAN-auto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352958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52958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0.362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352958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352958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931920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3931920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JSD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3931920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KDE-silverman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393192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393192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0" y="3931920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931920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334256"/>
            <a:ext cx="110642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334256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4334256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dN/dS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4334256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Z-score-2.5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433425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433425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0" y="4334256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4334256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4736592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736592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20" y="4736592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rank(PxE)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0" y="4736592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Percentile-95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473659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473659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5280" y="4736592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4736592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5138928"/>
            <a:ext cx="110642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138928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8720" y="5138928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Property 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0" y="5138928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IsolForest-100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77840" y="513892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0" y="513892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0.334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80" y="5138928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35440" y="5138928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554126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541264"/>
            <a:ext cx="6400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88720" y="5541264"/>
            <a:ext cx="20116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 x rare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00400" y="5541264"/>
            <a:ext cx="237744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LOF-20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77840" y="554126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554126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55280" y="5541264"/>
            <a:ext cx="128016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35440" y="5541264"/>
            <a:ext cx="10972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0.313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Wavelet + HDBSCAN achieves the highest mean MCC (0.390), but rankings vary across pathogens.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1: Hotspot-Score Ranking by Detection Family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pic>
        <p:nvPicPr>
          <p:cNvPr id="8" name="Picture 7" descr="new_methodolog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498079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Wavelet scoring achieves highest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mean MCC across 4 pathogens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74320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HDBSCAN-based detection outperforms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traditional threshold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84048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 variance across pathogens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suggests generalization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93776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93776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Top combination differs between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SARS-CoV-2 and HIV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Parameter Sensitivity Analysis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60120"/>
            <a:ext cx="1161288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B2A4A"/>
                </a:solidFill>
                <a:latin typeface="Calibri"/>
              </a:defRPr>
            </a:pPr>
            <a:r>
              <a:t>Purpose: Test whether detection method performance is stable across parameter choices, or whether results depend heavily on specific tuning.</a:t>
            </a:r>
          </a:p>
        </p:txBody>
      </p:sp>
      <p:pic>
        <p:nvPicPr>
          <p:cNvPr id="9" name="Picture 8" descr="sensi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08760"/>
            <a:ext cx="6858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508760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Sensitivity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011680"/>
            <a:ext cx="420624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01168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514600"/>
            <a:ext cx="4206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51460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Window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51460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1460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Optimal varies by pathogen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01752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01752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Epsilon (DBSCAN)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01752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01752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Requires per-pathogen tuning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520440"/>
            <a:ext cx="4206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52044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Min-cluster (HDBSCAN)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52044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52044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Robust across wide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402336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023360"/>
            <a:ext cx="1645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Threshold percentile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023360"/>
            <a:ext cx="1463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Pathogen-dependent optima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4663440"/>
            <a:ext cx="420624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HDBSCAN is the most robust detection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method across parameter variations.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This supports its use as a default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choice when pathogen characteristics</a:t>
            </a:r>
          </a:p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are unknown.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Gap: Synthetic Benchmark != Real Data Performance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05840"/>
            <a:ext cx="11064240" cy="5486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Methods that win on synthetic data don't always win on real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029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46504"/>
            <a:ext cx="5029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7315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3600" b="1">
                <a:solidFill>
                  <a:srgbClr val="C62828"/>
                </a:solidFill>
                <a:latin typeface="Calibri"/>
              </a:defRPr>
            </a:pPr>
            <a:r>
              <a:t>=/=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46504"/>
            <a:ext cx="5303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 Pathogen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Mutation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33172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Uniform / Poisson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Highly skewed, founder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Selection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06324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None (neutral)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6324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Complex positive + purifying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Ground Truth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79476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Known by construction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9476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Approximate (DMS / literature)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Phylogenetic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52628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Independent samples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52628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Strong non-independence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B2A4A"/>
                </a:solidFill>
                <a:latin typeface="Calibri"/>
              </a:defRPr>
            </a:pPr>
            <a:r>
              <a:t>Best Method Winner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5257800"/>
            <a:ext cx="3291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Threshold-based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257800"/>
            <a:ext cx="530352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Clustering-based (HDBSCAN)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6035040"/>
            <a:ext cx="9418320" cy="4114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Ranking reversals between synthetic and real data demonstrate the need for real-pathogen benchmarking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Cross-Pathogen Ranking Reversal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pic>
        <p:nvPicPr>
          <p:cNvPr id="8" name="Picture 7" descr="detection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188720"/>
            <a:ext cx="3749039" cy="219456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74903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7490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BBDEFB"/>
                </a:solidFill>
                <a:latin typeface="Calibri"/>
              </a:defRPr>
            </a:pPr>
            <a:r>
              <a:t>unique best</a:t>
            </a:r>
          </a:p>
          <a:p>
            <a:pPr algn="ctr">
              <a:defRPr sz="1800" b="0">
                <a:solidFill>
                  <a:srgbClr val="BBDEFB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0"/>
            <a:ext cx="3749039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pathogen has a different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optimal scoring + detection pair.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single method can be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"recommended" universally.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This motivates the need for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 selection (PAHD).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Stage 2: Scaling to 9 Pathogens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Pathogens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SARS-CoV-2, Influenza, HIV,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Dengue, MERS, RSV,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Norovirus, HCV, Ebola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2,544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Evaluations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9 scoring methods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x 39 detection methods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x 9 pathogens (multilayer GT)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566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>
                <a:solidFill>
                  <a:srgbClr val="E651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Statistical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83280"/>
            <a:ext cx="30175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Two-way ANOVA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Permutation test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Friedman test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LOPO cross-validation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Two-Way ANOVA: Variance Decomposition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pic>
        <p:nvPicPr>
          <p:cNvPr id="8" name="Picture 7" descr="varianc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6400800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40880" y="1097280"/>
            <a:ext cx="4572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731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1887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28016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Largest effect: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choice of detection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method matters most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834640"/>
            <a:ext cx="4572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2834640"/>
            <a:ext cx="731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9260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9184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28.5%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1752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x Pathogen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interaction is strong: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 universal best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572000"/>
            <a:ext cx="4572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572000"/>
            <a:ext cx="731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6634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29200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~8.3%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754880"/>
            <a:ext cx="2560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method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contributes less than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detection or interaction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Interaction effect (28.5%) proves scoring-pathogen combination matters -- no single method works for 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Per-Pathogen Best Combinations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pic>
        <p:nvPicPr>
          <p:cNvPr id="8" name="Picture 7" descr="cross_pathogen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188720"/>
            <a:ext cx="3291840" cy="201168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25880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unique best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2918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 entropy-function divergence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(Norovirus r=0.39 vs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SARS-CoV-2 r=0.03)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H-score founder bias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(rho = -0.876)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E-R correlation: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rho=0.517, p=0.154 (n.s.)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080760"/>
            <a:ext cx="11064240" cy="3657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Takeaway: Each pathogen requires a DIFFERENT optimal method -- no universal recommendation is possible.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Friedman Test &amp; Leave-One-Pathogen-Out CV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Friedman Rank Test (Top-20)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Question: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Are top-20 method rankings consistent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across pathogens?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chi-squared = 42.44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p-value = 0.0015 (significant at p &lt; 0.01)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493776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[Chart to be created]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Friedman rank distribution showing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χ² = 42.44, p = 0.0015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across 9 pathogens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LOPO Cross-Validation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Protocol: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Train on 8 pathogens, test on held-out 1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Result: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 / 9 correct predictions</a:t>
            </a:r>
          </a:p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Simple majority voting fails completely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49039"/>
            <a:ext cx="493776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[Table to be created]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LOPO results: 0/9 match rate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Mean generalization ratio: 4.9%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Training-best ≠ Test-best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ESM-2 Protein Language Model Validation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80160"/>
            <a:ext cx="996696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89304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8930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Without ESM-2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9304"/>
            <a:ext cx="237744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With ESM-2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289304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737360"/>
            <a:ext cx="99669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73736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Mean MCC (top-20)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3736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3736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73736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331720"/>
            <a:ext cx="9966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33172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Median MCC (top-20)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33172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33172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926080"/>
            <a:ext cx="99669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92608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Best single combo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2608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0.393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2608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+0.003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520440"/>
            <a:ext cx="9966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52044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Coverage (&gt;0.3 MCC)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52044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12/20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52044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13/20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52044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114800"/>
            <a:ext cx="99669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114800"/>
            <a:ext cx="27432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Rank correlation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11480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37744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rho = 0.94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114800"/>
            <a:ext cx="24688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High agreement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54880"/>
            <a:ext cx="996696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ESM-2 embeddings provide marginal improvement, confirming that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sequence-based scoring already captures most of the relevant signal.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benchmark rankings remain stable (rho = 0.94).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5760720"/>
            <a:ext cx="57607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[Placeholder] ESM-2 Architecture Concept Diagram (To be inserted)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FINDING: No Universal Best Method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097280"/>
            <a:ext cx="9418320" cy="10972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single scoring + detection combination works best for all pathogens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73152" cy="1783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ANOVA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omega-sq = 0.285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Scoring x Pathogen interaction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explains 28.5% of variance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468880"/>
            <a:ext cx="73152" cy="1783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Unique Best Combos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2044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Every pathogen has a different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optimal method pair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73152" cy="1783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A1B9A"/>
                </a:solidFill>
                <a:latin typeface="Calibri"/>
              </a:defRPr>
            </a:pPr>
            <a:r>
              <a:t>Friedman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p = 0.0015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Rankings differ significantly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across pathogens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48056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480560"/>
            <a:ext cx="73152" cy="1783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LOPO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937760"/>
            <a:ext cx="4846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0 / 9 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532120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Majority voting fails completely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 unseen pathogens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PAHD: Pathogen-Adaptive Hotspot Detection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1: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Extract pathogen profile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(entropy distribution, genome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length, mutation rate, diversity)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9164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6A1B9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0972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4300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2: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Compare profile against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MutBench knowledge base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(similarity-based retrieval)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691640"/>
            <a:ext cx="274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6A1B9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097280"/>
            <a:ext cx="3566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356616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14300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3: 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Recommend optimal scoring +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detection combination based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on matched pathogen results</a:t>
            </a:r>
          </a:p>
        </p:txBody>
      </p:sp>
      <p:pic>
        <p:nvPicPr>
          <p:cNvPr id="22" name="Picture 21" descr="new_methodolog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74720"/>
            <a:ext cx="5943600" cy="2560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6A1B9A"/>
                </a:solidFill>
                <a:latin typeface="Calibri"/>
              </a:defRPr>
            </a:pPr>
            <a:r>
              <a:t>MCC Baseline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MutBench Best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840480"/>
            <a:ext cx="267462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40480"/>
            <a:ext cx="2583179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FreqThresh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270248"/>
            <a:ext cx="1700784" cy="228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270248"/>
            <a:ext cx="1609343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0.248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00016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65100"/>
                </a:solidFill>
                <a:latin typeface="Calibri"/>
              </a:defRPr>
            </a:pPr>
            <a:r>
              <a:t>SWAN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700016"/>
            <a:ext cx="1323594" cy="228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700016"/>
            <a:ext cx="1232154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29784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C62828"/>
                </a:solidFill>
                <a:latin typeface="Calibri"/>
              </a:defRPr>
            </a:pPr>
            <a:r>
              <a:t>MutClust-Orig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129784"/>
            <a:ext cx="946404" cy="228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5129784"/>
            <a:ext cx="854964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0.138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559552"/>
            <a:ext cx="16459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5559552"/>
            <a:ext cx="6858" cy="228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5559552"/>
            <a:ext cx="-84582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0.001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Phylogenetic Correction &amp; Region Overlap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30352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Phylogenetic Non-Independence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Problem: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Closely related sequences share mutations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by descent, not independent selection.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e.g., D614G spread by founder effect.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Approach: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TreeTime phylogenetic reconstruction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Branch-weighted mutation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754880" cy="19202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[Image Placeholder]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Phylogenetic Tree Diagram</a:t>
            </a:r>
          </a:p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(To be inserted)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03520" cy="5486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15568"/>
            <a:ext cx="4937760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Region-Level Overlap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4937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Motivation: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Position-level MCC may be too strict.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Methods may detect the right region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but miss exact positions.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Results: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MCC improves from 0.289 to 0.712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with region-level evaluation.</a:t>
            </a:r>
          </a:p>
        </p:txBody>
      </p:sp>
      <p:pic>
        <p:nvPicPr>
          <p:cNvPr id="17" name="Picture 16" descr="lopo_region_pr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40480"/>
            <a:ext cx="47548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Scoring-Detection Heatmap &amp; Baseline Comparison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31</a:t>
            </a:r>
          </a:p>
        </p:txBody>
      </p:sp>
      <p:pic>
        <p:nvPicPr>
          <p:cNvPr id="8" name="Picture 7" descr="scoring_detec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713232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09728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MCC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MutBench 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993392"/>
            <a:ext cx="267462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993392"/>
            <a:ext cx="2583179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0.390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603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FreqThresh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907792"/>
            <a:ext cx="1700784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907792"/>
            <a:ext cx="1609343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SWAN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822192"/>
            <a:ext cx="1323594" cy="320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822192"/>
            <a:ext cx="1232154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891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MutClust-Orig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736592"/>
            <a:ext cx="946404" cy="320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736592"/>
            <a:ext cx="854964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3035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5650992"/>
            <a:ext cx="6858" cy="3200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5650992"/>
            <a:ext cx="-84582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0.001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Contributions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21945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C1: MutBench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First systematic benchmark for viral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mutation hotspot detection with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standardized pipeline &amp;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S11-S17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C2: 3-Layer Ground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9164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Adaptive threshold + constrained +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DMS-based ground truth design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reduces single-reference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80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S13-S15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73152" cy="21945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C3: Cross-Pathogen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9 pathogens, 2,544 evaluations prove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universal best method exists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(interaction omega-sq = 0.285)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S22-S27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56616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566160"/>
            <a:ext cx="73152" cy="21945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C4: PAHD Proof of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6052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 Hotspot Detection: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profile-based method selection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outperforms any single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4924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See S28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3152" cy="15087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0700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D7377"/>
                </a:solidFill>
                <a:latin typeface="Calibri"/>
              </a:defRPr>
            </a:pPr>
            <a:r>
              <a:t>Benchmarking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Without standardized evaluation, published methods appear to perform well in isolation but fail under cross-pathogen comparison. MutBench provides the missing infrastructure for fair, reproducible comparison of hotspot detection methods.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731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9864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Method Selection is Pathogen-Dependent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strong interaction effect (omega-sq = 0.285) means that recommending a single method is fundamentally flawed. Pathogen-specific characteristics (genome structure, mutation rate, selection landscape) determine which approach works best.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73152" cy="1508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From Benchmark to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10912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MutBench is not just a benchmark but a knowledge base. The systematic evaluation across 9 pathogens enables PAHD: data-driven, profile-based method selection that outperforms any fixed approach.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06424"/>
            <a:ext cx="54864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Ground truth approximation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 perfect gold standard exists)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Phylogenetic non-independence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fully corrected (TreeTime partial)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Limited to substitution mutations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(no indels, recombination)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PAHD is proof-of-concept only,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not production-ready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06424"/>
            <a:ext cx="54864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91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691640"/>
            <a:ext cx="54864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83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Full PAHD implementation with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learned pathogen profiles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834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834640"/>
            <a:ext cx="54864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926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Integrate phylogenetic correction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(TreeTime branch weighting)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77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77640"/>
            <a:ext cx="54864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Extend to indels, recombination,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and structural variants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120640"/>
            <a:ext cx="5486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120640"/>
            <a:ext cx="54864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21208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Real-time surveillance integration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for emerging pathogens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pic>
        <p:nvPicPr>
          <p:cNvPr id="4" name="Picture 3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137160"/>
            <a:ext cx="50292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28816"/>
            <a:ext cx="64008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188720"/>
            <a:ext cx="9966960" cy="164592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MutBench transforms viral hotspot detection from</a:t>
            </a:r>
          </a:p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ad-hoc single-virus evaluation to systematic cross-pathogen benchmarking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73152" cy="28346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D7377"/>
                </a:solidFill>
                <a:latin typeface="Calibri"/>
              </a:defRPr>
            </a:pPr>
            <a:r>
              <a:t>9 Pathogens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Largest cross-pathogen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benchmark for hotspot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200400"/>
            <a:ext cx="73152" cy="2834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E65100"/>
                </a:solidFill>
                <a:latin typeface="Calibri"/>
              </a:defRPr>
            </a:pPr>
            <a:r>
              <a:t>2,544 Evaluations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Comprehensive coverage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of scoring x detection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combinations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73152" cy="2834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6A1B9A"/>
                </a:solidFill>
                <a:latin typeface="Calibri"/>
              </a:defRPr>
            </a:pPr>
            <a:r>
              <a:t>omega-sq = 0.285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Strong interaction proves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pathogen-adaptive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selection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200400"/>
            <a:ext cx="2651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3200400"/>
            <a:ext cx="73152" cy="2834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42900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PAHD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023360"/>
            <a:ext cx="2286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From benchmark insight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to actionable algorithm</a:t>
            </a:r>
          </a:p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for method selection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BBDEF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6675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1B2A4A"/>
                </a:solidFill>
                <a:latin typeface="Calibri"/>
              </a:defRPr>
            </a:pPr>
            <a:r>
              <a:t>Hwijun Kwon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976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Dept. of Computer Science, Kyungpook 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Advisor: Prof. Inuk Jung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12080"/>
            <a:ext cx="6675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669280"/>
            <a:ext cx="30175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[QR Code Placeholder] GitHub Repository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28816"/>
            <a:ext cx="91440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Kyungpook National University  |  Dept. of Computer Science  |  Hwijun Kwon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