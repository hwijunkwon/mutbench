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108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7432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Graduate School, Kyungpook National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MutBench: Systematic Benchmarking Framework</a:t>
            </a:r>
          </a:p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for Viral Mutation Hotspot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Hwijun Kwon  |  Advisor: Prof. Inuk Jung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Dept. of Computer Science, KNU  | 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Table of Contents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143000"/>
            <a:ext cx="502920" cy="5029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1556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49047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Prior work, biology background, problem definition    (S3 – S9)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011680"/>
            <a:ext cx="502920" cy="5029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98424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MutBench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5915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Pipeline, scoring/detection, 3-layer ground truth, MCC    (S10 – S15)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288036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5292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Stage 1: 4-Pathogen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2783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comparison, sensitivity, synthetic vs real gap    (S16 – S19)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3749040"/>
            <a:ext cx="50292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2160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Stage 2: 9-Pathogen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09651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ANOVA, per-pathogen best, Friedman, LOPO, ESM-2    (S20 – S25)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4617720"/>
            <a:ext cx="50292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9028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Extensions &amp; PAHD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96519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PAHD algorithm, phylogenetic correction, baselines    (S26 – S28)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5486400"/>
            <a:ext cx="502920" cy="5029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58968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700" b="1">
                <a:solidFill>
                  <a:srgbClr val="1B2A4A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33872"/>
            <a:ext cx="7315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Contributions, discussion, limitations, future work    (S29 – S33)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Prior Work: MOSD &amp; MutClust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91440" cy="4937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0D7377"/>
                </a:solidFill>
                <a:latin typeface="Calibri"/>
              </a:defRPr>
            </a:pPr>
            <a:r>
              <a:t>Paper 1  |  BMC Genomics 2025 (SCIE)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MOSD: Multi-Omics Subtyping with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Benchmarked 11 multi-omics integration methods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across 6 evaluation metrics for cancer subtyping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Key finding: No single method dominates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across all cancer datasets</a:t>
            </a:r>
          </a:p>
        </p:txBody>
      </p:sp>
      <p:pic>
        <p:nvPicPr>
          <p:cNvPr id="13" name="Picture 12" descr="hotspot_scor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438912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097280"/>
            <a:ext cx="91440" cy="49377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1887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C62828"/>
                </a:solidFill>
                <a:latin typeface="Calibri"/>
              </a:defRPr>
            </a:pPr>
            <a:r>
              <a:t>Paper 2  |  BioData Mining 2025 (SCIE)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55448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MutClust: Mutation Clustering for viral evolution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8463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H-score based mutation hotspot detection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with network propagation &amp; bootstrap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Limitation: H-score founder bias (rho = -0.876)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Single-pathogen evaluation is insufficient</a:t>
            </a:r>
          </a:p>
        </p:txBody>
      </p:sp>
      <p:pic>
        <p:nvPicPr>
          <p:cNvPr id="19" name="Picture 18" descr="method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200400"/>
            <a:ext cx="43891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The Central Dogma: DNA → RNA → Protein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005840"/>
            <a:ext cx="6675120" cy="21945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[Central Dogma overview diagram]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DNA → Transcription → mRNA → Translation → Protein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Key Terms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4754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Complete genetic information,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encoded as DNA or RNA.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29000"/>
            <a:ext cx="914400" cy="640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[DNA double helix image]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4754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5196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Gene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2628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Segment encoding a functional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protein or RNA molecule.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251960"/>
            <a:ext cx="914400" cy="640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[Gene segment image]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029200"/>
            <a:ext cx="4754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07492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Nucleotide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4924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Building blocks: A, T/U, G, 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5074920"/>
            <a:ext cx="914400" cy="640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[Nucleotide structure image]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4754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89788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Amino Acid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72200"/>
            <a:ext cx="3474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Protein building blocks.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3 nucleotides = 1 codon = 1 AA.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897880"/>
            <a:ext cx="914400" cy="640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[Amino acid image]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3383280"/>
            <a:ext cx="1920240" cy="5029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720" y="397764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[DNA double helix image]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429000"/>
            <a:ext cx="274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383280"/>
            <a:ext cx="1920240" cy="5029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mRNA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55280" y="397764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[mRNA transcription image]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3429000"/>
            <a:ext cx="2743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383280"/>
            <a:ext cx="1920240" cy="50292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Protein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977640"/>
            <a:ext cx="173736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[Protein folding image]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0" y="5577840"/>
            <a:ext cx="5760720" cy="6400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viruses use RNA (not DNA) as their genome.</a:t>
            </a:r>
          </a:p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Higher mutation rate due to error-prone RNA polymerase.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Mutations &amp; Their Effects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23160" y="1005840"/>
            <a:ext cx="7315200" cy="3657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[Mutation types diagram: substitution, insertion, deletion with DNA sequence examples]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73152" cy="10058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7377"/>
                </a:solidFill>
                <a:latin typeface="Calibri"/>
              </a:defRPr>
            </a:pPr>
            <a:r>
              <a:t>Substitution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8132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One nucleotide replaced by another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73152" cy="10058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7744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Insertion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Extra nucleotide(s) added, shifts reading frame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73152" cy="1005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66160"/>
            <a:ext cx="16459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Deletion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58768"/>
            <a:ext cx="16459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Nucleotide(s) removed, disrupts 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4632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Effects on Protein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257800"/>
            <a:ext cx="54864" cy="7315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Silent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No AA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5257800"/>
            <a:ext cx="54864" cy="7315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565C0"/>
                </a:solidFill>
                <a:latin typeface="Calibri"/>
              </a:defRPr>
            </a:pPr>
            <a:r>
              <a:t>Missense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Different AA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0" y="5257800"/>
            <a:ext cx="24688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5257800"/>
            <a:ext cx="54864" cy="7315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5303520"/>
            <a:ext cx="2103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C62828"/>
                </a:solidFill>
                <a:latin typeface="Calibri"/>
              </a:defRPr>
            </a:pPr>
            <a:r>
              <a:t>Nonsense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605272"/>
            <a:ext cx="2103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Premature stop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846320"/>
            <a:ext cx="3566160" cy="11430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When mutations cluster at specific</a:t>
            </a:r>
          </a:p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positions across many lineages,</a:t>
            </a:r>
          </a:p>
          <a:p>
            <a:pPr algn="ctr">
              <a:defRPr sz="1100" b="1">
                <a:solidFill>
                  <a:srgbClr val="2E7D32"/>
                </a:solidFill>
                <a:latin typeface="Calibri"/>
              </a:defRPr>
            </a:pPr>
            <a:r>
              <a:t>they are called Mutation Hotspots.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Viral Evolution &amp; Natural Selection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56616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Positive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increase viral fitness spread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through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Immune evasion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Increased transmissibility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Drug resistance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[Positive selection diagram]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097280"/>
            <a:ext cx="3566160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Purifying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Mutations that damage essential functions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are removed from the population.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Disruption of replication machinery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Loss of structural integrity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Impaired host entry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[Purifying selection diagram]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097280"/>
            <a:ext cx="35661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097280"/>
            <a:ext cx="3566160" cy="5029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115568"/>
            <a:ext cx="3566160" cy="46634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Convergent Evolution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737360"/>
            <a:ext cx="32004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The same mutation arises independently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 different viral lineages.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Examples: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N501Y in multiple SARS-CoV-2 variants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E484K across Alpha, Beta, Gamma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  Strong signal of positive selection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206240"/>
            <a:ext cx="3200400" cy="1691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[Convergent evolution diagram]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Overview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2011680" cy="13716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No benchmark for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hotspot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188720"/>
            <a:ext cx="2011680" cy="13716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MutBench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3-Layer GT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9 Scoring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39 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2801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MutBench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188720"/>
            <a:ext cx="2011680" cy="13716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Stage 1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SARS-CoV-2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depth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2801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0" y="1188720"/>
            <a:ext cx="2011680" cy="137160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Stage 2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9 pathogens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2,544 evaluations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12801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1554480"/>
            <a:ext cx="365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33333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1188720"/>
            <a:ext cx="2011680" cy="13716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Finding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No universal best</a:t>
            </a:r>
          </a:p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ω² = 0.285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12801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Finding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2834640"/>
            <a:ext cx="8503920" cy="36576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3560" y="2743200"/>
            <a:ext cx="914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3108960"/>
            <a:ext cx="5760720" cy="10972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PAHD: Pathogen-Adaptive Hotspot Detection</a:t>
            </a:r>
          </a:p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Adaptive method selection based on pathogen profile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0D7377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RNA Pathogens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6624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06624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488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2E7D32"/>
                </a:solidFill>
                <a:latin typeface="Calibri"/>
              </a:defRPr>
            </a:pPr>
            <a:r>
              <a:t>351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Combos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88352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88352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6A1B9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88352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GT Layers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9216" y="4572000"/>
            <a:ext cx="21488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9216" y="4709160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>
                <a:solidFill>
                  <a:srgbClr val="C62828"/>
                </a:solidFill>
                <a:latin typeface="Calibri"/>
              </a:defRPr>
            </a:pPr>
            <a:r>
              <a:t>0.285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9216" y="5394960"/>
            <a:ext cx="2148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Interaction ω²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What are Mutation Hotspots?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0972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Definition:  Genomic positions where mutations accumulate at significantly</a:t>
            </a:r>
          </a:p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higher frequencies than expected by chance, indicating selective pressure.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27432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Hotspot Visualization on Spike Protein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e.g., N501Y, E484K, D614G positions highlighted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46888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5146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do they occur?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8892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Positive selection drives beneficial mutations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(e.g., immune escape at receptor binding sites).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Some regions tolerate mutations better than others.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342900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47472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Why are they important?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4904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Track viral evolution in real-time.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Guide vaccine &amp; drug target design.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Predict emerging variants of concern.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389120"/>
            <a:ext cx="53949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43484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Key 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709160"/>
            <a:ext cx="50292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N501Y: Enhanced ACE2 binding affinity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E484K: Immune escape from antibodies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D614G: Founder effect vs true selection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40680"/>
            <a:ext cx="11064240" cy="64008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62828"/>
                </a:solidFill>
                <a:latin typeface="Calibri"/>
              </a:defRPr>
            </a:pPr>
            <a:r>
              <a:t>Current gap: No systematic way to compare hotspot detection methods across pathogens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Problem Definition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28016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Standardized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3736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Existing methods evaluated on different datasets with different metrics, making fair comparison impossible.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123444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Incompatible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8892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06324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97180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Single-Pathogen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2900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Methods tested on only 1-2 pathogens cannot generalize. Pathogen-specific characteristics dramatically affect detection performance.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92608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 vs 9 pathogens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80560"/>
            <a:ext cx="89611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548640" cy="4572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63440"/>
            <a:ext cx="7772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No Universal Best Method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20640"/>
            <a:ext cx="7772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Our prior work (MOSD, MutClust) demonstrated that no single approach dominates across all settings, demanding systematic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4617720"/>
            <a:ext cx="1828800" cy="1188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Ranking reversal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 RNA Pathogens in MutBench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20116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Pathogen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106424"/>
            <a:ext cx="128016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10642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Target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106424"/>
            <a:ext cx="55778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Key Feature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54480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55448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SARS-CoV-2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155448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155448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55448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COVID-19 pandemic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2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8483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Influenza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08483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~13.5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208483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Hemagglutinin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08483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Seasonal epidemics, antigenic shift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15184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261518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~10 kb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261518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Env/Gag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61518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 mutation rate, chronic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45536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314553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Dengue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314553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~11 kb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9040" y="314553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 protein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14553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4 serotypes, tropical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75888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75888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MERS-CoV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3675888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~30 kb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3675888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Spike protein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675888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Camel-origin, high fatality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06240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206240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RSV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80" y="4206240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~15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4206240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 protein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206240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Infant respiratory disease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36592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36592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Norovirus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4736592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~7.5 kb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40" y="4736592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VP1 capsid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736592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Gastroenteritis, rapid evolution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266944"/>
            <a:ext cx="11247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266944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HCV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68880" y="5266944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~9.6 kb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49040" y="5266944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E1/E2 proteins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5266944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Chronic hepatitis, high diversity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797296"/>
            <a:ext cx="11247120" cy="53035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5797296"/>
            <a:ext cx="201168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1">
                <a:solidFill>
                  <a:srgbClr val="1B2A4A"/>
                </a:solidFill>
                <a:latin typeface="Calibri"/>
              </a:defRPr>
            </a:pPr>
            <a:r>
              <a:t>Ebola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5797296"/>
            <a:ext cx="128016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~19 kb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49040" y="5797296"/>
            <a:ext cx="23774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Glycoprotein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797296"/>
            <a:ext cx="5577840" cy="5303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Hemorrhagic fever, outbreaks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0">
                <a:solidFill>
                  <a:srgbClr val="888888"/>
                </a:solidFill>
                <a:latin typeface="Calibri"/>
              </a:defRPr>
            </a:pPr>
            <a:r>
              <a:t>* All RNA viruses with publicly available sequence data from NCBI/GISAID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MutBench Pipeline Overview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Sequences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1097280"/>
            <a:ext cx="1600200" cy="960120"/>
          </a:xfrm>
          <a:prstGeom prst="round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MSA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Scoring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(9 methods)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097280"/>
            <a:ext cx="1600200" cy="9601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Detection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(39 methods)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097280"/>
            <a:ext cx="1600200" cy="960120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Ground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325880"/>
            <a:ext cx="3200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888888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097280"/>
            <a:ext cx="1600200" cy="96012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Evaluation</a:t>
            </a:r>
          </a:p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(MCC)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377440"/>
            <a:ext cx="5486400" cy="411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9 Scoring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Shannon Entropy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Position variability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Jensen-Shannon Div.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Distribution divergence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Mutation 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1 - dominant freq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Wavelet (CWT)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Multi-scale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Sliding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Smoothed averages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Phylo-aware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Branch-weighted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dN/dS Ratio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Selection 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Kabat Variability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AA diversity index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0D7377"/>
                </a:solidFill>
                <a:latin typeface="Calibri"/>
              </a:defRPr>
            </a:pPr>
            <a:r>
              <a:t>  Property Entropy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Physicochemical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2377440"/>
            <a:ext cx="54864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2386584"/>
            <a:ext cx="5486400" cy="393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Detection Families (39 methods)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Z-score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Percentile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288036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IQR Outlier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310896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DBSCAN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6 variants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HDBSCAN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0" y="338328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Gaussian Mix.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0" y="361188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Kernel Density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4 variants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Isolation Forest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388620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Wavelet Peaks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0" y="411480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3 variants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LOF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179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Threshold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0" y="4389120"/>
            <a:ext cx="1737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  Bayesian CP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5520" y="4617720"/>
            <a:ext cx="1737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888888"/>
                </a:solidFill>
                <a:latin typeface="Calibri"/>
              </a:defRPr>
            </a:pPr>
            <a:r>
              <a:t>    2 variants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0" y="5029200"/>
            <a:ext cx="5760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1B2A4A"/>
                </a:solidFill>
                <a:latin typeface="Calibri"/>
              </a:defRPr>
            </a:pPr>
            <a:r>
              <a:t>Total: 9 x 39 = 351 unique scoring-detection combinations per pathogen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 Methods: 9 Approaches to Quantify Variability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Shannon Entropy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H(x) = -Sum p(i) log2 p(i)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Measures nucleotide uncertainty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at each alignment position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0624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Jensen-Shannon Div.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JSD(P||Q) = H(M) - [H(P)+H(Q)]/2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Divergence from background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05156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05156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Mutation Frequency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f(x) = 1 - max(p(i))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96596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Simple: 1 minus dominant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nucleotide frequency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Wavelet (CWT)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CWT with Ricker wavelet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Multi-scale frequency analysis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captures local + global patterns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Sliding Window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Mean score in window of size 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Smoothed signal reduces noise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parameter: window size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78892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278892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88036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Phylo-aware 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324612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Branch-weighted mutations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70332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Weights by phylogenetic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independence of observations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dN/dS Ratio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omega = dN/dS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Ratio of non-synonymous to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synonymous substitution rates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624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0624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Kabat Variability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K = N_aa / (n * f_max)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Wu-Kabat variability index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for amino acid diversity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4526280"/>
            <a:ext cx="36118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46720" y="4526280"/>
            <a:ext cx="73152" cy="155448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4617720"/>
            <a:ext cx="32918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Property Entropy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983480"/>
            <a:ext cx="3200400" cy="365760"/>
          </a:xfrm>
          <a:prstGeom prst="rect">
            <a:avLst/>
          </a:prstGeom>
          <a:solidFill>
            <a:srgbClr val="F0F4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0">
                <a:solidFill>
                  <a:srgbClr val="1B2A4A"/>
                </a:solidFill>
                <a:latin typeface="Calibri"/>
              </a:defRPr>
            </a:pPr>
            <a:r>
              <a:t>H based on AA properties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5440680"/>
            <a:ext cx="32004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Groups amino acids by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physicochemical properties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3-Layer Ground Truth Design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13</a:t>
            </a:r>
          </a:p>
        </p:txBody>
      </p:sp>
      <p:pic>
        <p:nvPicPr>
          <p:cNvPr id="8" name="Picture 7" descr="multi_ground_truth_fig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68580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09728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18872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1: Adaptive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002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Entropy-based threshold auto-adjusted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per pathogen. Captures high-variability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positions relative to background.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92608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2: Constrained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33756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Intersection of top-K positions across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multiple scoring methods. Reduces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single-method bias.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572000"/>
            <a:ext cx="4114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663440"/>
            <a:ext cx="3749039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7377"/>
                </a:solidFill>
                <a:latin typeface="Calibri"/>
              </a:defRPr>
            </a:pPr>
            <a:r>
              <a:t>Layer 3: DMS-based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7492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Deep mutational scanning data from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experimental fitness measurements.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Gold-standard biological validation.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Evaluation Metric: Matthews Correlation Coefficient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669280" cy="12801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43000"/>
            <a:ext cx="5303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6A1B9A"/>
                </a:solidFill>
                <a:latin typeface="Calibri"/>
              </a:defRPr>
            </a:pPr>
            <a:r>
              <a:t>MCC Formula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B2A4A"/>
                </a:solidFill>
                <a:latin typeface="Calibri"/>
              </a:defRPr>
            </a:pPr>
            <a:r>
              <a:t>MCC = (TP*TN - FP*FN) / sqrt((TP+FP)(TP+FN)(TN+FP)(TN+FN))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20240"/>
            <a:ext cx="5303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Range: [-1, +1]   |   0 = random   |   +1 = perfect agreement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Confusion Matrix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1188720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017520"/>
            <a:ext cx="1188720" cy="11887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1188720" cy="11887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4206240"/>
            <a:ext cx="1188720" cy="118872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51760"/>
            <a:ext cx="30175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1B2A4A"/>
                </a:solidFill>
                <a:latin typeface="Calibri"/>
              </a:defRPr>
            </a:pPr>
            <a:r>
              <a:t>Why MCC over F1?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306324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313639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Balanced even with severe class imbalance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(hotspots are rare: ~5% of positions)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388620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395935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Uses all 4 confusion matrix quadrants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(F1 ignores true negatives)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709160"/>
            <a:ext cx="3017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782312"/>
            <a:ext cx="274320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Random baseline: mean = 0.001, std = 0.003</a:t>
            </a:r>
          </a:p>
          <a:p>
            <a:pPr algn="l">
              <a:defRPr sz="900" b="0">
                <a:solidFill>
                  <a:srgbClr val="333333"/>
                </a:solidFill>
                <a:latin typeface="Calibri"/>
              </a:defRPr>
            </a:pPr>
            <a:r>
              <a:t>(verified empirically)</a:t>
            </a:r>
          </a:p>
        </p:txBody>
      </p:sp>
      <p:pic>
        <p:nvPicPr>
          <p:cNvPr id="24" name="Picture 23" descr="mcc_vs_f1_fai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097280"/>
            <a:ext cx="512064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Two-Stage Experimental Design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384048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1: Controlled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4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SARS-CoV-2, Influenza, HIV, Dengue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351 scoring-detection combinations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methods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Method comparison &amp; ranking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Parameter sensitivity analysis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Synthetic vs real data gap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Initial ranking reversal observation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97280"/>
            <a:ext cx="5303520" cy="38404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Stage 2: Large-Scale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28800"/>
            <a:ext cx="4937760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9 pathogens (+5 more)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+ MERS, RSV, Norovirus, HCV, Ebola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2,544 evaluations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9 scoring x 39 detection x 9 pathogens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Focus areas: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Two-way ANOVA (interaction effects)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Per-pathogen best combination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Friedman test + LOPO CV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PAHD proof of concept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5166360"/>
            <a:ext cx="7589520" cy="91440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Stage 1 (discovery)  &gt;&gt;&gt;  Stage 2 (validation at scale)  &gt;&gt;&gt;  PAHD (algorithm)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1: Method Comparison Results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16</a:t>
            </a:r>
          </a:p>
        </p:txBody>
      </p:sp>
      <p:pic>
        <p:nvPicPr>
          <p:cNvPr id="8" name="Picture 7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498079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9728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4592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373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Wavelet scoring achieves highest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mean MCC across 4 pathogens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74320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274320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83464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HDBSCAN-based detection outperforms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traditional threshold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84048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84048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93192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Large variance across pathogens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suggests generalization limits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4937760"/>
            <a:ext cx="35661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4937760"/>
            <a:ext cx="54864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502920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Top combination differs between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SARS-CoV-2 and HIV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Parameter Sensitivity Analysis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17</a:t>
            </a:r>
          </a:p>
        </p:txBody>
      </p:sp>
      <p:pic>
        <p:nvPicPr>
          <p:cNvPr id="8" name="Picture 7" descr="sensitivity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097280"/>
            <a:ext cx="4206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Sensitivity Findings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00200"/>
            <a:ext cx="420624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0020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Parameter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60020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Sensitivity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60020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Note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210312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10312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Window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10312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10312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Optimal varies by pathogen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60604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260604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Epsilon (DBSCAN)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0604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260604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Requires per-pathogen tuning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3108960"/>
            <a:ext cx="42062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310896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Min-cluster (HDBSCAN)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10896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10896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Robust across wide range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61188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611880"/>
            <a:ext cx="164592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Threshold percentile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611880"/>
            <a:ext cx="109728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Moderate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611880"/>
            <a:ext cx="1463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0">
                <a:solidFill>
                  <a:srgbClr val="333333"/>
                </a:solidFill>
                <a:latin typeface="Calibri"/>
              </a:defRPr>
            </a:pPr>
            <a:r>
              <a:t>Pathogen-dependent optima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4389120"/>
            <a:ext cx="4206240" cy="13716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HDBSCAN is the most robust detection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method across parameter variations.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This supports its use as a default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choice when pathogen characteristics</a:t>
            </a:r>
          </a:p>
          <a:p>
            <a:pPr algn="l">
              <a:defRPr sz="1000" b="0">
                <a:solidFill>
                  <a:srgbClr val="333333"/>
                </a:solidFill>
                <a:latin typeface="Calibri"/>
              </a:defRPr>
            </a:pPr>
            <a:r>
              <a:t>are unknown.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Synthetic vs Real Data Gap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0292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97864"/>
            <a:ext cx="5029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Synthetic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88720"/>
            <a:ext cx="566928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197864"/>
            <a:ext cx="56692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Real Pathogen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2880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Mutation Distribution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51760" y="182880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Uniform / Poisson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182880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182880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Highly skewed, founder effects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Selection Pressure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65176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 (neutral)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65176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265176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Complex positive + purifying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Ground Truth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47472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Known by construction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47472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47472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Approximate (DMS / literature)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9768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Phylogenetic Structure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429768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Independent samples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29768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0" y="429768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Strong non-independence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20640"/>
            <a:ext cx="2011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Best Method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51760" y="5120640"/>
            <a:ext cx="292608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333333"/>
                </a:solidFill>
                <a:latin typeface="Calibri"/>
              </a:defRPr>
            </a:pPr>
            <a:r>
              <a:t>Threshold-based wins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5120640"/>
            <a:ext cx="365760" cy="685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000" b="1">
                <a:solidFill>
                  <a:srgbClr val="888888"/>
                </a:solidFill>
                <a:latin typeface="Calibri"/>
              </a:defRPr>
            </a:pPr>
            <a:r>
              <a:t>vs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5120640"/>
            <a:ext cx="5669280" cy="6858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Clustering-based wins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371600" y="6035040"/>
            <a:ext cx="9418320" cy="548640"/>
          </a:xfrm>
          <a:prstGeom prst="roundRect">
            <a:avLst/>
          </a:prstGeom>
          <a:solidFill>
            <a:srgbClr val="FFEBEE"/>
          </a:solidFill>
          <a:ln w="127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62828"/>
                </a:solidFill>
                <a:latin typeface="Calibri"/>
              </a:defRPr>
            </a:pPr>
            <a:r>
              <a:t>Ranking reversals between synthetic and real data demonstrate the need for real-pathogen benchmarking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Cross-Pathogen Ranking Reversal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19</a:t>
            </a:r>
          </a:p>
        </p:txBody>
      </p:sp>
      <p:pic>
        <p:nvPicPr>
          <p:cNvPr id="8" name="Picture 7" descr="detection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188720"/>
            <a:ext cx="3749039" cy="219456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749039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749039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800" b="0">
                <a:solidFill>
                  <a:srgbClr val="BBDEFB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0"/>
            <a:ext cx="3749039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optimal scoring + detection pair.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single method can be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"recommended" universally.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This motivates the need for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selection (PAHD).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Stage 2: Scaling to 9 Pathogens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Pathogens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SARS-CoV-2, Influenza, HIV,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Dengue, MERS, RSV,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Norovirus, HCV, Ebola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2,544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scoring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39 detection methods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x 9 pathogens (multilayer GT)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371600"/>
            <a:ext cx="356616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5661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>
                <a:solidFill>
                  <a:srgbClr val="E6510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743200"/>
            <a:ext cx="3566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A4A"/>
                </a:solidFill>
                <a:latin typeface="Calibri"/>
              </a:defRPr>
            </a:pPr>
            <a:r>
              <a:t>Statistical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83280"/>
            <a:ext cx="3017520" cy="2194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Two-way ANOVA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Permutation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Friedman test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LOPO cross-validation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Two-Way ANOVA: Variance Decomposition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21</a:t>
            </a:r>
          </a:p>
        </p:txBody>
      </p:sp>
      <p:pic>
        <p:nvPicPr>
          <p:cNvPr id="8" name="Picture 7" descr="variance_de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58368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23760" y="109728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09728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18872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55448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28016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Largest effect: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choice of detection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method matters most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283464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283464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292608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Interaction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9184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28.5%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1752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x Pathogen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interaction is strong: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 universal best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572000"/>
            <a:ext cx="4389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457200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466344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5029200"/>
            <a:ext cx="1371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E65100"/>
                </a:solidFill>
                <a:latin typeface="Calibri"/>
              </a:defRPr>
            </a:pPr>
            <a:r>
              <a:t>~8.3%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4754880"/>
            <a:ext cx="237744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method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contributes less than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detection or interaction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Per-Pathogen Best Combinations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22</a:t>
            </a:r>
          </a:p>
        </p:txBody>
      </p:sp>
      <p:pic>
        <p:nvPicPr>
          <p:cNvPr id="8" name="Picture 7" descr="cross_pathogen_top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772400" cy="5120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21040" y="1188720"/>
            <a:ext cx="3291840" cy="2011680"/>
          </a:xfrm>
          <a:prstGeom prst="roundRect">
            <a:avLst/>
          </a:prstGeom>
          <a:solidFill>
            <a:srgbClr val="E65100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325880"/>
            <a:ext cx="329184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194560"/>
            <a:ext cx="32918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unique best</a:t>
            </a:r>
          </a:p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291840" cy="2560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High entropy-function divergence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(Norovirus r=0.39 vs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SARS-CoV-2 r=0.03)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H-score founder bias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(rho = -0.876)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E-R correlation: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rho=0.517, p=0.154 (n.s.)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Friedman Test &amp; Leave-One-Pathogen-Out CV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Friedman Rank Test (Top-20)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Question: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Are top-20 method rankings consistent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across pathogens?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chi-squared = 42.44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p-value = 0.0015 (significant at p &lt; 0.01)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Friedman Rank Distribution Chart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LOPO Cross-Validation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Protocol: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Train on 8 pathogens, test on held-out 1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Result: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0 / 9 correct predictions</a:t>
            </a:r>
          </a:p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  Simple majority voting fails completely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749039"/>
            <a:ext cx="493776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LOPO Prediction Results Table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ESM-2 Protein Language Model Validation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289304"/>
            <a:ext cx="27432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Without ESM-2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289304"/>
            <a:ext cx="237744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With ESM-2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289304"/>
            <a:ext cx="246888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73736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73736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Mean MCC (top-20)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73736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233172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233172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Median MCC (top-20)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33172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33172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292608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92608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Best single combo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92608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0.393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8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+0.003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520440"/>
            <a:ext cx="9966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352044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Coverage (&gt;0.3 MCC)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12/20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352044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13/20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52044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4114800"/>
            <a:ext cx="996696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4114800"/>
            <a:ext cx="27432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Rank correlation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--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114800"/>
            <a:ext cx="237744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rho = 0.94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114800"/>
            <a:ext cx="246888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200" b="0">
                <a:solidFill>
                  <a:srgbClr val="2E7D32"/>
                </a:solidFill>
                <a:latin typeface="Calibri"/>
              </a:defRPr>
            </a:pPr>
            <a:r>
              <a:t>High agreement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4754880"/>
            <a:ext cx="996696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ESM-2 embeddings provide marginal improvement, confirming that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sequence-based scoring already captures most of the relevant signal.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benchmark rankings remain stable (rho = 0.94).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0" y="5760720"/>
            <a:ext cx="57607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[Placeholder] ESM-2 Architecture Concept Diagram (To be inserted)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FINDING: No Universal Best Method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097280"/>
            <a:ext cx="9418320" cy="109728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single scoring + detection combination works best for all pathogens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73152" cy="17830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65100"/>
                </a:solidFill>
                <a:latin typeface="Calibri"/>
              </a:defRPr>
            </a:pPr>
            <a:r>
              <a:t>ANOVA Interaction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Scoring x Pathogen interaction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explains 28.5% of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6888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468880"/>
            <a:ext cx="73152" cy="1783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56032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2E7D32"/>
                </a:solidFill>
                <a:latin typeface="Calibri"/>
              </a:defRPr>
            </a:pPr>
            <a:r>
              <a:t>Unique Best Combos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9 /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52044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Every pathogen has a different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optimal method pair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0560"/>
            <a:ext cx="73152" cy="17830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6A1B9A"/>
                </a:solidFill>
                <a:latin typeface="Calibri"/>
              </a:defRPr>
            </a:pPr>
            <a:r>
              <a:t>Friedman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p = 0.0015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Rankings differ significantly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across pathogens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480560"/>
            <a:ext cx="530352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4480560"/>
            <a:ext cx="73152" cy="17830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72000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C62828"/>
                </a:solidFill>
                <a:latin typeface="Calibri"/>
              </a:defRPr>
            </a:pPr>
            <a:r>
              <a:t>LOPO CV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937760"/>
            <a:ext cx="4846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B2A4A"/>
                </a:solidFill>
                <a:latin typeface="Calibri"/>
              </a:defRPr>
            </a:pPr>
            <a:r>
              <a:t>0 / 9 correct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32120"/>
            <a:ext cx="48463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Majority voting fails completely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for unseen pathogens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PAHD: Pathogen-Adaptive Hotspot Detection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1: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Extract pathogen profile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(entropy distribution, genome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length, mutation rate, diversity)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2: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profile against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knowledge base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(similarity-based retrieval)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169164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1">
                <a:solidFill>
                  <a:srgbClr val="6A1B9A"/>
                </a:solidFill>
                <a:latin typeface="Calibri"/>
              </a:defRPr>
            </a:pPr>
            <a: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097280"/>
            <a:ext cx="356616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097280"/>
            <a:ext cx="3566160" cy="4572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143000"/>
            <a:ext cx="3566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3: Select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645920"/>
            <a:ext cx="3200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Recommend optimal scoring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 combination based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on matched pathogen results</a:t>
            </a:r>
          </a:p>
        </p:txBody>
      </p:sp>
      <p:pic>
        <p:nvPicPr>
          <p:cNvPr id="22" name="Picture 21" descr="new_methodology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474720"/>
            <a:ext cx="5943600" cy="2560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6A1B9A"/>
                </a:solidFill>
                <a:latin typeface="Calibri"/>
              </a:defRPr>
            </a:pPr>
            <a:r>
              <a:t>MCC Baseline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3840480"/>
            <a:ext cx="4011930" cy="228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24410" y="3840480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2E7D32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70248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4270248"/>
            <a:ext cx="2551176" cy="228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63656" y="4270248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1565C0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4700016"/>
            <a:ext cx="1985391" cy="228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97871" y="4700016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E65100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129784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5129784"/>
            <a:ext cx="1419606" cy="228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2086" y="5129784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C62828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559552"/>
            <a:ext cx="1645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5559552"/>
            <a:ext cx="10287" cy="228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22767" y="5559552"/>
            <a:ext cx="731520" cy="228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9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Phylogenetic Correction &amp; Region Overlap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5303520" cy="548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Phylogenetic Non-Independence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Problem: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Closely related sequences share mutations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by descent, not independent selection.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e.g., D614G spread by founder effect.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Approach: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TreeTime phylogenetic reconstruction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Branch-weighted mutation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4754880" cy="19202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[Image Placeholder]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Phylogenetic Tree Diagram</a:t>
            </a:r>
          </a:p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(To be inserted)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5303520" cy="548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115568"/>
            <a:ext cx="4937760" cy="51206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Region-Level Overlap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828800"/>
            <a:ext cx="493776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Motivation: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Position-level MCC may be too strict.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Methods may detect the right region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but miss exact positions.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Results: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MCC improves from 0.289 to 0.712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  with region-level evaluation.</a:t>
            </a:r>
          </a:p>
        </p:txBody>
      </p:sp>
      <p:pic>
        <p:nvPicPr>
          <p:cNvPr id="17" name="Picture 16" descr="lopo_region_pr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3840480"/>
            <a:ext cx="47548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Scoring-Detection Heatmap &amp; Baseline Comparison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28</a:t>
            </a:r>
          </a:p>
        </p:txBody>
      </p:sp>
      <p:pic>
        <p:nvPicPr>
          <p:cNvPr id="8" name="Picture 7" descr="scoring_detec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7132320" cy="5120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097280"/>
            <a:ext cx="38404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MCC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6459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2E7D32"/>
                </a:solidFill>
                <a:latin typeface="Calibri"/>
              </a:defRPr>
            </a:pPr>
            <a:r>
              <a:t>MutBench Best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1993392"/>
            <a:ext cx="356616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19933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2E7D32"/>
                </a:solidFill>
                <a:latin typeface="Calibri"/>
              </a:defRPr>
            </a:pPr>
            <a:r>
              <a:t>0.390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5603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1565C0"/>
                </a:solidFill>
                <a:latin typeface="Calibri"/>
              </a:defRPr>
            </a:pPr>
            <a:r>
              <a:t>FreqThresh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07792"/>
            <a:ext cx="2267712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31552" y="29077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1565C0"/>
                </a:solidFill>
                <a:latin typeface="Calibri"/>
              </a:defRPr>
            </a:pPr>
            <a:r>
              <a:t>0.248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747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E65100"/>
                </a:solidFill>
                <a:latin typeface="Calibri"/>
              </a:defRPr>
            </a:pPr>
            <a:r>
              <a:t>SWAN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3822192"/>
            <a:ext cx="1764792" cy="320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28632" y="38221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E65100"/>
                </a:solidFill>
                <a:latin typeface="Calibri"/>
              </a:defRPr>
            </a:pPr>
            <a:r>
              <a:t>0.193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3891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C62828"/>
                </a:solidFill>
                <a:latin typeface="Calibri"/>
              </a:defRPr>
            </a:pPr>
            <a:r>
              <a:t>MutClust-Orig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4736592"/>
            <a:ext cx="1261872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2" y="47365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C62828"/>
                </a:solidFill>
                <a:latin typeface="Calibri"/>
              </a:defRPr>
            </a:pPr>
            <a:r>
              <a:t>0.138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530352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888888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5650992"/>
            <a:ext cx="9144" cy="3200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2984" y="5650992"/>
            <a:ext cx="9144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100" b="1">
                <a:solidFill>
                  <a:srgbClr val="888888"/>
                </a:solidFill>
                <a:latin typeface="Calibri"/>
              </a:defRPr>
            </a:pPr>
            <a:r>
              <a:t>0.001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Research Contributions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21945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C1: MutBench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First systematic benchmark for viral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mutation hotspot detection with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standardized pipeline &amp;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S10-S15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09728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097280"/>
            <a:ext cx="73152" cy="2194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23444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2E7D32"/>
                </a:solidFill>
                <a:latin typeface="Calibri"/>
              </a:defRPr>
            </a:pPr>
            <a:r>
              <a:t>C2: 3-Layer Ground Truth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69164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Adaptive threshold + constrained +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DMS-based ground truth design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reduces single-reference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88036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66160"/>
            <a:ext cx="73152" cy="21945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C3: Cross-Pathogen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9 pathogens, 2,544 evaluations prove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universal best method exists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(interaction omega-sq = 0.285)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S20-S25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566160"/>
            <a:ext cx="53035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3566160"/>
            <a:ext cx="73152" cy="21945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3703320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C4: PAHD Proof of Concept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160520"/>
            <a:ext cx="484632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 Hotspot Detection: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profile-based method selection</a:t>
            </a:r>
          </a:p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outperforms any single approach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49240"/>
            <a:ext cx="48463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888888"/>
                </a:solidFill>
                <a:latin typeface="Calibri"/>
              </a:defRPr>
            </a:pPr>
            <a:r>
              <a:t>See S26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09728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73152" cy="150876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20700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0D7377"/>
                </a:solidFill>
                <a:latin typeface="Calibri"/>
              </a:defRPr>
            </a:pPr>
            <a:r>
              <a:t>Benchmarking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Without standardized evaluation, published methods appear to perform well in isolation but fail under cross-pathogen comparison. MutBench provides the missing infrastructure for fair, reproducible comparison of hotspot detection methods.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73152" cy="150876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9864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E65100"/>
                </a:solidFill>
                <a:latin typeface="Calibri"/>
              </a:defRPr>
            </a:pPr>
            <a:r>
              <a:t>Method Selection is Pathogen-Dependent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31927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The strong interaction effect (omega-sq = 0.285) means that recommending a single method is fundamentally flawed. Pathogen-specific characteristics (genome structure, mutation rate, selection landscape) determine which approach works best.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80560"/>
            <a:ext cx="1106424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73152" cy="150876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90288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1">
                <a:solidFill>
                  <a:srgbClr val="6A1B9A"/>
                </a:solidFill>
                <a:latin typeface="Calibri"/>
              </a:defRPr>
            </a:pPr>
            <a:r>
              <a:t>From Benchmark to Algorithm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10912"/>
            <a:ext cx="1051560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MutBench is not just a benchmark but a knowledge base. The systematic evaluation across 9 pathogens enables PAHD: data-driven, profile-based method selection that outperforms any fixed approach.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Ground truth approximation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 perfect gold standard exists)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34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Phylogenetic non-independence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not fully corrected (TreeTime partial)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77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Limited to substitution mutations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(no indels, recombination)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20640"/>
            <a:ext cx="54864" cy="9601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PAHD is proof-of-concept only,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not production-ready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097280"/>
            <a:ext cx="5486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106424"/>
            <a:ext cx="5486400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1691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1691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1783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 PAHD implementation with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learned pathogen profiles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34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2834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926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Integrate phylogenetic correction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(TreeTime branch weighting)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77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977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069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Extend to indels, recombination,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and structural variants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5120640"/>
            <a:ext cx="54864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5120640"/>
            <a:ext cx="54864" cy="96012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212080"/>
            <a:ext cx="51206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Real-time surveillance integration</a:t>
            </a:r>
          </a:p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for emerging pathogens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96012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Key Takeaway</a:t>
            </a:r>
          </a:p>
        </p:txBody>
      </p:sp>
      <p:pic>
        <p:nvPicPr>
          <p:cNvPr id="4" name="Picture 3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3112" y="137160"/>
            <a:ext cx="502920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12801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—— 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188720"/>
            <a:ext cx="9966960" cy="16459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MutBench transforms viral hotspot detection from</a:t>
            </a:r>
          </a:p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ad-hoc single-virus evaluation to systematic cross-pathogen benchmarking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73152" cy="2834640"/>
          </a:xfrm>
          <a:prstGeom prst="rect">
            <a:avLst/>
          </a:prstGeom>
          <a:solidFill>
            <a:srgbClr val="0D7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0D7377"/>
                </a:solidFill>
                <a:latin typeface="Calibri"/>
              </a:defRPr>
            </a:pPr>
            <a:r>
              <a:t>9 Pathogens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Largest cross-pathogen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benchmark for hotspot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3200400"/>
            <a:ext cx="73152" cy="28346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E65100"/>
                </a:solidFill>
                <a:latin typeface="Calibri"/>
              </a:defRPr>
            </a:pPr>
            <a:r>
              <a:t>2,544 Evaluations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Comprehensive coverage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of scoring x detection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combinations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200400"/>
            <a:ext cx="73152" cy="28346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6A1B9A"/>
                </a:solidFill>
                <a:latin typeface="Calibri"/>
              </a:defRPr>
            </a:pPr>
            <a:r>
              <a:t>omega-sq = 0.285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Strong interaction proves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pathogen-adaptive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3200400"/>
            <a:ext cx="26517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3200400"/>
            <a:ext cx="73152" cy="28346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3429000"/>
            <a:ext cx="26517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>
                <a:solidFill>
                  <a:srgbClr val="2E7D32"/>
                </a:solidFill>
                <a:latin typeface="Calibri"/>
              </a:defRPr>
            </a:pPr>
            <a:r>
              <a:t>PAHD Concept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4023360"/>
            <a:ext cx="2286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From benchmark insight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to actionable algorithm</a:t>
            </a:r>
          </a:p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for method selection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nu_emblem_offici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594360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09728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109728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BBDEFB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840480"/>
            <a:ext cx="6675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1">
                <a:solidFill>
                  <a:srgbClr val="1B2A4A"/>
                </a:solidFill>
                <a:latin typeface="Calibri"/>
              </a:defRPr>
            </a:pPr>
            <a:r>
              <a:t>Hwijun Kwon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2976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Dept. of Computer Science, Kyungpook National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47548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333333"/>
                </a:solidFill>
                <a:latin typeface="Calibri"/>
              </a:defRPr>
            </a:pPr>
            <a:r>
              <a:t>Advisor: Prof. Inuk Jung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212080"/>
            <a:ext cx="6675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5669280"/>
            <a:ext cx="3017520" cy="5486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[QR Code Placeholder] GitHub Repository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28816"/>
            <a:ext cx="914400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Kyungpook National University  |  Dept. of Computer Science  |  Hwijun Kwon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