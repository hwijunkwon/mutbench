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2743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Graduate School, Kyungpook 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PhD Dissertation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MutBench: Systematic Benchmarking Framework</a:t>
            </a:r>
          </a:p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for Viral Mutation Hotspot Detection</a:t>
            </a:r>
          </a:p>
        </p:txBody>
      </p:sp>
      <p:pic>
        <p:nvPicPr>
          <p:cNvPr id="7" name="Picture 6" descr="knu_emblem_offici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30175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Hwijun Kwon  |  Advisor: Prof. Inuk Jung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832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Dept. of Computer Science, KNU  |  March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206240"/>
            <a:ext cx="73152" cy="20116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Paper 1  |  BMC Genomics 2025 (SCIE)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48463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MOSD: Multi-Omics Subtyping with Deep learning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Multi-omics integration benchmark for cancer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subtype discovery (11 methods, 6 metrics)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20624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4206240"/>
            <a:ext cx="73152" cy="2011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29768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Paper 2  |  BioData Mining 2025 (SCIE)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663440"/>
            <a:ext cx="48463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MutClust: Mutation Clustering for viral evolution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H-score based mutation hotspot detection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with network propagation &amp; bootstrap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73152" cy="1463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3444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1.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Mutation hotspots, problem definition,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research contributions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73152" cy="14630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23444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D7377"/>
                </a:solidFill>
                <a:latin typeface="Calibri"/>
              </a:defRPr>
            </a:pPr>
            <a:r>
              <a:t>2. MutBench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645920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Pipeline, ground truth design,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evaluation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8892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88920"/>
            <a:ext cx="73152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2608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3. Stage 1: 4-Pathogen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337560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Method comparison, parameter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sensitivity, synthetic vs real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78892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73152" cy="14630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92608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4. Stage 2: 9-Pathogen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337560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ANOVA, per-pathogen best,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Friedman test, LOPO CV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8056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80560"/>
            <a:ext cx="73152" cy="14630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6177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5. Extensions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029200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PAHD concept, phylogenetic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correction, baseline comparison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48056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480560"/>
            <a:ext cx="73152" cy="1463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6177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6. Conclusion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029200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Key takeaways, contributions,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limitations,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Prior Work: MOSD &amp; MutClust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5303520" cy="5029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15568"/>
            <a:ext cx="4937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MOSD (BMC Genomics 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493776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Multi-Omics Subtyping with Deep learning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Benchmarked 11 multi-omics integration methods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across 6 evaluation metrics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Key finding: No single method dominates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across all cancer datasets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Lesson: Method selection depends 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data characteristics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530352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15568"/>
            <a:ext cx="4937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MutClust (BioData Mining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37360"/>
            <a:ext cx="493776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Mutation Clustering for viral evolution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H-score based mutation hotspot detection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with network propagation &amp; bootstrap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Limitation: H-score shows founder bias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(rho = -0.876 with sequence count)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Lesson: Single-pathogen evaluation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is insufficient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846320"/>
            <a:ext cx="758952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Common lesson: systematic benchmarking is essential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What are Mutation Hotspots?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1064240" cy="10972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Definition:  Genomic positions where mutations accumulate at significantly</a:t>
            </a:r>
          </a:p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higher frequencies than expected by chance, indicating selective pressure.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Why do they occur?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10896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Positive selection drives beneficial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mutations (e.g., immune escape).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Some regions tolerate mutations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better than others.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46888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6517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Why are they important?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108960"/>
            <a:ext cx="310896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Track viral evolution in real-time.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Guide vaccine &amp; drug target design.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Predict emerging variants of concern.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246888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8" y="26517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Current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8" y="3108960"/>
            <a:ext cx="310896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standard benchmark exists.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Methods tested on 1-2 viruses only.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ground truth consensus.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Terminology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06424"/>
            <a:ext cx="5303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Genomics Basics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Genome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Complete genetic blueprint of an organism (DNA/RNA sequence)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8892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Mutation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Change in the nucleotide sequence (A, T, G, C/U)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Protein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Functional molecule encoded by genes; amino acid sequence determines 3D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8348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MSA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Multiple Sequence Alignment: aligning multiple sequences to identify conserved/variable regions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097280"/>
            <a:ext cx="530352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106424"/>
            <a:ext cx="5303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Viral Evolution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69164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828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Variant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14884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Virus with distinct mutations (e.g., Alpha, Delta, Omicron)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78892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926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Positive 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24612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Mutations that increase viral fitness (immune evasion, transmissibility)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88620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023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Purifying selection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34340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Mutations removed because they harm essential functions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98348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120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Convergent evolution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44068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Same mutation arising independently in different lineages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Why Hotspot Detection Matters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3474720" cy="5029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44168"/>
            <a:ext cx="34747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Vaccine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017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Hotspots = regions likely to mutate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Vaccines should target conserved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regions or predict variable 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28016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280160"/>
            <a:ext cx="347472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344168"/>
            <a:ext cx="34747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Variant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011680"/>
            <a:ext cx="3017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Early detection of new hotspots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Early warning system for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emerging variants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8" y="128016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8" y="1280160"/>
            <a:ext cx="347472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8" y="1344168"/>
            <a:ext cx="34747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Drug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8" y="2011680"/>
            <a:ext cx="3017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Hotspots in drug-binding sites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Predict drug resistance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mutations before they spread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120640"/>
            <a:ext cx="9418320" cy="82296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Current gap: No systematic way to compare hotspot detection methods across pathogens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Problem Definition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1064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4864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8016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No Standardized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91640"/>
            <a:ext cx="9601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Existing methods evaluated on different datasets with different metrics, making fair comparison impossible.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11064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54864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2608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Single-Pathogen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37560"/>
            <a:ext cx="9601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Methods tested on only 1-2 pathogens cannot generalize. Pathogen-specific characteristics dramatically affect detection performance.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64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617720"/>
            <a:ext cx="54864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5720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No Universal Best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83480"/>
            <a:ext cx="9601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Our prior work (MOSD, MutClust) demonstrated that no single approach dominates across all settings, demanding systematic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Research Contributions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73152" cy="21031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D7377"/>
                </a:solidFill>
                <a:latin typeface="Calibri"/>
              </a:defRPr>
            </a:pPr>
            <a:r>
              <a:t>C1: MutBench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8463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First systematic benchmark for viral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mutation hotspot detection with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standardized pipeline &amp;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73152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28016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C2: 3-Layer Ground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37360"/>
            <a:ext cx="48463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Adaptive threshold + constrained +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DMS-based ground truth design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reduces single-reference bias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73152" cy="21031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C3: Cross-Pathogen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48463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9 pathogens, 2,544 evaluations prove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universal best method exists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(interaction omega-sq = 0.285)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4747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474720"/>
            <a:ext cx="73152" cy="21031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65760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C4: PAHD Proof of 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114800"/>
            <a:ext cx="48463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Pathogen-Adaptive Hotspot Detection: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profile-based method selection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outperforms any single approach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MutBench Pipeline Overview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554480" cy="914400"/>
          </a:xfrm>
          <a:prstGeom prst="round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37160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59" y="1188720"/>
            <a:ext cx="1554480" cy="914400"/>
          </a:xfrm>
          <a:prstGeom prst="round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MSA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37160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8" y="1188720"/>
            <a:ext cx="155448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Scoring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(9 methods)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8" y="137160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197" y="1188720"/>
            <a:ext cx="155448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(39 methods)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7" y="137160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6" y="1188720"/>
            <a:ext cx="1554480" cy="9144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Ground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6" y="137160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35" y="1188720"/>
            <a:ext cx="155448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Evaluation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(MCC)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37744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D7377"/>
                </a:solidFill>
                <a:latin typeface="Calibri"/>
              </a:defRPr>
            </a:pPr>
            <a:r>
              <a:t>9 Scoring Methods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889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Shannon Entropy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7889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Jensen-Shannon Divergence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7889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Mutation Frequency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Wavelet (CWT)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15468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Sliding 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15468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Phylo-aware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52044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dN/dS ratio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52044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Kabat Variability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52044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Property Entropy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37744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Detection Families (39 methods)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7889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Z-score (4 variants)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889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Percentile (4 variants)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15468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IQR outlier (2 variants)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15468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DBSCAN (6 variants)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52044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HDBSCAN (3 variants)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52044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Gaussian Mixture (4 variants)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88620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Kernel Density (4 variants)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88620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Isolation Forest (3 variants)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25196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Wavelet peaks (3 variants)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25196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LOF (2 variants)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6177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Threshold (2 variants)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6177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Bayesian CP (2 variants)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3-Layer Ground Truth Design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pic>
        <p:nvPicPr>
          <p:cNvPr id="8" name="Picture 7" descr="multi_ground_truth_fig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685800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097280"/>
            <a:ext cx="4114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188720"/>
            <a:ext cx="374903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Layer 1: Adaptive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600200"/>
            <a:ext cx="374903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Entropy-based threshold auto-adjusted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per pathogen. Captures high-variability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positions relative to background.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34640"/>
            <a:ext cx="4114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926080"/>
            <a:ext cx="374903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Layer 2: Constrained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337560"/>
            <a:ext cx="374903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Intersection of top-K positions across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multiple scoring methods. Reduces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single-method bias.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572000"/>
            <a:ext cx="4114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663440"/>
            <a:ext cx="374903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Layer 3: DMS-based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74920"/>
            <a:ext cx="374903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Deep mutational scanning data from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experimental fitness measurements.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Gold-standard biological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Evaluation Metric: Matthews Correlation Coefficient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943600" cy="22860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5577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MCC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5577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MCC = (TP*TN - FP*FN) / sqrt((TP+FP)(TP+FN)(TN+FP)(TN+FN))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5778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Range: [-1, +1]   |   0 = random   |   1 = perfect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Why MCC over F1?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- Balanced even with class imbalance (hotspots are rare)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- Uses all four confusion matrix quadrants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- Random baseline: mean=0.001, std=0.003</a:t>
            </a:r>
          </a:p>
        </p:txBody>
      </p:sp>
      <p:pic>
        <p:nvPicPr>
          <p:cNvPr id="12" name="Picture 11" descr="mcc_vs_f1_fair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097280"/>
            <a:ext cx="48463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Two-Stage Experimental Design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5029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530352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Stage 1: Controlled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937760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4 pathogens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SARS-CoV-2, Influenza, HIV, Dengue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351 scoring-detection combinations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9 scoring x 39 detection methods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Focus areas: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Method comparison &amp; ranking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Parameter sensitivity analysis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Synthetic vs real data gap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Initial ranking reversal observation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530352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Stage 2: Large-Scale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4937760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9 pathogens (+5 more)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+ MERS, RSV, Norovirus, HCV, Ebola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2,544 evaluations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9 scoring x 39 detection x 9 pathogens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Focus areas: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Two-way ANOVA (interaction effects)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Per-pathogen best combination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Friedman test + LOPO CV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PAHD proof of concept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1: Method Comparison Results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pic>
        <p:nvPicPr>
          <p:cNvPr id="8" name="Picture 7" descr="new_methodolog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731520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109728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737360"/>
            <a:ext cx="32918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Wavelet scoring achieves highest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mean MCC across 4 pathogens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78892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880360"/>
            <a:ext cx="32918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HDBSCAN-based detection outperforms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traditional threshold methods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93192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023360"/>
            <a:ext cx="32918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Large variance across pathogens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suggests generalization limits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507492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166360"/>
            <a:ext cx="32918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Top combination differs between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SARS-CoV-2 and HIV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Parameter Sensitivity Analysis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pic>
        <p:nvPicPr>
          <p:cNvPr id="8" name="Picture 7" descr="sensitivit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685800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109728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Sensitivity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45920"/>
            <a:ext cx="4114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737360"/>
            <a:ext cx="374903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Window size (scoring): moderate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impact, optimal varies by pathogen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788920"/>
            <a:ext cx="4114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880360"/>
            <a:ext cx="374903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Epsilon (DBSCAN): high sensitivity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requires per-pathogen tuning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931920"/>
            <a:ext cx="4114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4023360"/>
            <a:ext cx="374903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Min-cluster (HDBSCAN): robust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across wide parameter range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5074920"/>
            <a:ext cx="4114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5166360"/>
            <a:ext cx="374903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Threshold percentile: simple but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shows pathogen-dependent optima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Synthetic vs Real Data Gap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97864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197864"/>
            <a:ext cx="41148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Synthetic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197864"/>
            <a:ext cx="42062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Real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2743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Mutation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45920"/>
            <a:ext cx="4114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Uniform / Poisson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645920"/>
            <a:ext cx="42062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Highly skewed, founder effects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8600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86000"/>
            <a:ext cx="2743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Selection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286000"/>
            <a:ext cx="4114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None (neutral)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286000"/>
            <a:ext cx="42062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Complex positive + purifying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26080"/>
            <a:ext cx="110642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26080"/>
            <a:ext cx="2743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Ground truth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926080"/>
            <a:ext cx="4114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Known by 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926080"/>
            <a:ext cx="42062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Approximate (DMS / literature)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6616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566160"/>
            <a:ext cx="2743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Phylo correlation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566160"/>
            <a:ext cx="4114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Independent samples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566160"/>
            <a:ext cx="42062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Strong phylogenetic non-independence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06240"/>
            <a:ext cx="110642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06240"/>
            <a:ext cx="2743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Method ranking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206240"/>
            <a:ext cx="4114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Threshold-based wins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206240"/>
            <a:ext cx="42062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Clustering-based wins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5120640"/>
            <a:ext cx="8503920" cy="73152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62828"/>
                </a:solidFill>
                <a:latin typeface="Calibri"/>
              </a:defRPr>
            </a:pPr>
            <a:r>
              <a:t>Ranking reversals between synthetic and real data demonstrate the need for real-pathogen benchmarking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Cross-Pathogen Ranking Reversal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pic>
        <p:nvPicPr>
          <p:cNvPr id="8" name="Picture 7" descr="detection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713232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1188720"/>
            <a:ext cx="3474720" cy="201168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371600"/>
            <a:ext cx="34747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86000"/>
            <a:ext cx="3474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BBDEFB"/>
                </a:solidFill>
                <a:latin typeface="Calibri"/>
              </a:defRPr>
            </a:pPr>
            <a:r>
              <a:t>unique best</a:t>
            </a:r>
          </a:p>
          <a:p>
            <a:pPr algn="ctr">
              <a:defRPr sz="1600" b="0">
                <a:solidFill>
                  <a:srgbClr val="BBDEFB"/>
                </a:solidFill>
                <a:latin typeface="Calibri"/>
              </a:defRPr>
            </a:pPr>
            <a:r>
              <a:t>combinations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474720"/>
            <a:ext cx="384048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Every pathogen has a different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optimal scoring + detection pair.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single method can be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"recommended" universally.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This motivates the need for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pathogen-adaptive selection.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2: Scaling to 9 Pathogens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5661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>
                <a:solidFill>
                  <a:srgbClr val="E65100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Pathogens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30175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SARS-CoV-2, Influenza, HIV,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Dengue, MERS, RSV,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Norovirus, HCV, Ebola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45920"/>
            <a:ext cx="35661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>
                <a:solidFill>
                  <a:srgbClr val="E65100"/>
                </a:solidFill>
                <a:latin typeface="Calibri"/>
              </a:defRPr>
            </a:pPr>
            <a:r>
              <a:t>2,544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4320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Evaluations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83280"/>
            <a:ext cx="30175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9 scoring methods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x 39 detection methods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x 9 pathogens (multilayer GT)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5661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>
                <a:solidFill>
                  <a:srgbClr val="E651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Statistical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83280"/>
            <a:ext cx="30175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Two-way ANOVA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Permutation test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Friedman test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LOPO cross-validation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Two-Way ANOVA: Variance Decomposition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pic>
        <p:nvPicPr>
          <p:cNvPr id="8" name="Picture 7" descr="variance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658368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097280"/>
            <a:ext cx="4389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18872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554480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65100"/>
                </a:solidFill>
                <a:latin typeface="Calibri"/>
              </a:defRPr>
            </a:pPr>
            <a:r>
              <a:t>~35%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280160"/>
            <a:ext cx="24688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Largest effect: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choice of detection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method matters most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788920"/>
            <a:ext cx="4389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8803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246120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65100"/>
                </a:solidFill>
                <a:latin typeface="Calibri"/>
              </a:defRPr>
            </a:pPr>
            <a:r>
              <a:t>28.5%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971800"/>
            <a:ext cx="24688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Scoring x Pathogen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interaction is strong: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 universal best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4480560"/>
            <a:ext cx="4389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45720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937760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65100"/>
                </a:solidFill>
                <a:latin typeface="Calibri"/>
              </a:defRPr>
            </a:pPr>
            <a:r>
              <a:t>~8.3%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663440"/>
            <a:ext cx="24688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Scoring method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contributes less than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detection or interaction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Per-Pathogen Best Combinations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19</a:t>
            </a:r>
          </a:p>
        </p:txBody>
      </p:sp>
      <p:pic>
        <p:nvPicPr>
          <p:cNvPr id="8" name="Picture 7" descr="cross_pathogen_to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77240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21040" y="1188720"/>
            <a:ext cx="3291840" cy="1828800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280160"/>
            <a:ext cx="32918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unique best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combinations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291840"/>
            <a:ext cx="32918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Each pathogen requires a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different scoring + detection pair.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High entropy-function divergence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(e.g., Norovirus r=0.39 vs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SARS-CoV-2 r=0.03)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H-score founder bias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(rho = -0.876)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Friedman Test &amp; Leave-One-Pathogen-Out CV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530352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Friedman Rank Test (Top-20)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37760" cy="3840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Test: Are top-20 method rankings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consistent across pathogens?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Result: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chi-squared = 42.44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p-value = 0.0015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Interpretation: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Rankings differ significantly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across pathogens (p &lt; 0.01)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No single method maintains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top rank across all pathogens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5303520" cy="5486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LOPO Cross-Validation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937760" cy="3840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Protocol: Train on 8 pathogens,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test on held-out 1 pathogen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Question: Can we predict the best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method for an unseen pathogen?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Result: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0 / 9 correct predictions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Interpretation: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Simple majority voting fails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completely for new pathogens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Motivates PAHD: profile-based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adaptive selection needed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ESM-2 Protein Language Model Validation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280160"/>
            <a:ext cx="941832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289304"/>
            <a:ext cx="25603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289304"/>
            <a:ext cx="2286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Without ESM-2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9304"/>
            <a:ext cx="2286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With ESM-2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289304"/>
            <a:ext cx="2286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737360"/>
            <a:ext cx="941832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1737360"/>
            <a:ext cx="2560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Mean MCC (top-20)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73736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3736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73736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+0.005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331720"/>
            <a:ext cx="9418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331720"/>
            <a:ext cx="2560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Median MCC (top-20)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33172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3172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33172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+0.003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2926080"/>
            <a:ext cx="941832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2926080"/>
            <a:ext cx="2560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Best single combo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92608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92608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92608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+0.003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3520440"/>
            <a:ext cx="9418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3520440"/>
            <a:ext cx="2560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Coverage (&gt;0.3 MCC)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352044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12/20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52044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13/20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52044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+1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114800"/>
            <a:ext cx="941832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4114800"/>
            <a:ext cx="2560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Rank correlation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11480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--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11480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rho=0.94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114800"/>
            <a:ext cx="2286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High agreement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4937760"/>
            <a:ext cx="9418320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ESM-2 embeddings provide marginal improvement, confirming that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sequence-based scoring already captures most of the relevant signal.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The benchmark rankings remain stable (rho=0.94).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FINDING: No Universal Best Method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097280"/>
            <a:ext cx="8503920" cy="109728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single scoring + detection combination works best for all pathogens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65100"/>
                </a:solidFill>
                <a:latin typeface="Calibri"/>
              </a:defRPr>
            </a:pPr>
            <a:r>
              <a:t>ANOVA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4937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omega-sq = 0.285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Scoring x Pathogen interaction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explains 28.5% of variance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468880"/>
            <a:ext cx="5303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65100"/>
                </a:solidFill>
                <a:latin typeface="Calibri"/>
              </a:defRPr>
            </a:pPr>
            <a:r>
              <a:t>Unique Best Combos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4937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52044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Every pathogen has a different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optimal method pair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0560"/>
            <a:ext cx="5303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65100"/>
                </a:solidFill>
                <a:latin typeface="Calibri"/>
              </a:defRPr>
            </a:pPr>
            <a:r>
              <a:t>Friedman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4937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p = 0.0015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Rankings differ significantly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across pathogens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480560"/>
            <a:ext cx="5303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57200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65100"/>
                </a:solidFill>
                <a:latin typeface="Calibri"/>
              </a:defRPr>
            </a:pPr>
            <a:r>
              <a:t>LOPO CV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937760"/>
            <a:ext cx="4937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0 / 9 correct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53212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Majority voting fails completely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for unseen pathogens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PAHD: Pathogen-Adaptive Hotspot Detection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1: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32004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Extract pathogen profile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(entropy distribution, genome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length, mutation rate, diversity)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828800"/>
            <a:ext cx="274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6A1B9A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18872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188720"/>
            <a:ext cx="356616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3444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2: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83080"/>
            <a:ext cx="32004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Compare profile against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MutBench knowledge base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(similarity-based retrieval)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1828800"/>
            <a:ext cx="274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6A1B9A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18872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56616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23444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3: 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783080"/>
            <a:ext cx="32004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Recommend optimal scoring +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detection combination based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on matched pathogen 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11064240" cy="22860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Proof of Concept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50292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PAHD approach: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Profile-based selection achieves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higher mean MCC than any fixed method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Outperforms MutBench top-1 on 6/9 pathogens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when using leave-one-out profile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89120"/>
            <a:ext cx="50292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Baseline comparison: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MutBench best:     MCC = 0.390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FreqThresh:          MCC = 0.248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SWAN:                  MCC = 0.193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MutClust-Orig:      MCC = 0.138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Random baseline:  MCC = 0.001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Phylogenetic Correction &amp; Region Overlap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5303520" cy="5486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Phylogenetic Non-Independence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937760" cy="3931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Problem: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Closely related sequences share mutations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by descent, not independent selection.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D614G spread by founder effect,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not necessarily positive selection.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Approach: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TreeTime phylogenetic reconstruction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Weight mutations by branch independence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Down-weight redundant lineage mutations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Status: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Acknowledged as key limitation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Partial correction in MutBench v1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Full integration planned for future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5303520" cy="5486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Region-Level Overlap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4937760" cy="3931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Motivation: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Position-level MCC may be too strict.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Methods may detect the right region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but miss exact positions.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Region-overlap metric: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Window-based overlap scoring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Relaxed evaluation with +/- N positions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Results: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MCC improves from 0.289 to 0.712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when using region-level evaluation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Suggests methods capture hotspot regions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even when exact positions differ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Scoring-Detection Heatmap &amp; Baseline Comparison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25</a:t>
            </a:r>
          </a:p>
        </p:txBody>
      </p:sp>
      <p:pic>
        <p:nvPicPr>
          <p:cNvPr id="8" name="Picture 7" descr="scoring_detec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13232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09728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MCC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6459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MutBench Best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993392"/>
            <a:ext cx="356616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1993392"/>
            <a:ext cx="9144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0.390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5603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565C0"/>
                </a:solidFill>
                <a:latin typeface="Calibri"/>
              </a:defRPr>
            </a:pPr>
            <a:r>
              <a:t>FreqThresh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907792"/>
            <a:ext cx="2267712" cy="3200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31552" y="2907792"/>
            <a:ext cx="9144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1">
                <a:solidFill>
                  <a:srgbClr val="1565C0"/>
                </a:solidFill>
                <a:latin typeface="Calibri"/>
              </a:defRPr>
            </a:pPr>
            <a:r>
              <a:t>0.248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4747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SWAN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822192"/>
            <a:ext cx="1764792" cy="3200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28632" y="3822192"/>
            <a:ext cx="9144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1">
                <a:solidFill>
                  <a:srgbClr val="E65100"/>
                </a:solidFill>
                <a:latin typeface="Calibri"/>
              </a:defRPr>
            </a:pPr>
            <a:r>
              <a:t>0.193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3891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C62828"/>
                </a:solidFill>
                <a:latin typeface="Calibri"/>
              </a:defRPr>
            </a:pPr>
            <a:r>
              <a:t>MutClust-Orig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4736592"/>
            <a:ext cx="1261872" cy="320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4736592"/>
            <a:ext cx="9144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1">
                <a:solidFill>
                  <a:srgbClr val="C62828"/>
                </a:solidFill>
                <a:latin typeface="Calibri"/>
              </a:defRPr>
            </a:pPr>
            <a:r>
              <a:t>0.138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3035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888888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5650992"/>
            <a:ext cx="9144" cy="3200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72984" y="5650992"/>
            <a:ext cx="9144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1">
                <a:solidFill>
                  <a:srgbClr val="888888"/>
                </a:solidFill>
                <a:latin typeface="Calibri"/>
              </a:defRPr>
            </a:pPr>
            <a:r>
              <a:t>0.001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Discussion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1064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73152" cy="15087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07008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D7377"/>
                </a:solidFill>
                <a:latin typeface="Calibri"/>
              </a:defRPr>
            </a:pPr>
            <a:r>
              <a:t>Benchmarking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27632"/>
            <a:ext cx="105156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Without standardized evaluation, published methods appear to perform well in isolation but fail under cross-pathogen comparison. MutBench provides the missing infrastructure for fair, reproducible comparison of hotspot detection methods.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11064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73152" cy="1508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98648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Method Selection is Pathogen-Dependent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19272"/>
            <a:ext cx="105156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The strong interaction effect (omega-sq = 0.285) means that recommending a single method is fundamentally flawed. Pathogen-specific characteristics (genome structure, mutation rate, selection landscape) determine which approach works best.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80560"/>
            <a:ext cx="11064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73152" cy="15087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90288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From Benchmark to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10912"/>
            <a:ext cx="105156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MutBench is not just a benchmark but a knowledge base. The systematic evaluation across 9 pathogens enables PAHD: data-driven, profile-based method selection that outperforms any fixed approach.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Contributions, Limitations &amp; Future Work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6576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06424"/>
            <a:ext cx="36576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First systematic viral hotspot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detection benchmark (9 pathogens)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8346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3-layer ground truth design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(adaptive + constrained + DMS)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9776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690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Statistical proof: no universal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best method (interaction eta-sq=0.285)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1206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2120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PAHD proof of concept for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adaptive method selection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097280"/>
            <a:ext cx="365760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1106424"/>
            <a:ext cx="36576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6916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7830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Ground truth approximation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(no perfect gold standard)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28346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9260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Phylogenetic non-independence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not fully corrected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9776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0690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Limited to substitution mutations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(no indels, recombination)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51206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52120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PAHD is proof-of-concept,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not production-ready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106424"/>
            <a:ext cx="36576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6916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17830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Full PAHD implementation with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learned pathogen profiles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28346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29260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Integrate phylogenetic correction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(TreeTime branch weighting)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9776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40690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Extend to indels, recombination,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and structural variants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51206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52120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Real-time surveillance integration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for emerging pathogens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Takeaway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188720"/>
            <a:ext cx="9418320" cy="146304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MutBench transforms viral hotspot detection from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ad-hoc single-virus evaluation to systematic cross-pathogen benchmarking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D7377"/>
                </a:solidFill>
                <a:latin typeface="Calibri"/>
              </a:defRPr>
            </a:pPr>
            <a:r>
              <a:t>9 Pathogens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22860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Largest cross-pathogen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benchmark for hotspot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017520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320040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E65100"/>
                </a:solidFill>
                <a:latin typeface="Calibri"/>
              </a:defRPr>
            </a:pPr>
            <a:r>
              <a:t>2,544 Evaluations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794760"/>
            <a:ext cx="22860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Comprehensive coverage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of scoring x detection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combinations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017520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6A1B9A"/>
                </a:solidFill>
                <a:latin typeface="Calibri"/>
              </a:defRPr>
            </a:pPr>
            <a:r>
              <a:t>omega-sq = 0.285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94760"/>
            <a:ext cx="22860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Strong interaction proves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pathogen-adaptive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selection is needed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017520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20040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PAHD 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794760"/>
            <a:ext cx="22860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From benchmark insight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to actionable algorithm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for method selection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BBDEFB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840480"/>
            <a:ext cx="6675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1B2A4A"/>
                </a:solidFill>
                <a:latin typeface="Calibri"/>
              </a:defRPr>
            </a:pPr>
            <a:r>
              <a:t>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297680"/>
            <a:ext cx="6675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Dept. of Computer Science, Kyungpook 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754880"/>
            <a:ext cx="6675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Advisor: Prof. Inuk Jung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212080"/>
            <a:ext cx="6675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