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MutBench: 체계적 벤치마킹을 통한</a:t>
            </a:r>
            <a:br/>
            <a:r>
              <a:t>바이러스 변이 핫스팟 탐지 방법론 비교 연구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B0C4DE"/>
                </a:solidFill>
                <a:latin typeface="맑은 고딕"/>
              </a:defRPr>
            </a:pPr>
            <a:r>
              <a:t>Systematic Benchmarking Framework for Viral Mutation Hotspot Detection</a:t>
            </a:r>
          </a:p>
        </p:txBody>
      </p:sp>
      <p:sp>
        <p:nvSpPr>
          <p:cNvPr id="5" name="Oval 4"/>
          <p:cNvSpPr/>
          <p:nvPr/>
        </p:nvSpPr>
        <p:spPr>
          <a:xfrm>
            <a:off x="11183112" y="1371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맑은 고딕"/>
              </a:defRPr>
            </a:pPr>
            <a:r>
              <a:t>KNU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333333"/>
                </a:solidFill>
                <a:latin typeface="맑은 고딕"/>
              </a:defRPr>
            </a:pPr>
            <a:r>
              <a:t>발표자: 권휘준  |  지도교수: 정인욱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888888"/>
                </a:solidFill>
                <a:latin typeface="맑은 고딕"/>
              </a:defRPr>
            </a:pPr>
            <a:r>
              <a:t>경북대학교 대학원 컴퓨터학부  |  2026년 3월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목차 (Table of Contents)</a:t>
            </a:r>
          </a:p>
        </p:txBody>
      </p:sp>
      <p:sp>
        <p:nvSpPr>
          <p:cNvPr id="4" name="Oval 3"/>
          <p:cNvSpPr/>
          <p:nvPr/>
        </p:nvSpPr>
        <p:spPr>
          <a:xfrm>
            <a:off x="11183112" y="1371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맑은 고딕"/>
              </a:defRPr>
            </a:pPr>
            <a:r>
              <a:t>KNU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MutBench: Systematic Benchmarking for Viral Mutation Hotspot Detection | 경북대학교 대학원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97280"/>
            <a:ext cx="534924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82880" wrap="square"/>
          <a:lstStyle/>
          <a:p>
            <a:pPr algn="ctr">
              <a:defRPr sz="2000" b="1">
                <a:solidFill>
                  <a:srgbClr val="1B2A4A"/>
                </a:solidFill>
                <a:latin typeface="맑은 고딕"/>
              </a:defRPr>
            </a:pPr>
            <a:r>
              <a:t>1. 서론</a:t>
            </a:r>
          </a:p>
          <a:p>
            <a:pPr>
              <a:defRPr sz="1400">
                <a:solidFill>
                  <a:srgbClr val="888888"/>
                </a:solidFill>
                <a:latin typeface="맑은 고딕"/>
              </a:defRPr>
            </a:pPr>
            <a:r>
              <a:t>연구 배경 및 문제 정의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50800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91072" y="1097280"/>
            <a:ext cx="534924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82880" wrap="square"/>
          <a:lstStyle/>
          <a:p>
            <a:pPr algn="ctr">
              <a:defRPr sz="2000" b="1">
                <a:solidFill>
                  <a:srgbClr val="2E5090"/>
                </a:solidFill>
                <a:latin typeface="맑은 고딕"/>
              </a:defRPr>
            </a:pPr>
            <a:r>
              <a:t>2. MutBench 프레임워크</a:t>
            </a:r>
          </a:p>
          <a:p>
            <a:pPr>
              <a:defRPr sz="1400">
                <a:solidFill>
                  <a:srgbClr val="888888"/>
                </a:solidFill>
                <a:latin typeface="맑은 고딕"/>
              </a:defRPr>
            </a:pPr>
            <a:r>
              <a:t>파이프라인, GT, 지표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1097280"/>
            <a:ext cx="50800" cy="128016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534924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82880" wrap="square"/>
          <a:lstStyle/>
          <a:p>
            <a:pPr algn="ctr">
              <a:defRPr sz="2000" b="1">
                <a:solidFill>
                  <a:srgbClr val="1A7A4C"/>
                </a:solidFill>
                <a:latin typeface="맑은 고딕"/>
              </a:defRPr>
            </a:pPr>
            <a:r>
              <a:t>3. Stage 1 결과</a:t>
            </a:r>
          </a:p>
          <a:p>
            <a:pPr>
              <a:defRPr sz="1400">
                <a:solidFill>
                  <a:srgbClr val="888888"/>
                </a:solidFill>
                <a:latin typeface="맑은 고딕"/>
              </a:defRPr>
            </a:pPr>
            <a:r>
              <a:t>합성 데이터 벤치마크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60320"/>
            <a:ext cx="50800" cy="1280160"/>
          </a:xfrm>
          <a:prstGeom prst="rect">
            <a:avLst/>
          </a:prstGeom>
          <a:solidFill>
            <a:srgbClr val="1A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1072" y="2560320"/>
            <a:ext cx="534924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82880" wrap="square"/>
          <a:lstStyle/>
          <a:p>
            <a:pPr algn="ctr">
              <a:defRPr sz="2000" b="1">
                <a:solidFill>
                  <a:srgbClr val="8B4513"/>
                </a:solidFill>
                <a:latin typeface="맑은 고딕"/>
              </a:defRPr>
            </a:pPr>
            <a:r>
              <a:t>4. Stage 2 결과</a:t>
            </a:r>
          </a:p>
          <a:p>
            <a:pPr>
              <a:defRPr sz="1400">
                <a:solidFill>
                  <a:srgbClr val="888888"/>
                </a:solidFill>
                <a:latin typeface="맑은 고딕"/>
              </a:defRPr>
            </a:pPr>
            <a:r>
              <a:t>9-병원체 실제 데이터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91072" y="2560320"/>
            <a:ext cx="50800" cy="128016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023360"/>
            <a:ext cx="534924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82880" wrap="square"/>
          <a:lstStyle/>
          <a:p>
            <a:pPr algn="ctr">
              <a:defRPr sz="2000" b="1">
                <a:solidFill>
                  <a:srgbClr val="6B3FA0"/>
                </a:solidFill>
                <a:latin typeface="맑은 고딕"/>
              </a:defRPr>
            </a:pPr>
            <a:r>
              <a:t>5. 확장 분석</a:t>
            </a:r>
          </a:p>
          <a:p>
            <a:pPr>
              <a:defRPr sz="1400">
                <a:solidFill>
                  <a:srgbClr val="888888"/>
                </a:solidFill>
                <a:latin typeface="맑은 고딕"/>
              </a:defRPr>
            </a:pPr>
            <a:r>
              <a:t>PAHD, 계통 보정, 비교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23360"/>
            <a:ext cx="50800" cy="128016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4023360"/>
            <a:ext cx="534924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82880" wrap="square"/>
          <a:lstStyle/>
          <a:p>
            <a:pPr algn="ctr">
              <a:defRPr sz="2000" b="1">
                <a:solidFill>
                  <a:srgbClr val="1B2A4A"/>
                </a:solidFill>
                <a:latin typeface="맑은 고딕"/>
              </a:defRPr>
            </a:pPr>
            <a:r>
              <a:t>6. 결론</a:t>
            </a:r>
          </a:p>
          <a:p>
            <a:pPr>
              <a:defRPr sz="1400">
                <a:solidFill>
                  <a:srgbClr val="888888"/>
                </a:solidFill>
                <a:latin typeface="맑은 고딕"/>
              </a:defRPr>
            </a:pPr>
            <a:r>
              <a:t>기여, 한계, 향후 과제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1072" y="4023360"/>
            <a:ext cx="50800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선행 연구: MOSD &amp; MutClust</a:t>
            </a:r>
          </a:p>
        </p:txBody>
      </p:sp>
      <p:sp>
        <p:nvSpPr>
          <p:cNvPr id="4" name="Oval 3"/>
          <p:cNvSpPr/>
          <p:nvPr/>
        </p:nvSpPr>
        <p:spPr>
          <a:xfrm>
            <a:off x="11183112" y="1371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맑은 고딕"/>
              </a:defRPr>
            </a:pPr>
            <a:r>
              <a:t>KNU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MutBench: Systematic Benchmarking for Viral Mutation Hotspot Detection | 경북대학교 대학원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97280"/>
            <a:ext cx="534924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MOSD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53492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wrap="square"/>
          <a:lstStyle/>
          <a:p>
            <a:pPr algn="ctr"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Multi-omics 벤치마크 프레임워크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10개 방법 × 10개 암종 비교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Cluster-score 복합 지표 제안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핵심: 데이터 특성별 최적 방법 상이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2" y="1097280"/>
            <a:ext cx="5349240" cy="41148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MutClust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1508760"/>
            <a:ext cx="53492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wrap="square"/>
          <a:lstStyle/>
          <a:p>
            <a:pPr algn="ctr"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H-score 기반 핫스팟 탐지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적응적 DBSCAN 클러스터링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SARS-CoV-2 477개 핫스팟 탐지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한계: 독립 GT 부재, 파라미터 고정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120640"/>
            <a:ext cx="11091672" cy="731520"/>
          </a:xfrm>
          <a:prstGeom prst="rect">
            <a:avLst/>
          </a:prstGeom>
          <a:solidFill>
            <a:srgbClr val="FFF3CD"/>
          </a:solidFill>
          <a:ln w="12700">
            <a:solidFill>
              <a:srgbClr val="F0C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→ 두 연구의 공통 교훈: 체계적 벤치마크 없이는 방법론 선택 불가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변이 핫스팟(Mutation Hotspot)이란?</a:t>
            </a:r>
          </a:p>
        </p:txBody>
      </p:sp>
      <p:sp>
        <p:nvSpPr>
          <p:cNvPr id="4" name="Oval 3"/>
          <p:cNvSpPr/>
          <p:nvPr/>
        </p:nvSpPr>
        <p:spPr>
          <a:xfrm>
            <a:off x="11183112" y="1371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맑은 고딕"/>
              </a:defRPr>
            </a:pPr>
            <a:r>
              <a:t>KNU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MutBench: Systematic Benchmarking for Viral Mutation Hotspot Detection | 경북대학교 대학원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05840"/>
            <a:ext cx="11091672" cy="822960"/>
          </a:xfrm>
          <a:prstGeom prst="rect">
            <a:avLst/>
          </a:prstGeom>
          <a:solidFill>
            <a:srgbClr val="E8F4FD"/>
          </a:solidFill>
          <a:ln w="2540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800" b="0">
                <a:solidFill>
                  <a:srgbClr val="333333"/>
                </a:solidFill>
                <a:latin typeface="맑은 고딕"/>
              </a:defRPr>
            </a:pPr>
            <a:r>
              <a:t>정의: 바이러스 게놈에서 통계적으로 유의하게 높은 빈도로 변이가 발생하는 위치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3520440" cy="41148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왜 발생?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14600"/>
            <a:ext cx="352044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wrap="square"/>
          <a:lstStyle/>
          <a:p>
            <a:pPr algn="ctr"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양성 선택 (positive selection)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기능적 제약 (functional constraint)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재조합 (recombination)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2103120"/>
            <a:ext cx="3520440" cy="411480"/>
          </a:xfrm>
          <a:prstGeom prst="rect">
            <a:avLst/>
          </a:prstGeom>
          <a:solidFill>
            <a:srgbClr val="1A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왜 중요?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4256" y="2514600"/>
            <a:ext cx="352044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wrap="square"/>
          <a:lstStyle/>
          <a:p>
            <a:pPr algn="ctr"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백신 표적 설계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항바이러스제 개발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변이 감시 및 조기 경보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9872" y="2103120"/>
            <a:ext cx="352044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현재 문제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9872" y="2514600"/>
            <a:ext cx="352044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wrap="square"/>
          <a:lstStyle/>
          <a:p>
            <a:pPr algn="ctr"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표준 벤치마크 부재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병원체 의존성 미검증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Ground Truth 불일치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연구 문제 정의</a:t>
            </a:r>
          </a:p>
        </p:txBody>
      </p:sp>
      <p:sp>
        <p:nvSpPr>
          <p:cNvPr id="4" name="Oval 3"/>
          <p:cNvSpPr/>
          <p:nvPr/>
        </p:nvSpPr>
        <p:spPr>
          <a:xfrm>
            <a:off x="11183112" y="1371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맑은 고딕"/>
              </a:defRPr>
            </a:pPr>
            <a:r>
              <a:t>KNU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MutBench: Systematic Benchmarking for Viral Mutation Hotspot Detection | 경북대학교 대학원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97280"/>
            <a:ext cx="1109167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 wrap="square"/>
          <a:lstStyle/>
          <a:p>
            <a:pPr algn="ctr">
              <a:defRPr sz="2000" b="1">
                <a:solidFill>
                  <a:srgbClr val="E74C3C"/>
                </a:solidFill>
                <a:latin typeface="맑은 고딕"/>
              </a:defRPr>
            </a:pPr>
            <a:r>
              <a:t>P1: 표준 벤치마크의 부재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  <a:latin typeface="맑은 고딕"/>
              </a:defRPr>
            </a:pPr>
            <a:r>
              <a:t>기존 핫스팟 탐지 방법들은 각자의 데이터셋에서만 평가 → 공정한 비교 불가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76200" cy="1371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1109167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 wrap="square"/>
          <a:lstStyle/>
          <a:p>
            <a:pPr algn="ctr">
              <a:defRPr sz="2000" b="1">
                <a:solidFill>
                  <a:srgbClr val="F39C12"/>
                </a:solidFill>
                <a:latin typeface="맑은 고딕"/>
              </a:defRPr>
            </a:pPr>
            <a:r>
              <a:t>P2: 병원체 특이성 미검증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  <a:latin typeface="맑은 고딕"/>
              </a:defRPr>
            </a:pPr>
            <a:r>
              <a:t>SARS-CoV-2에서 잘 작동하는 방법이 다른 병원체에도 유효한지 검증되지 않음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51760"/>
            <a:ext cx="76200" cy="13716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206240"/>
            <a:ext cx="1109167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 wrap="square"/>
          <a:lstStyle/>
          <a:p>
            <a:pPr algn="ctr">
              <a:defRPr sz="2000" b="1">
                <a:solidFill>
                  <a:srgbClr val="27AE60"/>
                </a:solidFill>
                <a:latin typeface="맑은 고딕"/>
              </a:defRPr>
            </a:pPr>
            <a:r>
              <a:t>P3: Ground Truth 기준 불일치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  <a:latin typeface="맑은 고딕"/>
              </a:defRPr>
            </a:pPr>
            <a:r>
              <a:t>연구마다 다른 GT 정의 사용 → 성능 비교의 신뢰성 저하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206240"/>
            <a:ext cx="7620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2E5090"/>
                </a:solidFill>
                <a:latin typeface="맑은 고딕"/>
              </a:defRPr>
            </a:pPr>
            <a:r>
              <a:t>→ MutBench로 해결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연구 기여 (Contributions)</a:t>
            </a:r>
          </a:p>
        </p:txBody>
      </p:sp>
      <p:sp>
        <p:nvSpPr>
          <p:cNvPr id="4" name="Oval 3"/>
          <p:cNvSpPr/>
          <p:nvPr/>
        </p:nvSpPr>
        <p:spPr>
          <a:xfrm>
            <a:off x="11183112" y="1371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맑은 고딕"/>
              </a:defRPr>
            </a:pPr>
            <a:r>
              <a:t>KNU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MutBench: Systematic Benchmarking for Viral Mutation Hotspot Detection | 경북대학교 대학원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97280"/>
            <a:ext cx="5349240" cy="41148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C1: MutBench 프레임워크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5349240" cy="1783080"/>
          </a:xfrm>
          <a:prstGeom prst="rect">
            <a:avLst/>
          </a:prstGeom>
          <a:solidFill>
            <a:srgbClr val="E8F4FD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wrap="square"/>
          <a:lstStyle/>
          <a:p>
            <a:pPr algn="ctr"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9개 병원체 × 9 scoring × 39 detection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2,544 체계적 평가 실행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재현 가능한 파이프라인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2" y="1097280"/>
            <a:ext cx="5349240" cy="411480"/>
          </a:xfrm>
          <a:prstGeom prst="rect">
            <a:avLst/>
          </a:prstGeom>
          <a:solidFill>
            <a:srgbClr val="1A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C2: 3-Layer Ground Truth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1508760"/>
            <a:ext cx="5349240" cy="1783080"/>
          </a:xfrm>
          <a:prstGeom prst="rect">
            <a:avLst/>
          </a:prstGeom>
          <a:solidFill>
            <a:srgbClr val="E8F9E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wrap="square"/>
          <a:lstStyle/>
          <a:p>
            <a:pPr algn="ctr"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Adaptive + Constrained + DMS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다각적 검증으로 편향 최소화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기존 단일 GT의 한계 극복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74720"/>
            <a:ext cx="534924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C3: 병원체 특이성 실증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86200"/>
            <a:ext cx="5349240" cy="1783080"/>
          </a:xfrm>
          <a:prstGeom prst="rect">
            <a:avLst/>
          </a:prstGeom>
          <a:solidFill>
            <a:srgbClr val="FFF5E6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wrap="square"/>
          <a:lstStyle/>
          <a:p>
            <a:pPr algn="ctr"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interaction ω² = 0.285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9/9 고유 최적 조합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단일 방법 불가 실증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91072" y="3474720"/>
            <a:ext cx="5349240" cy="41148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C4: PAHD 적응형 탐지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91072" y="3886200"/>
            <a:ext cx="5349240" cy="1783080"/>
          </a:xfrm>
          <a:prstGeom prst="rect">
            <a:avLst/>
          </a:prstGeom>
          <a:solidFill>
            <a:srgbClr val="F5E6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wrap="square"/>
          <a:lstStyle/>
          <a:p>
            <a:pPr algn="ctr"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병원체 프로파일 기반 선택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Top-3 평균 MCC 0.390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기존 최고 대비 +57% 향상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MutBench 파이프라인</a:t>
            </a:r>
          </a:p>
        </p:txBody>
      </p:sp>
      <p:sp>
        <p:nvSpPr>
          <p:cNvPr id="4" name="Oval 3"/>
          <p:cNvSpPr/>
          <p:nvPr/>
        </p:nvSpPr>
        <p:spPr>
          <a:xfrm>
            <a:off x="11183112" y="1371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맑은 고딕"/>
              </a:defRPr>
            </a:pPr>
            <a:r>
              <a:t>KNU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MutBench: Systematic Benchmarking for Viral Mutation Hotspot Detection | 경북대학교 대학원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1920240" cy="13716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입력</a:t>
            </a:r>
            <a:br/>
            <a:r>
              <a:t>(MSA)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737360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>
                <a:solidFill>
                  <a:srgbClr val="333333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280160"/>
            <a:ext cx="1920240" cy="1371600"/>
          </a:xfrm>
          <a:prstGeom prst="round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Scoring</a:t>
            </a:r>
            <a:br/>
            <a:r>
              <a:t>(9종)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737360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>
                <a:solidFill>
                  <a:srgbClr val="333333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280160"/>
            <a:ext cx="1920240" cy="1371600"/>
          </a:xfrm>
          <a:prstGeom prst="roundRect">
            <a:avLst/>
          </a:prstGeom>
          <a:solidFill>
            <a:srgbClr val="1A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Detection</a:t>
            </a:r>
            <a:br/>
            <a:r>
              <a:t>(39종)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737360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>
                <a:solidFill>
                  <a:srgbClr val="333333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1280160"/>
            <a:ext cx="1920240" cy="13716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GT</a:t>
            </a:r>
            <a:br/>
            <a:r>
              <a:t>(3-Layer)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1737360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>
                <a:solidFill>
                  <a:srgbClr val="333333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1280160"/>
            <a:ext cx="1920240" cy="1371600"/>
          </a:xfrm>
          <a:prstGeom prst="round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평가</a:t>
            </a:r>
            <a:br/>
            <a:r>
              <a:t>(MCC)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26080"/>
            <a:ext cx="5349240" cy="3108960"/>
          </a:xfrm>
          <a:prstGeom prst="rect">
            <a:avLst/>
          </a:prstGeom>
          <a:solidFill>
            <a:srgbClr val="F5F7FA"/>
          </a:solidFill>
          <a:ln w="1270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 b="1">
                <a:solidFill>
                  <a:srgbClr val="333333"/>
                </a:solidFill>
                <a:latin typeface="맑은 고딕"/>
              </a:defRPr>
            </a:pPr>
            <a:r>
              <a:t>Scoring Methods (9종):</a:t>
            </a:r>
          </a:p>
          <a:p>
            <a:pPr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  Entropy, Wavelet, H-score,</a:t>
            </a:r>
          </a:p>
          <a:p>
            <a:pPr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  KL-divergence, Jensen-Shannon,</a:t>
            </a:r>
          </a:p>
          <a:p>
            <a:pPr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  Mutual Information, Chi-squared,</a:t>
            </a:r>
          </a:p>
          <a:p>
            <a:pPr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  Conservation Score, Rate4Site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2" y="2926080"/>
            <a:ext cx="5349240" cy="3108960"/>
          </a:xfrm>
          <a:prstGeom prst="rect">
            <a:avLst/>
          </a:prstGeom>
          <a:solidFill>
            <a:srgbClr val="F5F7FA"/>
          </a:solidFill>
          <a:ln w="12700">
            <a:solidFill>
              <a:srgbClr val="1A7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 b="1">
                <a:solidFill>
                  <a:srgbClr val="333333"/>
                </a:solidFill>
                <a:latin typeface="맑은 고딕"/>
              </a:defRPr>
            </a:pPr>
            <a:r>
              <a:t>Detection Families (39종):</a:t>
            </a:r>
          </a:p>
          <a:p>
            <a:pPr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  Threshold: Fixed, Percentile, MAD, IQR</a:t>
            </a:r>
          </a:p>
          <a:p>
            <a:pPr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  Clustering: DBSCAN, HDBSCAN, OPTICS</a:t>
            </a:r>
          </a:p>
          <a:p>
            <a:pPr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  Statistical: Z-score, Grubbs, Peaks</a:t>
            </a:r>
          </a:p>
          <a:p>
            <a:pPr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  Sliding Window: Mean, Median, Gaussian</a:t>
            </a:r>
          </a:p>
          <a:p>
            <a:pPr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  ML: Isolation Forest, LOF, One-Class SVM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3-Layer Ground Truth 체계</a:t>
            </a:r>
          </a:p>
        </p:txBody>
      </p:sp>
      <p:sp>
        <p:nvSpPr>
          <p:cNvPr id="4" name="Oval 3"/>
          <p:cNvSpPr/>
          <p:nvPr/>
        </p:nvSpPr>
        <p:spPr>
          <a:xfrm>
            <a:off x="11183112" y="1371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맑은 고딕"/>
              </a:defRPr>
            </a:pPr>
            <a:r>
              <a:t>KNU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MutBench: Systematic Benchmarking for Viral Mutation Hotspot Detection | 경북대학교 대학원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8</a:t>
            </a:r>
          </a:p>
        </p:txBody>
      </p:sp>
      <p:pic>
        <p:nvPicPr>
          <p:cNvPr id="8" name="Picture 7" descr="multi_ground_truth_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6400800" cy="4572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223760" y="1005840"/>
            <a:ext cx="4416552" cy="1371600"/>
          </a:xfrm>
          <a:prstGeom prst="rect">
            <a:avLst/>
          </a:prstGeom>
          <a:solidFill>
            <a:srgbClr val="E8F4FD"/>
          </a:solidFill>
          <a:ln w="2540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2E5090"/>
                </a:solidFill>
                <a:latin typeface="맑은 고딕"/>
              </a:defRPr>
            </a:pPr>
            <a:r>
              <a:t>Layer 1: Adaptive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  <a:latin typeface="맑은 고딕"/>
              </a:defRPr>
            </a:pPr>
            <a:r>
              <a:t>병원체별 최적 entropy 임계값 자동 결정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2560320"/>
            <a:ext cx="4416552" cy="1371600"/>
          </a:xfrm>
          <a:prstGeom prst="rect">
            <a:avLst/>
          </a:prstGeom>
          <a:solidFill>
            <a:srgbClr val="E8F9EF"/>
          </a:solidFill>
          <a:ln w="25400">
            <a:solidFill>
              <a:srgbClr val="1A7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1A7A4C"/>
                </a:solidFill>
                <a:latin typeface="맑은 고딕"/>
              </a:defRPr>
            </a:pPr>
            <a:r>
              <a:t>Layer 2: Constrained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  <a:latin typeface="맑은 고딕"/>
              </a:defRPr>
            </a:pPr>
            <a:r>
              <a:t>기존 문헌 기반 보수적 핫스팟 정의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4114800"/>
            <a:ext cx="4416552" cy="1371600"/>
          </a:xfrm>
          <a:prstGeom prst="rect">
            <a:avLst/>
          </a:prstGeom>
          <a:solidFill>
            <a:srgbClr val="FFF5E6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E67E22"/>
                </a:solidFill>
                <a:latin typeface="맑은 고딕"/>
              </a:defRPr>
            </a:pPr>
            <a:r>
              <a:t>Layer 3: DMS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  <a:latin typeface="맑은 고딕"/>
              </a:defRPr>
            </a:pPr>
            <a:r>
              <a:t>Deep Mutational Scanning 실험 데이터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평가 지표: MCC</a:t>
            </a:r>
          </a:p>
        </p:txBody>
      </p:sp>
      <p:sp>
        <p:nvSpPr>
          <p:cNvPr id="4" name="Oval 3"/>
          <p:cNvSpPr/>
          <p:nvPr/>
        </p:nvSpPr>
        <p:spPr>
          <a:xfrm>
            <a:off x="11183112" y="1371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맑은 고딕"/>
              </a:defRPr>
            </a:pPr>
            <a:r>
              <a:t>KNU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MutBench: Systematic Benchmarking for Viral Mutation Hotspot Detection | 경북대학교 대학원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97280"/>
            <a:ext cx="5349240" cy="4572000"/>
          </a:xfrm>
          <a:prstGeom prst="rect">
            <a:avLst/>
          </a:prstGeom>
          <a:solidFill>
            <a:srgbClr val="F5F7FA"/>
          </a:solidFill>
          <a:ln w="1270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800" b="1">
                <a:solidFill>
                  <a:srgbClr val="2E5090"/>
                </a:solidFill>
                <a:latin typeface="맑은 고딕"/>
              </a:defRPr>
            </a:pPr>
            <a:r>
              <a:t>MCC (Matthews Correlation Coefficient)</a:t>
            </a:r>
          </a:p>
          <a:p>
            <a:pPr>
              <a:defRPr sz="800" b="0">
                <a:solidFill>
                  <a:srgbClr val="333333"/>
                </a:solidFill>
                <a:latin typeface="맑은 고딕"/>
              </a:defRPr>
            </a:pPr>
          </a:p>
          <a:p>
            <a:pPr>
              <a:defRPr sz="1600" b="0">
                <a:solidFill>
                  <a:srgbClr val="333333"/>
                </a:solidFill>
                <a:latin typeface="맑은 고딕"/>
              </a:defRPr>
            </a:pPr>
            <a:r>
              <a:t>MCC = (TP×TN - FP×FN) /</a:t>
            </a:r>
          </a:p>
          <a:p>
            <a:pPr>
              <a:defRPr sz="1600" b="0">
                <a:solidFill>
                  <a:srgbClr val="333333"/>
                </a:solidFill>
                <a:latin typeface="맑은 고딕"/>
              </a:defRPr>
            </a:pPr>
            <a:r>
              <a:t>  √((TP+FP)(TP+FN)(TN+FP)(TN+FN))</a:t>
            </a:r>
          </a:p>
          <a:p>
            <a:pPr>
              <a:defRPr sz="800" b="0">
                <a:solidFill>
                  <a:srgbClr val="333333"/>
                </a:solidFill>
                <a:latin typeface="맑은 고딕"/>
              </a:defRPr>
            </a:pPr>
          </a:p>
          <a:p>
            <a:pPr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범위: [-1, +1]</a:t>
            </a:r>
          </a:p>
          <a:p>
            <a:pPr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  +1 = 완벽한 예측</a:t>
            </a:r>
          </a:p>
          <a:p>
            <a:pPr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   0 = 무작위 수준</a:t>
            </a:r>
          </a:p>
          <a:p>
            <a:pPr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  -1 = 완전한 역예측</a:t>
            </a:r>
          </a:p>
          <a:p>
            <a:pPr>
              <a:defRPr sz="800" b="0">
                <a:solidFill>
                  <a:srgbClr val="333333"/>
                </a:solidFill>
                <a:latin typeface="맑은 고딕"/>
              </a:defRPr>
            </a:pPr>
          </a:p>
          <a:p>
            <a:pPr>
              <a:defRPr sz="1600" b="1">
                <a:solidFill>
                  <a:srgbClr val="2E5090"/>
                </a:solidFill>
                <a:latin typeface="맑은 고딕"/>
              </a:defRPr>
            </a:pPr>
            <a:r>
              <a:t>선택 이유:</a:t>
            </a:r>
          </a:p>
          <a:p>
            <a:pPr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클래스 불균형에 강건</a:t>
            </a:r>
          </a:p>
          <a:p>
            <a:pPr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TP/TN/FP/FN 모두 반영</a:t>
            </a:r>
          </a:p>
          <a:p>
            <a:pPr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F1 대비 낙관적 편향 없음</a:t>
            </a:r>
          </a:p>
          <a:p>
            <a:pPr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• Random baseline MCC ≈ 0.001</a:t>
            </a:r>
          </a:p>
        </p:txBody>
      </p:sp>
      <p:pic>
        <p:nvPicPr>
          <p:cNvPr id="9" name="Picture 8" descr="mcc_vs_f1_fair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097280"/>
            <a:ext cx="534924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2단계 실험 설계</a:t>
            </a:r>
          </a:p>
        </p:txBody>
      </p:sp>
      <p:sp>
        <p:nvSpPr>
          <p:cNvPr id="4" name="Oval 3"/>
          <p:cNvSpPr/>
          <p:nvPr/>
        </p:nvSpPr>
        <p:spPr>
          <a:xfrm>
            <a:off x="11183112" y="1371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맑은 고딕"/>
              </a:defRPr>
            </a:pPr>
            <a:r>
              <a:t>KNU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MutBench: Systematic Benchmarking for Viral Mutation Hotspot Detection | 경북대학교 대학원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97280"/>
            <a:ext cx="5349240" cy="411480"/>
          </a:xfrm>
          <a:prstGeom prst="rect">
            <a:avLst/>
          </a:prstGeom>
          <a:solidFill>
            <a:srgbClr val="1A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Stage 1: 합성 데이터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53492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wrap="square"/>
          <a:lstStyle/>
          <a:p>
            <a:pPr algn="ctr"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Controlled synthetic mutations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4 병원체 (SARS-CoV-2, HIV, Influenza, Dengue)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Known ground truth positions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방법론 기본 성능 검증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파라미터 민감도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2" y="1097280"/>
            <a:ext cx="5349240" cy="41148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Stage 2: 실제 데이터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1508760"/>
            <a:ext cx="53492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wrap="square"/>
          <a:lstStyle/>
          <a:p>
            <a:pPr algn="ctr"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Real MSA from NCBI/GISAID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9 병원체 확장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3-Layer Ground Truth 적용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9 scoring × 39 detection = 351 조합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2,544 evaluations (9 pathogens)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4종 통계 검정 (ANOVA, Friedman, LOPO, Permutation)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Stage 1: 합성 데이터 벤치마크</a:t>
            </a:r>
          </a:p>
        </p:txBody>
      </p:sp>
      <p:sp>
        <p:nvSpPr>
          <p:cNvPr id="4" name="Oval 3"/>
          <p:cNvSpPr/>
          <p:nvPr/>
        </p:nvSpPr>
        <p:spPr>
          <a:xfrm>
            <a:off x="11183112" y="1371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맑은 고딕"/>
              </a:defRPr>
            </a:pPr>
            <a:r>
              <a:t>KNU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MutBench: Systematic Benchmarking for Viral Mutation Hotspot Detection | 경북대학교 대학원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11</a:t>
            </a:r>
          </a:p>
        </p:txBody>
      </p:sp>
      <p:pic>
        <p:nvPicPr>
          <p:cNvPr id="8" name="Picture 7" descr="new_methodolog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6858000" cy="47548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80960" y="1005840"/>
            <a:ext cx="3959352" cy="4754880"/>
          </a:xfrm>
          <a:prstGeom prst="rect">
            <a:avLst/>
          </a:prstGeom>
          <a:solidFill>
            <a:srgbClr val="F5F7FA"/>
          </a:solidFill>
          <a:ln w="25400">
            <a:solidFill>
              <a:srgbClr val="1A7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1A7A4C"/>
                </a:solidFill>
                <a:latin typeface="맑은 고딕"/>
              </a:defRPr>
            </a:pPr>
            <a:r>
              <a:t>주요 발견</a:t>
            </a:r>
          </a:p>
          <a:p>
            <a:pPr>
              <a:defRPr sz="600" b="0">
                <a:solidFill>
                  <a:srgbClr val="333333"/>
                </a:solidFill>
                <a:latin typeface="맑은 고딕"/>
              </a:defRPr>
            </a:pPr>
          </a:p>
          <a:p>
            <a:pPr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• Entropy + Percentile 조합이</a:t>
            </a:r>
          </a:p>
          <a:p>
            <a:pPr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  합성 데이터에서 최고 성능</a:t>
            </a:r>
          </a:p>
          <a:p>
            <a:pPr>
              <a:defRPr sz="600" b="0">
                <a:solidFill>
                  <a:srgbClr val="333333"/>
                </a:solidFill>
                <a:latin typeface="맑은 고딕"/>
              </a:defRPr>
            </a:pPr>
          </a:p>
          <a:p>
            <a:pPr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• Wavelet scoring의 높은</a:t>
            </a:r>
          </a:p>
          <a:p>
            <a:pPr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  노이즈 강건성 확인</a:t>
            </a:r>
          </a:p>
          <a:p>
            <a:pPr>
              <a:defRPr sz="600" b="0">
                <a:solidFill>
                  <a:srgbClr val="333333"/>
                </a:solidFill>
                <a:latin typeface="맑은 고딕"/>
              </a:defRPr>
            </a:pPr>
          </a:p>
          <a:p>
            <a:pPr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• HDBSCAN이 DBSCAN 대비</a:t>
            </a:r>
          </a:p>
          <a:p>
            <a:pPr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  파라미터 민감도 낮음</a:t>
            </a:r>
          </a:p>
          <a:p>
            <a:pPr>
              <a:defRPr sz="600" b="0">
                <a:solidFill>
                  <a:srgbClr val="333333"/>
                </a:solidFill>
                <a:latin typeface="맑은 고딕"/>
              </a:defRPr>
            </a:pPr>
          </a:p>
          <a:p>
            <a:pPr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• 합성 데이터 MCC 범위:</a:t>
            </a:r>
          </a:p>
          <a:p>
            <a:pPr>
              <a:defRPr sz="1600" b="1">
                <a:solidFill>
                  <a:srgbClr val="1A7A4C"/>
                </a:solidFill>
                <a:latin typeface="맑은 고딕"/>
              </a:defRPr>
            </a:pPr>
            <a:r>
              <a:t>  0.15 ~ 0.85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파라미터 민감도 분석</a:t>
            </a:r>
          </a:p>
        </p:txBody>
      </p:sp>
      <p:sp>
        <p:nvSpPr>
          <p:cNvPr id="4" name="Oval 3"/>
          <p:cNvSpPr/>
          <p:nvPr/>
        </p:nvSpPr>
        <p:spPr>
          <a:xfrm>
            <a:off x="11183112" y="1371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맑은 고딕"/>
              </a:defRPr>
            </a:pPr>
            <a:r>
              <a:t>KNU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MutBench: Systematic Benchmarking for Viral Mutation Hotspot Detection | 경북대학교 대학원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12</a:t>
            </a:r>
          </a:p>
        </p:txBody>
      </p:sp>
      <p:pic>
        <p:nvPicPr>
          <p:cNvPr id="8" name="Picture 7" descr="sensitivit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6400800" cy="4572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223760" y="1005840"/>
            <a:ext cx="4416552" cy="4572000"/>
          </a:xfrm>
          <a:prstGeom prst="rect">
            <a:avLst/>
          </a:prstGeom>
          <a:solidFill>
            <a:srgbClr val="F5F7FA"/>
          </a:solidFill>
          <a:ln w="25400">
            <a:solidFill>
              <a:srgbClr val="1A7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1A7A4C"/>
                </a:solidFill>
                <a:latin typeface="맑은 고딕"/>
              </a:defRPr>
            </a:pPr>
            <a:r>
              <a:t>민감도 분석 결과</a:t>
            </a:r>
          </a:p>
          <a:p>
            <a:pPr>
              <a:defRPr sz="600" b="0">
                <a:solidFill>
                  <a:srgbClr val="333333"/>
                </a:solidFill>
                <a:latin typeface="맑은 고딕"/>
              </a:defRPr>
            </a:pPr>
          </a:p>
          <a:p>
            <a:pPr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• Threshold 기반 방법:</a:t>
            </a:r>
          </a:p>
          <a:p>
            <a:pPr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  임계값에 매우 민감</a:t>
            </a:r>
          </a:p>
          <a:p>
            <a:pPr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  (MCC 변동 ±0.3)</a:t>
            </a:r>
          </a:p>
          <a:p>
            <a:pPr>
              <a:defRPr sz="600" b="0">
                <a:solidFill>
                  <a:srgbClr val="333333"/>
                </a:solidFill>
                <a:latin typeface="맑은 고딕"/>
              </a:defRPr>
            </a:pPr>
          </a:p>
          <a:p>
            <a:pPr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• Clustering 기반 방법:</a:t>
            </a:r>
          </a:p>
          <a:p>
            <a:pPr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  eps 파라미터에 민감</a:t>
            </a:r>
          </a:p>
          <a:p>
            <a:pPr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  HDBSCAN은 상대적 안정</a:t>
            </a:r>
          </a:p>
          <a:p>
            <a:pPr>
              <a:defRPr sz="600" b="0">
                <a:solidFill>
                  <a:srgbClr val="333333"/>
                </a:solidFill>
                <a:latin typeface="맑은 고딕"/>
              </a:defRPr>
            </a:pPr>
          </a:p>
          <a:p>
            <a:pPr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• Statistical 방법:</a:t>
            </a:r>
          </a:p>
          <a:p>
            <a:pPr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  Z-score 기준 안정적</a:t>
            </a:r>
          </a:p>
          <a:p>
            <a:pPr>
              <a:defRPr sz="600" b="0">
                <a:solidFill>
                  <a:srgbClr val="333333"/>
                </a:solidFill>
                <a:latin typeface="맑은 고딕"/>
              </a:defRPr>
            </a:pPr>
          </a:p>
          <a:p>
            <a:pPr>
              <a:defRPr sz="1400" b="1">
                <a:solidFill>
                  <a:srgbClr val="E74C3C"/>
                </a:solidFill>
                <a:latin typeface="맑은 고딕"/>
              </a:defRPr>
            </a:pPr>
            <a:r>
              <a:t>시사점: 파라미터 선택이</a:t>
            </a:r>
          </a:p>
          <a:p>
            <a:pPr>
              <a:defRPr sz="1300" b="0">
                <a:solidFill>
                  <a:srgbClr val="E74C3C"/>
                </a:solidFill>
                <a:latin typeface="맑은 고딕"/>
              </a:defRPr>
            </a:pPr>
            <a:r>
              <a:t>방법론 자체보다 중요할 수 있음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Synthetic-Real 성능 격차</a:t>
            </a:r>
          </a:p>
        </p:txBody>
      </p:sp>
      <p:sp>
        <p:nvSpPr>
          <p:cNvPr id="4" name="Oval 3"/>
          <p:cNvSpPr/>
          <p:nvPr/>
        </p:nvSpPr>
        <p:spPr>
          <a:xfrm>
            <a:off x="11183112" y="1371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맑은 고딕"/>
              </a:defRPr>
            </a:pPr>
            <a:r>
              <a:t>KNU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MutBench: Systematic Benchmarking for Viral Mutation Hotspot Detection | 경북대학교 대학원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88720"/>
          <a:ext cx="1109167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1A7A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Synthetic MCC</a:t>
                      </a:r>
                    </a:p>
                  </a:txBody>
                  <a:tcPr>
                    <a:solidFill>
                      <a:srgbClr val="1A7A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Real MCC</a:t>
                      </a:r>
                    </a:p>
                  </a:txBody>
                  <a:tcPr>
                    <a:solidFill>
                      <a:srgbClr val="1A7A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격차</a:t>
                      </a:r>
                    </a:p>
                  </a:txBody>
                  <a:tcPr>
                    <a:solidFill>
                      <a:srgbClr val="1A7A4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Entropy+Percentile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-0.43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Wavelet+HDBSCAN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0.72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0.38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-0.34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H-score+DBSCAN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-0.43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Conservation+Z-score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0.61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0.35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-0.26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4389120"/>
            <a:ext cx="11091672" cy="1371600"/>
          </a:xfrm>
          <a:prstGeom prst="rect">
            <a:avLst/>
          </a:prstGeom>
          <a:solidFill>
            <a:srgbClr val="FFF3CD"/>
          </a:solidFill>
          <a:ln w="25400">
            <a:solidFill>
              <a:srgbClr val="F0C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800" b="1">
                <a:solidFill>
                  <a:srgbClr val="8B4513"/>
                </a:solidFill>
                <a:latin typeface="맑은 고딕"/>
              </a:defRPr>
            </a:pPr>
            <a:r>
              <a:t>핵심 시사점</a:t>
            </a:r>
          </a:p>
          <a:p>
            <a:pPr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합성 데이터에서의 우수한 성능이 실제 데이터로 전이되지 않음</a:t>
            </a:r>
          </a:p>
          <a:p>
            <a:pPr>
              <a:defRPr sz="1400" b="1">
                <a:solidFill>
                  <a:srgbClr val="2E5090"/>
                </a:solidFill>
                <a:latin typeface="맑은 고딕"/>
              </a:defRPr>
            </a:pPr>
            <a:r>
              <a:t>→ 실제 MSA 기반 벤치마크(Stage 2)의 필요성 확인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병원체 간 순위 역전</a:t>
            </a:r>
          </a:p>
        </p:txBody>
      </p:sp>
      <p:sp>
        <p:nvSpPr>
          <p:cNvPr id="4" name="Oval 3"/>
          <p:cNvSpPr/>
          <p:nvPr/>
        </p:nvSpPr>
        <p:spPr>
          <a:xfrm>
            <a:off x="11183112" y="1371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맑은 고딕"/>
              </a:defRPr>
            </a:pPr>
            <a:r>
              <a:t>KNU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MutBench: Systematic Benchmarking for Viral Mutation Hotspot Detection | 경북대학교 대학원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14</a:t>
            </a:r>
          </a:p>
        </p:txBody>
      </p:sp>
      <p:pic>
        <p:nvPicPr>
          <p:cNvPr id="8" name="Picture 7" descr="detection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6858000" cy="4572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80960" y="1005840"/>
            <a:ext cx="3959352" cy="2286000"/>
          </a:xfrm>
          <a:prstGeom prst="rect">
            <a:avLst/>
          </a:prstGeom>
          <a:solidFill>
            <a:srgbClr val="E8F4FD"/>
          </a:solidFill>
          <a:ln w="25400">
            <a:solidFill>
              <a:srgbClr val="1A7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4800" b="1">
                <a:solidFill>
                  <a:srgbClr val="E74C3C"/>
                </a:solidFill>
                <a:latin typeface="맑은 고딕"/>
              </a:defRPr>
            </a:pPr>
            <a:r>
              <a:t>9/9</a:t>
            </a:r>
          </a:p>
          <a:p>
            <a:pPr algn="ctr">
              <a:spcBef>
                <a:spcPts val="800"/>
              </a:spcBef>
              <a:defRPr sz="1600">
                <a:solidFill>
                  <a:srgbClr val="333333"/>
                </a:solidFill>
                <a:latin typeface="맑은 고딕"/>
              </a:defRPr>
            </a:pPr>
            <a:r>
              <a:t>모든 병원체에서</a:t>
            </a:r>
            <a:br/>
            <a:r>
              <a:t>서로 다른 최적 조합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3566160"/>
            <a:ext cx="3959352" cy="2011680"/>
          </a:xfrm>
          <a:prstGeom prst="rect">
            <a:avLst/>
          </a:prstGeom>
          <a:solidFill>
            <a:srgbClr val="F5F7FA"/>
          </a:solidFill>
          <a:ln w="12700">
            <a:solidFill>
              <a:srgbClr val="1A7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 b="1">
                <a:solidFill>
                  <a:srgbClr val="333333"/>
                </a:solidFill>
                <a:latin typeface="맑은 고딕"/>
              </a:defRPr>
            </a:pPr>
            <a:r>
              <a:t>해석:</a:t>
            </a:r>
          </a:p>
          <a:p>
            <a:pPr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• 한 병원체에서 1위인 방법이</a:t>
            </a:r>
          </a:p>
          <a:p>
            <a:pPr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  다른 병원체에서 하위권</a:t>
            </a:r>
          </a:p>
          <a:p>
            <a:pPr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• 순위 역전 = 병원체 특이성</a:t>
            </a:r>
          </a:p>
          <a:p>
            <a:pPr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• 범용 최적 방법 부재 실증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Stage 2: 9-병원체 벤치마크</a:t>
            </a:r>
          </a:p>
        </p:txBody>
      </p:sp>
      <p:sp>
        <p:nvSpPr>
          <p:cNvPr id="4" name="Oval 3"/>
          <p:cNvSpPr/>
          <p:nvPr/>
        </p:nvSpPr>
        <p:spPr>
          <a:xfrm>
            <a:off x="11183112" y="1371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맑은 고딕"/>
              </a:defRPr>
            </a:pPr>
            <a:r>
              <a:t>KNU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MutBench: Systematic Benchmarking for Viral Mutation Hotspot Detection | 경북대학교 대학원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3520440" cy="4572000"/>
          </a:xfrm>
          <a:prstGeom prst="rect">
            <a:avLst/>
          </a:prstGeom>
          <a:solidFill>
            <a:srgbClr val="F5F7FA"/>
          </a:solidFill>
          <a:ln w="3810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457200"/>
          <a:lstStyle/>
          <a:p>
            <a:pPr algn="ctr">
              <a:defRPr sz="5400" b="1">
                <a:solidFill>
                  <a:srgbClr val="2E5090"/>
                </a:solidFill>
                <a:latin typeface="맑은 고딕"/>
              </a:defRPr>
            </a:pPr>
            <a:r>
              <a:t>9</a:t>
            </a:r>
          </a:p>
          <a:p>
            <a:pPr algn="ctr">
              <a:spcBef>
                <a:spcPts val="1200"/>
              </a:spcBef>
              <a:defRPr sz="2200" b="1">
                <a:solidFill>
                  <a:srgbClr val="333333"/>
                </a:solidFill>
                <a:latin typeface="맑은 고딕"/>
              </a:defRPr>
            </a:pPr>
            <a:r>
              <a:t>병원체</a:t>
            </a:r>
          </a:p>
          <a:p>
            <a:pPr algn="ctr">
              <a:spcBef>
                <a:spcPts val="1600"/>
              </a:spcBef>
              <a:defRPr sz="1300">
                <a:solidFill>
                  <a:srgbClr val="888888"/>
                </a:solidFill>
                <a:latin typeface="맑은 고딕"/>
              </a:defRPr>
            </a:pPr>
            <a:r>
              <a:t>SARS-CoV-2, HIV, Influenza,</a:t>
            </a:r>
            <a:br/>
            <a:r>
              <a:t>Dengue, HCV, RSV,</a:t>
            </a:r>
            <a:br/>
            <a:r>
              <a:t>Norovirus, MERS, H3N2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4256" y="1280160"/>
            <a:ext cx="3520440" cy="4572000"/>
          </a:xfrm>
          <a:prstGeom prst="rect">
            <a:avLst/>
          </a:prstGeom>
          <a:solidFill>
            <a:srgbClr val="F5F7FA"/>
          </a:solidFill>
          <a:ln w="38100">
            <a:solidFill>
              <a:srgbClr val="1A7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457200"/>
          <a:lstStyle/>
          <a:p>
            <a:pPr algn="ctr">
              <a:defRPr sz="5400" b="1">
                <a:solidFill>
                  <a:srgbClr val="1A7A4C"/>
                </a:solidFill>
                <a:latin typeface="맑은 고딕"/>
              </a:defRPr>
            </a:pPr>
            <a:r>
              <a:t>2,544</a:t>
            </a:r>
          </a:p>
          <a:p>
            <a:pPr algn="ctr">
              <a:spcBef>
                <a:spcPts val="1200"/>
              </a:spcBef>
              <a:defRPr sz="2200" b="1">
                <a:solidFill>
                  <a:srgbClr val="333333"/>
                </a:solidFill>
                <a:latin typeface="맑은 고딕"/>
              </a:defRPr>
            </a:pPr>
            <a:r>
              <a:t>평가 조합</a:t>
            </a:r>
          </a:p>
          <a:p>
            <a:pPr algn="ctr">
              <a:spcBef>
                <a:spcPts val="1600"/>
              </a:spcBef>
              <a:defRPr sz="1300">
                <a:solidFill>
                  <a:srgbClr val="888888"/>
                </a:solidFill>
                <a:latin typeface="맑은 고딕"/>
              </a:defRPr>
            </a:pPr>
            <a:r>
              <a:t>9 scoring × 39 detection</a:t>
            </a:r>
            <a:br/>
            <a:r>
              <a:t>× 9 pathogens</a:t>
            </a:r>
            <a:br/>
            <a:r>
              <a:t>(multilayer GT 기반)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9872" y="1280160"/>
            <a:ext cx="3520440" cy="4572000"/>
          </a:xfrm>
          <a:prstGeom prst="rect">
            <a:avLst/>
          </a:prstGeom>
          <a:solidFill>
            <a:srgbClr val="F5F7FA"/>
          </a:solidFill>
          <a:ln w="38100"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457200"/>
          <a:lstStyle/>
          <a:p>
            <a:pPr algn="ctr">
              <a:defRPr sz="5400" b="1">
                <a:solidFill>
                  <a:srgbClr val="8B4513"/>
                </a:solidFill>
                <a:latin typeface="맑은 고딕"/>
              </a:defRPr>
            </a:pPr>
            <a:r>
              <a:t>4</a:t>
            </a:r>
          </a:p>
          <a:p>
            <a:pPr algn="ctr">
              <a:spcBef>
                <a:spcPts val="1200"/>
              </a:spcBef>
              <a:defRPr sz="2200" b="1">
                <a:solidFill>
                  <a:srgbClr val="333333"/>
                </a:solidFill>
                <a:latin typeface="맑은 고딕"/>
              </a:defRPr>
            </a:pPr>
            <a:r>
              <a:t>통계 검정</a:t>
            </a:r>
          </a:p>
          <a:p>
            <a:pPr algn="ctr">
              <a:spcBef>
                <a:spcPts val="1600"/>
              </a:spcBef>
              <a:defRPr sz="1300">
                <a:solidFill>
                  <a:srgbClr val="888888"/>
                </a:solidFill>
                <a:latin typeface="맑은 고딕"/>
              </a:defRPr>
            </a:pPr>
            <a:r>
              <a:t>ANOVA (ω²)</a:t>
            </a:r>
            <a:br/>
            <a:r>
              <a:t>Friedman (χ²)</a:t>
            </a:r>
            <a:br/>
            <a:r>
              <a:t>LOPO CV</a:t>
            </a:r>
            <a:br/>
            <a:r>
              <a:t>Permutation test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ANOVA: 분산 분해</a:t>
            </a:r>
          </a:p>
        </p:txBody>
      </p:sp>
      <p:sp>
        <p:nvSpPr>
          <p:cNvPr id="4" name="Oval 3"/>
          <p:cNvSpPr/>
          <p:nvPr/>
        </p:nvSpPr>
        <p:spPr>
          <a:xfrm>
            <a:off x="11183112" y="1371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맑은 고딕"/>
              </a:defRPr>
            </a:pPr>
            <a:r>
              <a:t>KNU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MutBench: Systematic Benchmarking for Viral Mutation Hotspot Detection | 경북대학교 대학원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16</a:t>
            </a:r>
          </a:p>
        </p:txBody>
      </p:sp>
      <p:pic>
        <p:nvPicPr>
          <p:cNvPr id="8" name="Picture 7" descr="variance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6858000" cy="4572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80960" y="1005840"/>
            <a:ext cx="3959352" cy="1463040"/>
          </a:xfrm>
          <a:prstGeom prst="rect">
            <a:avLst/>
          </a:prstGeom>
          <a:solidFill>
            <a:srgbClr val="F5F7FA"/>
          </a:solidFill>
          <a:ln w="2540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2200" b="1">
                <a:solidFill>
                  <a:srgbClr val="2E5090"/>
                </a:solidFill>
                <a:latin typeface="맑은 고딕"/>
              </a:defRPr>
            </a:pPr>
            <a:r>
              <a:t>ω² = 35%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맑은 고딕"/>
              </a:defRPr>
            </a:pPr>
            <a:r>
              <a:t>Detection: 탐지 방법 선택이</a:t>
            </a:r>
            <a:br/>
            <a:r>
              <a:t>가장 큰 영향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2651760"/>
            <a:ext cx="3959352" cy="1463040"/>
          </a:xfrm>
          <a:prstGeom prst="rect">
            <a:avLst/>
          </a:prstGeom>
          <a:solidFill>
            <a:srgbClr val="F5F7FA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2200" b="1">
                <a:solidFill>
                  <a:srgbClr val="E74C3C"/>
                </a:solidFill>
                <a:latin typeface="맑은 고딕"/>
              </a:defRPr>
            </a:pPr>
            <a:r>
              <a:t>ω² = 28.5%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맑은 고딕"/>
              </a:defRPr>
            </a:pPr>
            <a:r>
              <a:t>Pathogen×Method: 병원체-방법 상호작용</a:t>
            </a:r>
            <a:br/>
            <a:r>
              <a:t>(핵심 발견)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4297680"/>
            <a:ext cx="3959352" cy="1463040"/>
          </a:xfrm>
          <a:prstGeom prst="rect">
            <a:avLst/>
          </a:prstGeom>
          <a:solidFill>
            <a:srgbClr val="F5F7FA"/>
          </a:solidFill>
          <a:ln w="25400">
            <a:solidFill>
              <a:srgbClr val="1A7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2200" b="1">
                <a:solidFill>
                  <a:srgbClr val="1A7A4C"/>
                </a:solidFill>
                <a:latin typeface="맑은 고딕"/>
              </a:defRPr>
            </a:pPr>
            <a:r>
              <a:t>ω² = 8.3%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맑은 고딕"/>
              </a:defRPr>
            </a:pPr>
            <a:r>
              <a:t>Scoring: 점수화 방법의</a:t>
            </a:r>
            <a:br/>
            <a:r>
              <a:t>상대적 낮은 영향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병원체별 최적 조합</a:t>
            </a:r>
          </a:p>
        </p:txBody>
      </p:sp>
      <p:sp>
        <p:nvSpPr>
          <p:cNvPr id="4" name="Oval 3"/>
          <p:cNvSpPr/>
          <p:nvPr/>
        </p:nvSpPr>
        <p:spPr>
          <a:xfrm>
            <a:off x="11183112" y="1371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맑은 고딕"/>
              </a:defRPr>
            </a:pPr>
            <a:r>
              <a:t>KNU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MutBench: Systematic Benchmarking for Viral Mutation Hotspot Detection | 경북대학교 대학원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17</a:t>
            </a:r>
          </a:p>
        </p:txBody>
      </p:sp>
      <p:pic>
        <p:nvPicPr>
          <p:cNvPr id="8" name="Picture 7" descr="cross_pathogen_to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7315200" cy="47548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38160" y="1005840"/>
            <a:ext cx="3502152" cy="2286000"/>
          </a:xfrm>
          <a:prstGeom prst="rect">
            <a:avLst/>
          </a:prstGeom>
          <a:solidFill>
            <a:srgbClr val="FFF5E6"/>
          </a:solidFill>
          <a:ln w="381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5400" b="1">
                <a:solidFill>
                  <a:srgbClr val="E74C3C"/>
                </a:solidFill>
                <a:latin typeface="맑은 고딕"/>
              </a:defRPr>
            </a:pPr>
            <a:r>
              <a:t>9/9</a:t>
            </a:r>
          </a:p>
          <a:p>
            <a:pPr algn="ctr">
              <a:spcBef>
                <a:spcPts val="800"/>
              </a:spcBef>
              <a:defRPr sz="1600">
                <a:solidFill>
                  <a:srgbClr val="333333"/>
                </a:solidFill>
                <a:latin typeface="맑은 고딕"/>
              </a:defRPr>
            </a:pPr>
            <a:r>
              <a:t>unique best</a:t>
            </a:r>
            <a:br/>
            <a:r>
              <a:t>combinations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3566160"/>
            <a:ext cx="3502152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8B4513"/>
                </a:solidFill>
                <a:latin typeface="맑은 고딕"/>
              </a:defRPr>
            </a:pPr>
            <a:r>
              <a:t>의미</a:t>
            </a:r>
          </a:p>
          <a:p>
            <a:pPr>
              <a:defRPr sz="600" b="0">
                <a:solidFill>
                  <a:srgbClr val="333333"/>
                </a:solidFill>
                <a:latin typeface="맑은 고딕"/>
              </a:defRPr>
            </a:pPr>
          </a:p>
          <a:p>
            <a:pPr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9개 병원체 모두에서 서로</a:t>
            </a:r>
          </a:p>
          <a:p>
            <a:pPr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다른 scoring-detection 조합이</a:t>
            </a:r>
          </a:p>
          <a:p>
            <a:pPr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최고 성능을 달성</a:t>
            </a:r>
          </a:p>
          <a:p>
            <a:pPr>
              <a:defRPr sz="600" b="0">
                <a:solidFill>
                  <a:srgbClr val="333333"/>
                </a:solidFill>
                <a:latin typeface="맑은 고딕"/>
              </a:defRPr>
            </a:pPr>
          </a:p>
          <a:p>
            <a:pPr>
              <a:defRPr sz="1300" b="1">
                <a:solidFill>
                  <a:srgbClr val="E74C3C"/>
                </a:solidFill>
                <a:latin typeface="맑은 고딕"/>
              </a:defRPr>
            </a:pPr>
            <a:r>
              <a:t>→ 범용 최적 방법은 존재하지 않음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Friedman 검정 및 LOPO</a:t>
            </a:r>
          </a:p>
        </p:txBody>
      </p:sp>
      <p:sp>
        <p:nvSpPr>
          <p:cNvPr id="4" name="Oval 3"/>
          <p:cNvSpPr/>
          <p:nvPr/>
        </p:nvSpPr>
        <p:spPr>
          <a:xfrm>
            <a:off x="11183112" y="1371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맑은 고딕"/>
              </a:defRPr>
            </a:pPr>
            <a:r>
              <a:t>KNU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MutBench: Systematic Benchmarking for Viral Mutation Hotspot Detection | 경북대학교 대학원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97280"/>
            <a:ext cx="5349240" cy="4754880"/>
          </a:xfrm>
          <a:prstGeom prst="rect">
            <a:avLst/>
          </a:prstGeom>
          <a:solidFill>
            <a:srgbClr val="F5F7FA"/>
          </a:solidFill>
          <a:ln w="25400"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l">
              <a:defRPr sz="2000" b="1">
                <a:solidFill>
                  <a:srgbClr val="8B4513"/>
                </a:solidFill>
                <a:latin typeface="맑은 고딕"/>
              </a:defRPr>
            </a:pPr>
            <a:r>
              <a:t>Friedman 검정</a:t>
            </a:r>
          </a:p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</a:p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Top-20 조합 간 순위 비교</a:t>
            </a:r>
          </a:p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</a:p>
          <a:p>
            <a:pPr algn="ctr">
              <a:defRPr sz="2800" b="1">
                <a:solidFill>
                  <a:srgbClr val="E74C3C"/>
                </a:solidFill>
                <a:latin typeface="맑은 고딕"/>
              </a:defRPr>
            </a:pPr>
            <a:r>
              <a:t>χ² = 42.44</a:t>
            </a:r>
          </a:p>
          <a:p>
            <a:pPr algn="ctr">
              <a:defRPr sz="2800" b="1">
                <a:solidFill>
                  <a:srgbClr val="E74C3C"/>
                </a:solidFill>
                <a:latin typeface="맑은 고딕"/>
              </a:defRPr>
            </a:pPr>
            <a:r>
              <a:t>p = 0.0015</a:t>
            </a:r>
          </a:p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</a:p>
          <a:p>
            <a:pPr algn="l"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→ 통계적으로 유의한 순위 차이 존재</a:t>
            </a:r>
          </a:p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→ Top-20 내에서도 성능 차이가 유의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1072" y="1097280"/>
            <a:ext cx="5349240" cy="4754880"/>
          </a:xfrm>
          <a:prstGeom prst="rect">
            <a:avLst/>
          </a:prstGeom>
          <a:solidFill>
            <a:srgbClr val="F5F7FA"/>
          </a:solidFill>
          <a:ln w="25400"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2000" b="1">
                <a:solidFill>
                  <a:srgbClr val="8B4513"/>
                </a:solidFill>
                <a:latin typeface="맑은 고딕"/>
              </a:defRPr>
            </a:pPr>
            <a:r>
              <a:t>LOPO (Leave-One-Pathogen-Out)</a:t>
            </a:r>
          </a:p>
          <a:p>
            <a:pPr>
              <a:defRPr sz="800" b="0">
                <a:solidFill>
                  <a:srgbClr val="333333"/>
                </a:solidFill>
                <a:latin typeface="맑은 고딕"/>
              </a:defRPr>
            </a:pPr>
          </a:p>
          <a:p>
            <a:pPr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한 병원체를 제외하고 훈련 →</a:t>
            </a:r>
          </a:p>
          <a:p>
            <a:pPr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제외된 병원체에서 최적 예측</a:t>
            </a:r>
          </a:p>
          <a:p>
            <a:pPr>
              <a:defRPr sz="800" b="0">
                <a:solidFill>
                  <a:srgbClr val="333333"/>
                </a:solidFill>
                <a:latin typeface="맑은 고딕"/>
              </a:defRPr>
            </a:pPr>
          </a:p>
          <a:p>
            <a:pPr algn="ctr">
              <a:defRPr sz="4800" b="1">
                <a:solidFill>
                  <a:srgbClr val="E74C3C"/>
                </a:solidFill>
                <a:latin typeface="맑은 고딕"/>
              </a:defRPr>
            </a:pPr>
            <a:r>
              <a:t>0/9</a:t>
            </a:r>
          </a:p>
          <a:p>
            <a:pPr algn="ctr">
              <a:spcBef>
                <a:spcPts val="800"/>
              </a:spcBef>
              <a:defRPr sz="1600">
                <a:solidFill>
                  <a:srgbClr val="333333"/>
                </a:solidFill>
                <a:latin typeface="맑은 고딕"/>
              </a:defRPr>
            </a:pPr>
            <a:r>
              <a:t>일치율 (match)</a:t>
            </a:r>
          </a:p>
          <a:p>
            <a:pPr>
              <a:spcBef>
                <a:spcPts val="800"/>
              </a:spcBef>
              <a:defRPr sz="1300">
                <a:solidFill>
                  <a:srgbClr val="E74C3C"/>
                </a:solidFill>
                <a:latin typeface="맑은 고딕"/>
              </a:defRPr>
            </a:pPr>
            <a:r>
              <a:t>→ 다른 병원체의 최적 조합으로</a:t>
            </a:r>
            <a:br/>
            <a:r>
              <a:t>새 병원체 예측 불가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ESM-2 교차 패러다임 검증</a:t>
            </a:r>
          </a:p>
        </p:txBody>
      </p:sp>
      <p:sp>
        <p:nvSpPr>
          <p:cNvPr id="4" name="Oval 3"/>
          <p:cNvSpPr/>
          <p:nvPr/>
        </p:nvSpPr>
        <p:spPr>
          <a:xfrm>
            <a:off x="11183112" y="1371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맑은 고딕"/>
              </a:defRPr>
            </a:pPr>
            <a:r>
              <a:t>KNU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MutBench: Systematic Benchmarking for Viral Mutation Hotspot Detection | 경북대학교 대학원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88720"/>
          <a:ext cx="1109167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병원체</a:t>
                      </a:r>
                    </a:p>
                  </a:txBody>
                  <a:tcPr>
                    <a:solidFill>
                      <a:srgbClr val="8B451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ESM-2 Best Rank</a:t>
                      </a:r>
                    </a:p>
                  </a:txBody>
                  <a:tcPr>
                    <a:solidFill>
                      <a:srgbClr val="8B451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기존 Best Method</a:t>
                      </a:r>
                    </a:p>
                  </a:txBody>
                  <a:tcPr>
                    <a:solidFill>
                      <a:srgbClr val="8B451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기존 Rank</a:t>
                      </a:r>
                    </a:p>
                  </a:txBody>
                  <a:tcPr>
                    <a:solidFill>
                      <a:srgbClr val="8B4513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SARS-CoV-2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Top-5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Wavelet+Percentile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HIV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Top-10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Entropy+MAD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Influenza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Top-3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Conservation+IQR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Dengue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Top-15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KL-div+HDBSCAN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HCV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Top-8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H-score+Z-score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4754880"/>
            <a:ext cx="11091672" cy="1097280"/>
          </a:xfrm>
          <a:prstGeom prst="rect">
            <a:avLst/>
          </a:prstGeom>
          <a:solidFill>
            <a:srgbClr val="E8F4FD"/>
          </a:solidFill>
          <a:ln w="2540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2E5090"/>
                </a:solidFill>
                <a:latin typeface="맑은 고딕"/>
              </a:defRPr>
            </a:pPr>
            <a:r>
              <a:t>ESM-2 protein language model은 새로운 scoring 패러다임으로서 경쟁력 확인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그러나 병원체에 따라 순위 변동 → 병원체 특이성 재확인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핵심 발견: 4가지 증거</a:t>
            </a:r>
          </a:p>
        </p:txBody>
      </p:sp>
      <p:sp>
        <p:nvSpPr>
          <p:cNvPr id="4" name="Oval 3"/>
          <p:cNvSpPr/>
          <p:nvPr/>
        </p:nvSpPr>
        <p:spPr>
          <a:xfrm>
            <a:off x="11183112" y="1371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맑은 고딕"/>
              </a:defRPr>
            </a:pPr>
            <a:r>
              <a:t>KNU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MutBench: Systematic Benchmarking for Viral Mutation Hotspot Detection | 경북대학교 대학원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97280"/>
            <a:ext cx="5349240" cy="2286000"/>
          </a:xfrm>
          <a:prstGeom prst="rect">
            <a:avLst/>
          </a:prstGeom>
          <a:solidFill>
            <a:srgbClr val="E8F4FD"/>
          </a:solidFill>
          <a:ln w="3810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3600" b="1">
                <a:solidFill>
                  <a:srgbClr val="2E5090"/>
                </a:solidFill>
                <a:latin typeface="맑은 고딕"/>
              </a:defRPr>
            </a:pPr>
            <a:r>
              <a:t>ω²=28.5%</a:t>
            </a:r>
          </a:p>
          <a:p>
            <a:pPr algn="ctr">
              <a:spcBef>
                <a:spcPts val="600"/>
              </a:spcBef>
              <a:defRPr sz="1800" b="1">
                <a:solidFill>
                  <a:srgbClr val="333333"/>
                </a:solidFill>
                <a:latin typeface="맑은 고딕"/>
              </a:defRPr>
            </a:pPr>
            <a:r>
              <a:t>상호작용 효과</a:t>
            </a:r>
          </a:p>
          <a:p>
            <a:pPr algn="ctr">
              <a:spcBef>
                <a:spcPts val="400"/>
              </a:spcBef>
              <a:defRPr sz="1300">
                <a:solidFill>
                  <a:srgbClr val="888888"/>
                </a:solidFill>
                <a:latin typeface="맑은 고딕"/>
              </a:defRPr>
            </a:pPr>
            <a:r>
              <a:t>병원체×방법 상호작용이</a:t>
            </a:r>
            <a:br/>
            <a:r>
              <a:t>전체 분산의 28.5% 설명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1072" y="1097280"/>
            <a:ext cx="5349240" cy="2286000"/>
          </a:xfrm>
          <a:prstGeom prst="rect">
            <a:avLst/>
          </a:prstGeom>
          <a:solidFill>
            <a:srgbClr val="FDEDEC"/>
          </a:solidFill>
          <a:ln w="381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3600" b="1">
                <a:solidFill>
                  <a:srgbClr val="E74C3C"/>
                </a:solidFill>
                <a:latin typeface="맑은 고딕"/>
              </a:defRPr>
            </a:pPr>
            <a:r>
              <a:t>9/9</a:t>
            </a:r>
          </a:p>
          <a:p>
            <a:pPr algn="ctr">
              <a:spcBef>
                <a:spcPts val="600"/>
              </a:spcBef>
              <a:defRPr sz="1800" b="1">
                <a:solidFill>
                  <a:srgbClr val="333333"/>
                </a:solidFill>
                <a:latin typeface="맑은 고딕"/>
              </a:defRPr>
            </a:pPr>
            <a:r>
              <a:t>고유 최적 조합</a:t>
            </a:r>
          </a:p>
          <a:p>
            <a:pPr algn="ctr">
              <a:spcBef>
                <a:spcPts val="400"/>
              </a:spcBef>
              <a:defRPr sz="1300">
                <a:solidFill>
                  <a:srgbClr val="888888"/>
                </a:solidFill>
                <a:latin typeface="맑은 고딕"/>
              </a:defRPr>
            </a:pPr>
            <a:r>
              <a:t>모든 병원체에서</a:t>
            </a:r>
            <a:br/>
            <a:r>
              <a:t>서로 다른 최적 방법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57600"/>
            <a:ext cx="5349240" cy="2286000"/>
          </a:xfrm>
          <a:prstGeom prst="rect">
            <a:avLst/>
          </a:prstGeom>
          <a:solidFill>
            <a:srgbClr val="E8F9EF"/>
          </a:solidFill>
          <a:ln w="38100">
            <a:solidFill>
              <a:srgbClr val="1A7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3600" b="1">
                <a:solidFill>
                  <a:srgbClr val="1A7A4C"/>
                </a:solidFill>
                <a:latin typeface="맑은 고딕"/>
              </a:defRPr>
            </a:pPr>
            <a:r>
              <a:t>p=0.0015</a:t>
            </a:r>
          </a:p>
          <a:p>
            <a:pPr algn="ctr">
              <a:spcBef>
                <a:spcPts val="600"/>
              </a:spcBef>
              <a:defRPr sz="1800" b="1">
                <a:solidFill>
                  <a:srgbClr val="333333"/>
                </a:solidFill>
                <a:latin typeface="맑은 고딕"/>
              </a:defRPr>
            </a:pPr>
            <a:r>
              <a:t>Friedman 유의</a:t>
            </a:r>
          </a:p>
          <a:p>
            <a:pPr algn="ctr">
              <a:spcBef>
                <a:spcPts val="400"/>
              </a:spcBef>
              <a:defRPr sz="1300">
                <a:solidFill>
                  <a:srgbClr val="888888"/>
                </a:solidFill>
                <a:latin typeface="맑은 고딕"/>
              </a:defRPr>
            </a:pPr>
            <a:r>
              <a:t>Top-20 조합 간</a:t>
            </a:r>
            <a:br/>
            <a:r>
              <a:t>유의한 순위 차이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3657600"/>
            <a:ext cx="5349240" cy="2286000"/>
          </a:xfrm>
          <a:prstGeom prst="rect">
            <a:avLst/>
          </a:prstGeom>
          <a:solidFill>
            <a:srgbClr val="FFF5E6"/>
          </a:solidFill>
          <a:ln w="38100"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3600" b="1">
                <a:solidFill>
                  <a:srgbClr val="8B4513"/>
                </a:solidFill>
                <a:latin typeface="맑은 고딕"/>
              </a:defRPr>
            </a:pPr>
            <a:r>
              <a:t>0/9</a:t>
            </a:r>
          </a:p>
          <a:p>
            <a:pPr algn="ctr">
              <a:spcBef>
                <a:spcPts val="600"/>
              </a:spcBef>
              <a:defRPr sz="1800" b="1">
                <a:solidFill>
                  <a:srgbClr val="333333"/>
                </a:solidFill>
                <a:latin typeface="맑은 고딕"/>
              </a:defRPr>
            </a:pPr>
            <a:r>
              <a:t>LOPO 실패</a:t>
            </a:r>
          </a:p>
          <a:p>
            <a:pPr algn="ctr">
              <a:spcBef>
                <a:spcPts val="400"/>
              </a:spcBef>
              <a:defRPr sz="1300">
                <a:solidFill>
                  <a:srgbClr val="888888"/>
                </a:solidFill>
                <a:latin typeface="맑은 고딕"/>
              </a:defRPr>
            </a:pPr>
            <a:r>
              <a:t>Leave-One-Pathogen-Out</a:t>
            </a:r>
            <a:br/>
            <a:r>
              <a:t>교차 예측 불가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PAHD: 적응형 핫스팟 탐지</a:t>
            </a:r>
          </a:p>
        </p:txBody>
      </p:sp>
      <p:sp>
        <p:nvSpPr>
          <p:cNvPr id="4" name="Oval 3"/>
          <p:cNvSpPr/>
          <p:nvPr/>
        </p:nvSpPr>
        <p:spPr>
          <a:xfrm>
            <a:off x="11183112" y="1371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맑은 고딕"/>
              </a:defRPr>
            </a:pPr>
            <a:r>
              <a:t>KNU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MutBench: Systematic Benchmarking for Viral Mutation Hotspot Detection | 경북대학교 대학원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3520440" cy="2011680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Step 1</a:t>
            </a:r>
            <a:br/>
            <a:r>
              <a:t>프로파일 추출</a:t>
            </a:r>
          </a:p>
          <a:p>
            <a:pPr algn="ctr">
              <a:spcBef>
                <a:spcPts val="800"/>
              </a:spcBef>
              <a:defRPr sz="1300">
                <a:solidFill>
                  <a:srgbClr val="E0E0E0"/>
                </a:solidFill>
                <a:latin typeface="맑은 고딕"/>
              </a:defRPr>
            </a:pPr>
            <a:r>
              <a:t>병원체 MSA에서</a:t>
            </a:r>
            <a:br/>
            <a:r>
              <a:t>entropy, length, diversity</a:t>
            </a:r>
            <a:br/>
            <a:r>
              <a:t>프로파일 추출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097280"/>
            <a:ext cx="3520440" cy="2011680"/>
          </a:xfrm>
          <a:prstGeom prst="round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Step 2</a:t>
            </a:r>
            <a:br/>
            <a:r>
              <a:t>유사도 매칭</a:t>
            </a:r>
          </a:p>
          <a:p>
            <a:pPr algn="ctr">
              <a:spcBef>
                <a:spcPts val="800"/>
              </a:spcBef>
              <a:defRPr sz="1300">
                <a:solidFill>
                  <a:srgbClr val="E0E0E0"/>
                </a:solidFill>
                <a:latin typeface="맑은 고딕"/>
              </a:defRPr>
            </a:pPr>
            <a:r>
              <a:t>MutBench DB에서</a:t>
            </a:r>
            <a:br/>
            <a:r>
              <a:t>가장 유사한 병원체</a:t>
            </a:r>
            <a:br/>
            <a:r>
              <a:t>프로파일 검색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097280"/>
            <a:ext cx="3520440" cy="2011680"/>
          </a:xfrm>
          <a:prstGeom prst="roundRect">
            <a:avLst/>
          </a:prstGeom>
          <a:solidFill>
            <a:srgbClr val="1A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Step 3</a:t>
            </a:r>
            <a:br/>
            <a:r>
              <a:t>Adaptive 선택</a:t>
            </a:r>
          </a:p>
          <a:p>
            <a:pPr algn="ctr">
              <a:spcBef>
                <a:spcPts val="800"/>
              </a:spcBef>
              <a:defRPr sz="1300">
                <a:solidFill>
                  <a:srgbClr val="E0E0E0"/>
                </a:solidFill>
                <a:latin typeface="맑은 고딕"/>
              </a:defRPr>
            </a:pPr>
            <a:r>
              <a:t>매칭된 병원체의</a:t>
            </a:r>
            <a:br/>
            <a:r>
              <a:t>최적 scoring-detection</a:t>
            </a:r>
            <a:br/>
            <a:r>
              <a:t>조합 적용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1737360"/>
            <a:ext cx="26517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>
                <a:solidFill>
                  <a:srgbClr val="333333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54696" y="1737360"/>
            <a:ext cx="26517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>
                <a:solidFill>
                  <a:srgbClr val="333333"/>
                </a:solidFill>
                <a:latin typeface="맑은 고딕"/>
              </a:defRPr>
            </a:pPr>
            <a:r>
              <a:t>→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3474720"/>
          <a:ext cx="1109167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방법</a:t>
                      </a:r>
                    </a:p>
                  </a:txBody>
                  <a:tcPr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Avg MCC</a:t>
                      </a:r>
                    </a:p>
                  </a:txBody>
                  <a:tcPr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vs FreqThresh</a:t>
                      </a:r>
                    </a:p>
                  </a:txBody>
                  <a:tcPr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vs SWAN</a:t>
                      </a:r>
                    </a:p>
                  </a:txBody>
                  <a:tcPr>
                    <a:solidFill>
                      <a:srgbClr val="6B3FA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PAHD Top-1</a:t>
                      </a:r>
                    </a:p>
                  </a:txBody>
                  <a:tcPr>
                    <a:solidFill>
                      <a:srgbClr val="F5E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0.352</a:t>
                      </a:r>
                    </a:p>
                  </a:txBody>
                  <a:tcPr>
                    <a:solidFill>
                      <a:srgbClr val="F5E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+42%</a:t>
                      </a:r>
                    </a:p>
                  </a:txBody>
                  <a:tcPr>
                    <a:solidFill>
                      <a:srgbClr val="F5E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+82%</a:t>
                      </a:r>
                    </a:p>
                  </a:txBody>
                  <a:tcPr>
                    <a:solidFill>
                      <a:srgbClr val="F5E6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PAHD Top-3 avg</a:t>
                      </a:r>
                    </a:p>
                  </a:txBody>
                  <a:tcPr>
                    <a:solidFill>
                      <a:srgbClr val="F5E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0.390</a:t>
                      </a:r>
                    </a:p>
                  </a:txBody>
                  <a:tcPr>
                    <a:solidFill>
                      <a:srgbClr val="F5E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+57%</a:t>
                      </a:r>
                    </a:p>
                  </a:txBody>
                  <a:tcPr>
                    <a:solidFill>
                      <a:srgbClr val="F5E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+102%</a:t>
                      </a:r>
                    </a:p>
                  </a:txBody>
                  <a:tcPr>
                    <a:solidFill>
                      <a:srgbClr val="F5E6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FreqThresh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+29%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SWAN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0.193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-22%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MutClust-Orig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0.138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-44%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-28%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계통 보정 및 영역 겹침 MCC</a:t>
            </a:r>
          </a:p>
        </p:txBody>
      </p:sp>
      <p:sp>
        <p:nvSpPr>
          <p:cNvPr id="4" name="Oval 3"/>
          <p:cNvSpPr/>
          <p:nvPr/>
        </p:nvSpPr>
        <p:spPr>
          <a:xfrm>
            <a:off x="11183112" y="1371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맑은 고딕"/>
              </a:defRPr>
            </a:pPr>
            <a:r>
              <a:t>KNU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MutBench: Systematic Benchmarking for Viral Mutation Hotspot Detection | 경북대학교 대학원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97280"/>
            <a:ext cx="5349240" cy="4754880"/>
          </a:xfrm>
          <a:prstGeom prst="rect">
            <a:avLst/>
          </a:prstGeom>
          <a:solidFill>
            <a:srgbClr val="F5F7FA"/>
          </a:solidFill>
          <a:ln w="2540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6B3FA0"/>
                </a:solidFill>
                <a:latin typeface="맑은 고딕"/>
              </a:defRPr>
            </a:pPr>
            <a:r>
              <a:t>계통발생적 보정 (Phylogenetic Correction)</a:t>
            </a:r>
          </a:p>
          <a:p>
            <a:pPr>
              <a:defRPr sz="800" b="0">
                <a:solidFill>
                  <a:srgbClr val="333333"/>
                </a:solidFill>
                <a:latin typeface="맑은 고딕"/>
              </a:defRPr>
            </a:pPr>
          </a:p>
          <a:p>
            <a:pPr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문제: 변이 빈도 ≠ 독립 사건</a:t>
            </a:r>
          </a:p>
          <a:p>
            <a:pPr>
              <a:defRPr sz="1300" b="0">
                <a:solidFill>
                  <a:srgbClr val="888888"/>
                </a:solidFill>
                <a:latin typeface="맑은 고딕"/>
              </a:defRPr>
            </a:pPr>
            <a:r>
              <a:t>(계통 구조로 인한 가짜 핫스팟)</a:t>
            </a:r>
          </a:p>
          <a:p>
            <a:pPr>
              <a:defRPr sz="600" b="0">
                <a:solidFill>
                  <a:srgbClr val="333333"/>
                </a:solidFill>
                <a:latin typeface="맑은 고딕"/>
              </a:defRPr>
            </a:pPr>
          </a:p>
          <a:p>
            <a:pPr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해결: TreeTime 기반 ancestral reconstruction</a:t>
            </a:r>
          </a:p>
          <a:p>
            <a:pPr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→ 독립 변이 이벤트만 카운트</a:t>
            </a:r>
          </a:p>
          <a:p>
            <a:pPr>
              <a:defRPr sz="600" b="0">
                <a:solidFill>
                  <a:srgbClr val="333333"/>
                </a:solidFill>
                <a:latin typeface="맑은 고딕"/>
              </a:defRPr>
            </a:pPr>
          </a:p>
          <a:p>
            <a:pPr>
              <a:defRPr sz="1400" b="1">
                <a:solidFill>
                  <a:srgbClr val="6B3FA0"/>
                </a:solidFill>
                <a:latin typeface="맑은 고딕"/>
              </a:defRPr>
            </a:pPr>
            <a:r>
              <a:t>결과:</a:t>
            </a:r>
          </a:p>
          <a:p>
            <a:pPr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• D614G: founder effect 확인</a:t>
            </a:r>
          </a:p>
          <a:p>
            <a:pPr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• 보정 후 rho = -0.876 → -0.412</a:t>
            </a:r>
          </a:p>
          <a:p>
            <a:pPr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• 진정한 적응 핫스팟 분리 가능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1072" y="1097280"/>
            <a:ext cx="5349240" cy="4754880"/>
          </a:xfrm>
          <a:prstGeom prst="rect">
            <a:avLst/>
          </a:prstGeom>
          <a:solidFill>
            <a:srgbClr val="F5F7FA"/>
          </a:solidFill>
          <a:ln w="2540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6B3FA0"/>
                </a:solidFill>
                <a:latin typeface="맑은 고딕"/>
              </a:defRPr>
            </a:pPr>
            <a:r>
              <a:t>영역 겹침 MCC 개선</a:t>
            </a:r>
          </a:p>
          <a:p>
            <a:pPr>
              <a:defRPr sz="800" b="0">
                <a:solidFill>
                  <a:srgbClr val="333333"/>
                </a:solidFill>
                <a:latin typeface="맑은 고딕"/>
              </a:defRPr>
            </a:pPr>
          </a:p>
          <a:p>
            <a:pPr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Position-level MCC (기존)</a:t>
            </a:r>
          </a:p>
          <a:p>
            <a:pPr algn="ctr">
              <a:spcBef>
                <a:spcPts val="800"/>
              </a:spcBef>
              <a:defRPr sz="3200" b="1">
                <a:solidFill>
                  <a:srgbClr val="888888"/>
                </a:solidFill>
                <a:latin typeface="맑은 고딕"/>
              </a:defRPr>
            </a:pPr>
            <a:r>
              <a:t>0.289</a:t>
            </a:r>
          </a:p>
          <a:p>
            <a:pPr algn="ctr">
              <a:spcBef>
                <a:spcPts val="600"/>
              </a:spcBef>
              <a:defRPr sz="1400">
                <a:solidFill>
                  <a:srgbClr val="333333"/>
                </a:solidFill>
                <a:latin typeface="맑은 고딕"/>
              </a:defRPr>
            </a:pPr>
            <a:r>
              <a:t>↓ Region-overlap MCC</a:t>
            </a:r>
          </a:p>
          <a:p>
            <a:pPr algn="ctr">
              <a:spcBef>
                <a:spcPts val="600"/>
              </a:spcBef>
              <a:defRPr sz="3200" b="1">
                <a:solidFill>
                  <a:srgbClr val="1A7A4C"/>
                </a:solidFill>
                <a:latin typeface="맑은 고딕"/>
              </a:defRPr>
            </a:pPr>
            <a:r>
              <a:t>0.638</a:t>
            </a:r>
          </a:p>
          <a:p>
            <a:pPr algn="ctr">
              <a:spcBef>
                <a:spcPts val="600"/>
              </a:spcBef>
              <a:defRPr sz="1400">
                <a:solidFill>
                  <a:srgbClr val="333333"/>
                </a:solidFill>
                <a:latin typeface="맑은 고딕"/>
              </a:defRPr>
            </a:pPr>
            <a:r>
              <a:t>↓ + Phylo correction</a:t>
            </a:r>
          </a:p>
          <a:p>
            <a:pPr algn="ctr">
              <a:spcBef>
                <a:spcPts val="600"/>
              </a:spcBef>
              <a:defRPr sz="3600" b="1">
                <a:solidFill>
                  <a:srgbClr val="E74C3C"/>
                </a:solidFill>
                <a:latin typeface="맑은 고딕"/>
              </a:defRPr>
            </a:pPr>
            <a:r>
              <a:t>0.712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MutBench vs 기존 방법</a:t>
            </a:r>
          </a:p>
        </p:txBody>
      </p:sp>
      <p:sp>
        <p:nvSpPr>
          <p:cNvPr id="4" name="Oval 3"/>
          <p:cNvSpPr/>
          <p:nvPr/>
        </p:nvSpPr>
        <p:spPr>
          <a:xfrm>
            <a:off x="11183112" y="1371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맑은 고딕"/>
              </a:defRPr>
            </a:pPr>
            <a:r>
              <a:t>KNU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MutBench: Systematic Benchmarking for Viral Mutation Hotspot Detection | 경북대학교 대학원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23</a:t>
            </a:r>
          </a:p>
        </p:txBody>
      </p:sp>
      <p:pic>
        <p:nvPicPr>
          <p:cNvPr id="8" name="Picture 7" descr="scoring_detec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6858000" cy="47548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80960" y="1005840"/>
            <a:ext cx="3959352" cy="4754880"/>
          </a:xfrm>
          <a:prstGeom prst="rect">
            <a:avLst/>
          </a:prstGeom>
          <a:solidFill>
            <a:srgbClr val="F5F7FA"/>
          </a:solidFill>
          <a:ln w="2540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800" b="1">
                <a:solidFill>
                  <a:srgbClr val="6B3FA0"/>
                </a:solidFill>
                <a:latin typeface="맑은 고딕"/>
              </a:defRPr>
            </a:pPr>
            <a:r>
              <a:t>MCC 비교 (평균)</a:t>
            </a:r>
          </a:p>
          <a:p>
            <a:pPr>
              <a:defRPr sz="600" b="0">
                <a:solidFill>
                  <a:srgbClr val="333333"/>
                </a:solidFill>
                <a:latin typeface="맑은 고딕"/>
              </a:defRPr>
            </a:pPr>
          </a:p>
          <a:p>
            <a:pPr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MutBench Top-3</a:t>
            </a:r>
          </a:p>
          <a:p>
            <a:pPr>
              <a:defRPr sz="2400" b="1">
                <a:solidFill>
                  <a:srgbClr val="1A7A4C"/>
                </a:solidFill>
                <a:latin typeface="맑은 고딕"/>
              </a:defRPr>
            </a:pPr>
            <a:r>
              <a:t>MCC = 0.390</a:t>
            </a:r>
          </a:p>
          <a:p>
            <a:pPr>
              <a:defRPr sz="600" b="0">
                <a:solidFill>
                  <a:srgbClr val="333333"/>
                </a:solidFill>
                <a:latin typeface="맑은 고딕"/>
              </a:defRPr>
            </a:pPr>
          </a:p>
          <a:p>
            <a:pPr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FreqThresh</a:t>
            </a:r>
          </a:p>
          <a:p>
            <a:pPr>
              <a:defRPr sz="2000" b="1">
                <a:solidFill>
                  <a:srgbClr val="2E5090"/>
                </a:solidFill>
                <a:latin typeface="맑은 고딕"/>
              </a:defRPr>
            </a:pPr>
            <a:r>
              <a:t>MCC = 0.248</a:t>
            </a:r>
          </a:p>
          <a:p>
            <a:pPr>
              <a:defRPr sz="600" b="0">
                <a:solidFill>
                  <a:srgbClr val="333333"/>
                </a:solidFill>
                <a:latin typeface="맑은 고딕"/>
              </a:defRPr>
            </a:pPr>
          </a:p>
          <a:p>
            <a:pPr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SWAN</a:t>
            </a:r>
          </a:p>
          <a:p>
            <a:pPr>
              <a:defRPr sz="2000" b="1">
                <a:solidFill>
                  <a:srgbClr val="F39C12"/>
                </a:solidFill>
                <a:latin typeface="맑은 고딕"/>
              </a:defRPr>
            </a:pPr>
            <a:r>
              <a:t>MCC = 0.193</a:t>
            </a:r>
          </a:p>
          <a:p>
            <a:pPr>
              <a:defRPr sz="600" b="0">
                <a:solidFill>
                  <a:srgbClr val="333333"/>
                </a:solidFill>
                <a:latin typeface="맑은 고딕"/>
              </a:defRPr>
            </a:pPr>
          </a:p>
          <a:p>
            <a:pPr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MutClust-Orig</a:t>
            </a:r>
          </a:p>
          <a:p>
            <a:pPr>
              <a:defRPr sz="2000" b="1">
                <a:solidFill>
                  <a:srgbClr val="E74C3C"/>
                </a:solidFill>
                <a:latin typeface="맑은 고딕"/>
              </a:defRPr>
            </a:pPr>
            <a:r>
              <a:t>MCC = 0.138</a:t>
            </a:r>
          </a:p>
          <a:p>
            <a:pPr>
              <a:defRPr sz="600" b="0">
                <a:solidFill>
                  <a:srgbClr val="333333"/>
                </a:solidFill>
                <a:latin typeface="맑은 고딕"/>
              </a:defRPr>
            </a:pPr>
          </a:p>
          <a:p>
            <a:pPr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Random baseline</a:t>
            </a:r>
          </a:p>
          <a:p>
            <a:pPr>
              <a:defRPr sz="2000" b="1">
                <a:solidFill>
                  <a:srgbClr val="888888"/>
                </a:solidFill>
                <a:latin typeface="맑은 고딕"/>
              </a:defRPr>
            </a:pPr>
            <a:r>
              <a:t>MCC = 0.001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논의</a:t>
            </a:r>
          </a:p>
        </p:txBody>
      </p:sp>
      <p:sp>
        <p:nvSpPr>
          <p:cNvPr id="4" name="Oval 3"/>
          <p:cNvSpPr/>
          <p:nvPr/>
        </p:nvSpPr>
        <p:spPr>
          <a:xfrm>
            <a:off x="11183112" y="1371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맑은 고딕"/>
              </a:defRPr>
            </a:pPr>
            <a:r>
              <a:t>KNU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MutBench: Systematic Benchmarking for Viral Mutation Hotspot Detection | 경북대학교 대학원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97280"/>
            <a:ext cx="3520440" cy="41148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병원체 특이성의 원인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352044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wrap="square"/>
          <a:lstStyle/>
          <a:p>
            <a:pPr algn="ctr"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Entropy-function 관계 병원체별 상이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예: Norovirus r=0.39 vs SARS-CoV-2 r=0.03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진화율, 게놈 크기, 재조합 빈도의 영향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기능적 제약의 병원체별 분포 차이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4256" y="1097280"/>
            <a:ext cx="352044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벤치마크의 한계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1508760"/>
            <a:ext cx="352044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wrap="square"/>
          <a:lstStyle/>
          <a:p>
            <a:pPr algn="ctr"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DMS 데이터: SARS-CoV-2 Spike에만 존재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Phylogenetic non-independence 완전 해결 미달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RNA 바이러스에 한정된 평가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시간에 따른 핫스팟 동적 변화 미반영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19872" y="1097280"/>
            <a:ext cx="3520440" cy="411480"/>
          </a:xfrm>
          <a:prstGeom prst="rect">
            <a:avLst/>
          </a:prstGeom>
          <a:solidFill>
            <a:srgbClr val="1A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실용적 함의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9872" y="1508760"/>
            <a:ext cx="352044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wrap="square"/>
          <a:lstStyle/>
          <a:p>
            <a:pPr algn="ctr"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새 병원체 → MutBench DB 프로파일 매칭 → 최적 방법 추천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백신 설계 시 탐지 방법 선택의 중요성 인식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다중 GT 사용으로 결과 신뢰도 향상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PAHD를 통한 자동화된 방법 선택 가능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기여, 한계, 향후 과제</a:t>
            </a:r>
          </a:p>
        </p:txBody>
      </p:sp>
      <p:sp>
        <p:nvSpPr>
          <p:cNvPr id="4" name="Oval 3"/>
          <p:cNvSpPr/>
          <p:nvPr/>
        </p:nvSpPr>
        <p:spPr>
          <a:xfrm>
            <a:off x="11183112" y="1371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맑은 고딕"/>
              </a:defRPr>
            </a:pPr>
            <a:r>
              <a:t>KNU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MutBench: Systematic Benchmarking for Viral Mutation Hotspot Detection | 경북대학교 대학원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97280"/>
            <a:ext cx="3520440" cy="411480"/>
          </a:xfrm>
          <a:prstGeom prst="rect">
            <a:avLst/>
          </a:prstGeom>
          <a:solidFill>
            <a:srgbClr val="1A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기여 (Contributions)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352044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wrap="square"/>
          <a:lstStyle/>
          <a:p>
            <a:pPr algn="ctr"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MutBench: 최초의 체계적 벤치마크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3-Layer GT로 편향 최소화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병원체 특이성 정량적 실증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PAHD 적응형 탐지 제안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9-pathogen 대규모 평가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4256" y="1097280"/>
            <a:ext cx="352044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한계 (Limitations)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1508760"/>
            <a:ext cx="352044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wrap="square"/>
          <a:lstStyle/>
          <a:p>
            <a:pPr algn="ctr"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RNA 바이러스에 한정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DMS = SARS-CoV-2 Spike만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계통 보정 완전하지 않음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시간적 동적 변화 미반영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DNA 바이러스 미포함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19872" y="1097280"/>
            <a:ext cx="3520440" cy="41148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향후 과제 (Future Work)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9872" y="1508760"/>
            <a:ext cx="352044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wrap="square"/>
          <a:lstStyle/>
          <a:p>
            <a:pPr algn="ctr"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DNA 바이러스 확장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실시간 핫스팟 모니터링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PLM 기반 scoring 강화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PAHD 자동화 시스템 개발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맑은 고딕"/>
              </a:defRPr>
            </a:pPr>
            <a:r>
              <a:t>• 웹 기반 MutBench 도구 공개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핵심 결론</a:t>
            </a:r>
          </a:p>
        </p:txBody>
      </p:sp>
      <p:sp>
        <p:nvSpPr>
          <p:cNvPr id="4" name="Oval 3"/>
          <p:cNvSpPr/>
          <p:nvPr/>
        </p:nvSpPr>
        <p:spPr>
          <a:xfrm>
            <a:off x="11183112" y="1371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맑은 고딕"/>
              </a:defRPr>
            </a:pPr>
            <a:r>
              <a:t>KNU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MutBench: Systematic Benchmarking for Viral Mutation Hotspot Detection | 경북대학교 대학원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28816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188720"/>
            <a:ext cx="9445752" cy="1828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바이러스 변이 핫스팟 탐지에 범용 최적 방법은 존재하지 않으며,</a:t>
            </a:r>
          </a:p>
          <a:p>
            <a:pPr algn="ctr">
              <a:spcBef>
                <a:spcPts val="800"/>
              </a:spcBef>
              <a:defRPr sz="2000" b="1">
                <a:solidFill>
                  <a:srgbClr val="FFD700"/>
                </a:solidFill>
                <a:latin typeface="맑은 고딕"/>
              </a:defRPr>
            </a:pPr>
            <a:r>
              <a:t>병원체 특성에 따른 적응적 방법 선택(PAHD)이 필수적이다.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474720"/>
            <a:ext cx="2651760" cy="2011680"/>
          </a:xfrm>
          <a:prstGeom prst="rect">
            <a:avLst/>
          </a:prstGeom>
          <a:solidFill>
            <a:srgbClr val="F5F7FA"/>
          </a:solidFill>
          <a:ln w="2540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3600" b="1">
                <a:solidFill>
                  <a:srgbClr val="2E5090"/>
                </a:solidFill>
                <a:latin typeface="맑은 고딕"/>
              </a:defRPr>
            </a:pPr>
            <a:r>
              <a:t>ω²=28.5%</a:t>
            </a:r>
          </a:p>
          <a:p>
            <a:pPr algn="ctr">
              <a:defRPr sz="1200">
                <a:solidFill>
                  <a:srgbClr val="333333"/>
                </a:solidFill>
                <a:latin typeface="맑은 고딕"/>
              </a:defRPr>
            </a:pPr>
            <a:r>
              <a:t>상호작용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3474720"/>
            <a:ext cx="2651760" cy="2011680"/>
          </a:xfrm>
          <a:prstGeom prst="rect">
            <a:avLst/>
          </a:prstGeom>
          <a:solidFill>
            <a:srgbClr val="F5F7FA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3600" b="1">
                <a:solidFill>
                  <a:srgbClr val="E74C3C"/>
                </a:solidFill>
                <a:latin typeface="맑은 고딕"/>
              </a:defRPr>
            </a:pPr>
            <a:r>
              <a:t>9/9 unique</a:t>
            </a:r>
          </a:p>
          <a:p>
            <a:pPr algn="ctr">
              <a:defRPr sz="1200">
                <a:solidFill>
                  <a:srgbClr val="333333"/>
                </a:solidFill>
                <a:latin typeface="맑은 고딕"/>
              </a:defRPr>
            </a:pPr>
            <a:r>
              <a:t>최적 조합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474720"/>
            <a:ext cx="2651760" cy="2011680"/>
          </a:xfrm>
          <a:prstGeom prst="rect">
            <a:avLst/>
          </a:prstGeom>
          <a:solidFill>
            <a:srgbClr val="F5F7FA"/>
          </a:solidFill>
          <a:ln w="25400">
            <a:solidFill>
              <a:srgbClr val="1A7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3600" b="1">
                <a:solidFill>
                  <a:srgbClr val="1A7A4C"/>
                </a:solidFill>
                <a:latin typeface="맑은 고딕"/>
              </a:defRPr>
            </a:pPr>
            <a:r>
              <a:t>p=0.0015</a:t>
            </a:r>
          </a:p>
          <a:p>
            <a:pPr algn="ctr">
              <a:defRPr sz="1200">
                <a:solidFill>
                  <a:srgbClr val="333333"/>
                </a:solidFill>
                <a:latin typeface="맑은 고딕"/>
              </a:defRPr>
            </a:pPr>
            <a:r>
              <a:t>Friedman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3474720"/>
            <a:ext cx="2651760" cy="2011680"/>
          </a:xfrm>
          <a:prstGeom prst="rect">
            <a:avLst/>
          </a:prstGeom>
          <a:solidFill>
            <a:srgbClr val="F5F7FA"/>
          </a:solidFill>
          <a:ln w="25400"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3600" b="1">
                <a:solidFill>
                  <a:srgbClr val="8B4513"/>
                </a:solidFill>
                <a:latin typeface="맑은 고딕"/>
              </a:defRPr>
            </a:pPr>
            <a:r>
              <a:t>0/9 LOPO</a:t>
            </a:r>
          </a:p>
          <a:p>
            <a:pPr algn="ctr">
              <a:defRPr sz="1200">
                <a:solidFill>
                  <a:srgbClr val="333333"/>
                </a:solidFill>
                <a:latin typeface="맑은 고딕"/>
              </a:defRPr>
            </a:pPr>
            <a:r>
              <a:t>교차 예측 실패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83112" y="1371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2A4A"/>
                </a:solidFill>
                <a:latin typeface="맑은 고딕"/>
              </a:defRPr>
            </a:pPr>
            <a:r>
              <a:t>KNU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109167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0">
                <a:solidFill>
                  <a:srgbClr val="B0C4DE"/>
                </a:solidFill>
                <a:latin typeface="맑은 고딕"/>
              </a:defRPr>
            </a:pPr>
            <a:r>
              <a:t>Thank you for your attention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840480"/>
            <a:ext cx="5788152" cy="2011680"/>
          </a:xfrm>
          <a:prstGeom prst="rect">
            <a:avLst/>
          </a:prstGeom>
          <a:solidFill>
            <a:srgbClr val="F5F7FA"/>
          </a:solidFill>
          <a:ln w="2540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Aft>
                <a:spcPts val="400"/>
              </a:spcAft>
              <a:defRPr sz="1800" b="1">
                <a:solidFill>
                  <a:srgbClr val="333333"/>
                </a:solidFill>
                <a:latin typeface="맑은 고딕"/>
              </a:defRPr>
            </a:pPr>
            <a:r>
              <a:t>권휘준 (Hwijun Kwon)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888888"/>
                </a:solidFill>
                <a:latin typeface="맑은 고딕"/>
              </a:defRPr>
            </a:pPr>
            <a:r>
              <a:t>경북대학교 대학원 컴퓨터학부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888888"/>
                </a:solidFill>
                <a:latin typeface="맑은 고딕"/>
              </a:defRPr>
            </a:pPr>
            <a:r>
              <a:t>지도교수: 정인욱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888888"/>
                </a:solidFill>
                <a:latin typeface="맑은 고딕"/>
              </a:defRPr>
            </a:pPr>
            <a:r>
              <a:t>2026년 3월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