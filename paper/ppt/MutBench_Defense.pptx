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6" r:id="rId37"/>
    <p:sldId id="287" r:id="rId3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468880"/>
            <a:ext cx="8503920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914400"/>
            <a:ext cx="8503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defRPr sz="3600" b="1">
                <a:solidFill>
                  <a:srgbClr val="FFFFFF"/>
                </a:solidFill>
              </a:defRPr>
            </a:pPr>
            <a:r>
              <a:t>MutBench: Systematic Benchmarking</a:t>
            </a:r>
            <a:br/>
            <a:r>
              <a:t>for Viral Mutation Hotspot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defRPr sz="2200" b="0">
                <a:solidFill>
                  <a:srgbClr val="BDC3C7"/>
                </a:solidFill>
              </a:defRPr>
            </a:pPr>
            <a:r>
              <a:t>PhD Dissertation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83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FFFFFF"/>
                </a:solidFill>
              </a:defRPr>
            </a:pPr>
            <a:r>
              <a:t>Hwijun Kwon  |  Advisor: Prof. Inuk Jung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defRPr sz="1600" b="0">
                <a:solidFill>
                  <a:srgbClr val="BDC3C7"/>
                </a:solidFill>
              </a:defRPr>
            </a:pPr>
            <a:r>
              <a:t>School of Computer Science, Kyungpook 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4805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defRPr sz="1600" b="0">
                <a:solidFill>
                  <a:srgbClr val="BDC3C7"/>
                </a:solidFill>
              </a:defRPr>
            </a:pPr>
            <a:r>
              <a:t>August 2026</a:t>
            </a:r>
          </a:p>
        </p:txBody>
      </p:sp>
      <p:pic>
        <p:nvPicPr>
          <p:cNvPr id="9" name="Picture 8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are Mutation Hotspots?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Genomic positions with statistically elevated mutation rates</a:t>
            </a:r>
          </a:p>
          <a:p>
            <a:pPr>
              <a:lnSpc>
                <a:spcPts val="3000"/>
              </a:lnSpc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Associated with transmissibility, immune evasion, drug resistance</a:t>
            </a:r>
          </a:p>
          <a:p>
            <a:pPr>
              <a:lnSpc>
                <a:spcPts val="3000"/>
              </a:lnSpc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Critical for vaccine design, antiviral development, genomic surveillance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10332720" cy="137160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980B9"/>
                </a:solidFill>
              </a:defRPr>
            </a:pPr>
            <a:r>
              <a:t>SARS-CoV-2 Spike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572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defRPr sz="1400">
                <a:solidFill>
                  <a:srgbClr val="333333"/>
                </a:solidFill>
              </a:defRPr>
            </a:pPr>
            <a:r>
              <a:t>N501Y (receptor binding)    E484K (immune evasion)    L452R (transmissibility)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Problem — No Benchmark Exists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00400" cy="2743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No Standardized</a:t>
            </a:r>
            <a:br/>
            <a:r>
              <a:t>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FFFFFF"/>
                </a:solidFill>
              </a:defRPr>
            </a:pPr>
            <a:r>
              <a:t>Existing studies use ad-hoc</a:t>
            </a:r>
            <a:br/>
            <a:r>
              <a:t>metrics; results are</a:t>
            </a:r>
            <a:br/>
            <a:r>
              <a:t>not comparable across</a:t>
            </a:r>
            <a:br/>
            <a:r>
              <a:t>studies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200400" cy="2743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No Independent</a:t>
            </a:r>
            <a:br/>
            <a:r>
              <a:t>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FFFFFF"/>
                </a:solidFill>
              </a:defRPr>
            </a:pPr>
            <a:r>
              <a:t>Self-referencing validation;</a:t>
            </a:r>
            <a:br/>
            <a:r>
              <a:t>literature-derived labels</a:t>
            </a:r>
            <a:br/>
            <a:r>
              <a:t>are circular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371600"/>
            <a:ext cx="3200400" cy="27432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No Statistical Evidence</a:t>
            </a:r>
            <a:br/>
            <a:r>
              <a:t>on Pathogen-Dependence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82880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FFFFFF"/>
                </a:solidFill>
              </a:defRPr>
            </a:pPr>
            <a:r>
              <a:t>Methods are assumed</a:t>
            </a:r>
            <a:br/>
            <a:r>
              <a:t>universal; no formal test of</a:t>
            </a:r>
            <a:br/>
            <a:r>
              <a:t>interaction effects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defRPr sz="2200" b="1">
                <a:solidFill>
                  <a:srgbClr val="2C3E50"/>
                </a:solidFill>
              </a:defRPr>
            </a:pPr>
            <a:r>
              <a:t>→ Which method should we use for which pathogen?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Research Contributions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11480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Contribution 1: MutBench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defRPr sz="1600">
                <a:solidFill>
                  <a:srgbClr val="333333"/>
                </a:solidFill>
              </a:defRPr>
            </a:pPr>
            <a:r>
              <a:t>• 3-layer ground truth</a:t>
            </a:r>
            <a:br/>
            <a:r>
              <a:t>   (convergent + purifying + DMS)</a:t>
            </a:r>
            <a:br/>
            <a:br/>
            <a:r>
              <a:t>• Hotspot-score metric</a:t>
            </a:r>
            <a:br/>
            <a:r>
              <a:t>   (recall + precision + stability)</a:t>
            </a:r>
            <a:br/>
            <a:br/>
            <a:r>
              <a:t>• 2-stage experimental design</a:t>
            </a:r>
            <a:br/>
            <a:r>
              <a:t>   (depth-first + breadth-first)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303520" cy="4114800"/>
          </a:xfrm>
          <a:prstGeom prst="roundRect">
            <a:avLst/>
          </a:prstGeom>
          <a:solidFill>
            <a:srgbClr val="FDEBD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7E22"/>
                </a:solidFill>
              </a:defRPr>
            </a:pPr>
            <a:r>
              <a:t>Contribution 2: Statistical 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defRPr sz="1600">
                <a:solidFill>
                  <a:srgbClr val="333333"/>
                </a:solidFill>
              </a:defRPr>
            </a:pPr>
            <a:r>
              <a:t>• ω² = 0.285 interaction effect</a:t>
            </a:r>
            <a:br/>
            <a:r>
              <a:t>   (largest variance source)</a:t>
            </a:r>
            <a:br/>
            <a:br/>
            <a:r>
              <a:t>• LOPO: 0/9 generalization</a:t>
            </a:r>
            <a:br/>
            <a:r>
              <a:t>   (no method transfers)</a:t>
            </a:r>
            <a:br/>
            <a:br/>
            <a:r>
              <a:t>• Friedman p = 0.0015</a:t>
            </a:r>
            <a:br/>
            <a:r>
              <a:t>   (significant rank differences)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MutBench Pipeline Overview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828800" cy="128016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MSA</a:t>
            </a:r>
            <a:br/>
            <a:r>
              <a:t>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423160" y="21945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0">
                <a:solidFill>
                  <a:srgbClr val="333333"/>
                </a:solidFill>
              </a:defRPr>
            </a:pPr>
            <a: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828800"/>
            <a:ext cx="1828800" cy="12801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Scoring</a:t>
            </a:r>
            <a:br/>
            <a:r>
              <a:t>(9 methods)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663440" y="21945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0">
                <a:solidFill>
                  <a:srgbClr val="333333"/>
                </a:solidFill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828800"/>
            <a:ext cx="1828800" cy="12801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Detection</a:t>
            </a:r>
            <a:br/>
            <a:r>
              <a:t>(41 methods)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903720" y="21945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0">
                <a:solidFill>
                  <a:srgbClr val="333333"/>
                </a:solidFill>
              </a:defRPr>
            </a:pPr>
            <a: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828800"/>
            <a:ext cx="1828800" cy="12801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Evaluation</a:t>
            </a:r>
            <a:br/>
            <a:r>
              <a:t>(MCC)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144000" y="21945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0">
                <a:solidFill>
                  <a:srgbClr val="333333"/>
                </a:solidFill>
              </a:defRPr>
            </a:pPr>
            <a: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1828800"/>
            <a:ext cx="1828800" cy="12801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1920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Statistical</a:t>
            </a:r>
            <a:br/>
            <a:r>
              <a:t>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3657600" y="3657600"/>
            <a:ext cx="2743200" cy="109728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3749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3-Layer Ground Truth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114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defRPr sz="1300">
                <a:solidFill>
                  <a:srgbClr val="333333"/>
                </a:solidFill>
              </a:defRPr>
            </a:pPr>
            <a:r>
              <a:t>Convergent + Purifying + DMS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0">
                <a:solidFill>
                  <a:srgbClr val="27AE60"/>
                </a:solidFill>
              </a:defRPr>
            </a:pPr>
            <a:r>
              <a:t>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4747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defRPr sz="1600" b="0">
                <a:solidFill>
                  <a:srgbClr val="8E44AD"/>
                </a:solidFill>
              </a:defRPr>
            </a:pPr>
            <a:r>
              <a:t>ANOVA (ω²)</a:t>
            </a:r>
            <a:br/>
            <a:r>
              <a:t>Friedman (χ²)</a:t>
            </a:r>
            <a:br/>
            <a:r>
              <a:t>LOPO (0/9)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3-Layer Ground Truth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3200400"/>
          </a:xfrm>
          <a:prstGeom prst="roundRect">
            <a:avLst/>
          </a:prstGeom>
          <a:solidFill>
            <a:srgbClr val="D4EFD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7AE60"/>
                </a:solidFill>
              </a:defRPr>
            </a:pPr>
            <a:r>
              <a:t>Layer A: Convergent Evolution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33333"/>
                </a:solidFill>
              </a:defRPr>
            </a:pPr>
            <a:r>
              <a:t>Positive labels (TP)</a:t>
            </a:r>
            <a:br/>
            <a:r>
              <a:t>Multiple independent lineages</a:t>
            </a:r>
            <a:br/>
            <a:r>
              <a:t>acquire same mutation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74720" cy="3200400"/>
          </a:xfrm>
          <a:prstGeom prst="roundRect">
            <a:avLst/>
          </a:prstGeom>
          <a:solidFill>
            <a:srgbClr val="FADBD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74C3C"/>
                </a:solidFill>
              </a:defRPr>
            </a:pPr>
            <a:r>
              <a:t>Layer B: Purifying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33333"/>
                </a:solidFill>
              </a:defRPr>
            </a:pPr>
            <a:r>
              <a:t>Negative labels (TN)</a:t>
            </a:r>
            <a:br/>
            <a:r>
              <a:t>dN/dS ≪ 1 positions</a:t>
            </a:r>
            <a:br/>
            <a:r>
              <a:t>under strong constraint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3200400"/>
          </a:xfrm>
          <a:prstGeom prst="roundRect">
            <a:avLst/>
          </a:prstGeom>
          <a:solidFill>
            <a:srgbClr val="D6EAF8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980B9"/>
                </a:solidFill>
              </a:defRPr>
            </a:pPr>
            <a:r>
              <a:t>Layer C: DMS Experimental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8288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33333"/>
                </a:solidFill>
              </a:defRPr>
            </a:pPr>
            <a:r>
              <a:t>Validation layer</a:t>
            </a:r>
            <a:br/>
            <a:r>
              <a:t>Deep mutational scanning</a:t>
            </a:r>
            <a:br/>
            <a:r>
              <a:t>fitness measurements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029200"/>
            <a:ext cx="7589520" cy="914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242316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defRPr sz="1800">
                <a:solidFill>
                  <a:srgbClr val="2C3E50"/>
                </a:solidFill>
              </a:defRPr>
            </a:pPr>
            <a:r>
              <a:t>Jaccard(DMS, convergent) = 0.006  →  Layers are independent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Hotspot-score Metric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defRPr sz="2800" b="1">
                <a:solidFill>
                  <a:srgbClr val="2980B9"/>
                </a:solidFill>
              </a:defRPr>
            </a:pPr>
            <a:r>
              <a:t>hotspot-score  =  ( recall  +  precision  +  stability )  /  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560320"/>
          <a:ext cx="10058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Stability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HS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HDBSCAN-Auto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0.944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0.079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0.788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0.146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0.604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0.659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0.968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0.706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0.784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0.778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700" b="1">
                <a:solidFill>
                  <a:srgbClr val="2C3E50"/>
                </a:solidFill>
              </a:defRPr>
            </a:pPr>
            <a:r>
              <a:t>→ F1 is misleading when recall/precision are imbalanced; hotspot-score captures all three dimensions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Two-Stage Experimental Design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029200" cy="32004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Stage 1: SARS-CoV-2 Depth-First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defRPr sz="1600">
                <a:solidFill>
                  <a:srgbClr val="FFFFFF"/>
                </a:solidFill>
              </a:defRPr>
            </a:pPr>
            <a:r>
              <a:t>5 detection variants + 2 baselines</a:t>
            </a:r>
            <a:br/>
            <a:r>
              <a:t>Single pathogen, exhaustive comparison</a:t>
            </a:r>
            <a:br/>
            <a:r>
              <a:t>Result: MutClust-Hybrid wins</a:t>
            </a:r>
            <a:br/>
            <a:br/>
            <a:r>
              <a:t>HS = 0.778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371600"/>
            <a:ext cx="5029200" cy="3200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Stage 2: 9-Pathogen Breadth-First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82880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defRPr sz="1600">
                <a:solidFill>
                  <a:srgbClr val="FFFFFF"/>
                </a:solidFill>
              </a:defRPr>
            </a:pPr>
            <a:r>
              <a:t>9 scoring × 41 detection methods</a:t>
            </a:r>
            <a:br/>
            <a:r>
              <a:t>= 3,321 total evaluations</a:t>
            </a:r>
            <a:br/>
            <a:r>
              <a:t>6 RNA virus families</a:t>
            </a:r>
            <a:br/>
            <a:br/>
            <a:r>
              <a:t>Result: No universal winner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5603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defRPr sz="3600" b="0">
                <a:solidFill>
                  <a:srgbClr val="333333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>
                <a:solidFill>
                  <a:srgbClr val="2C3E50"/>
                </a:solidFill>
              </a:defRPr>
            </a:pPr>
            <a:r>
              <a:t>→ Stage 1 shows Hybrid wins. But does this generalize?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Stage 1 — MutClust-Hybrid Wins on SARS-CoV-2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Stability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Hotspot-score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MutClust-Hybrid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0.968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0.659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0.706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0.778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HDBSCAN-Auto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0.079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0.944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0.788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0.604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Two-stage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0.968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0.643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0.740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0.784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3840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Hybrid balances all three metric components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HDBSCAN achieves highest recall but worst precision (over-detection)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Two-stage shows comparable but slightly lower recall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Synthetic vs Real Data Gap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60"/>
              </a:lnSpc>
              <a:defRPr sz="5200" b="1">
                <a:solidFill>
                  <a:srgbClr val="2980B9"/>
                </a:solidFill>
              </a:defRPr>
            </a:pPr>
            <a:r>
              <a:t>0.778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defRPr sz="1400" b="0">
                <a:solidFill>
                  <a:srgbClr val="333333"/>
                </a:solidFill>
              </a:defRPr>
            </a:pPr>
            <a:r>
              <a:t>Synthetic hotspot-score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60"/>
              </a:lnSpc>
              <a:defRPr sz="5200" b="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60"/>
              </a:lnSpc>
              <a:defRPr sz="5200" b="1">
                <a:solidFill>
                  <a:srgbClr val="E74C3C"/>
                </a:solidFill>
              </a:defRPr>
            </a:pPr>
            <a:r>
              <a:t>0.123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defRPr sz="1400" b="0">
                <a:solidFill>
                  <a:srgbClr val="333333"/>
                </a:solidFill>
              </a:defRPr>
            </a:pPr>
            <a:r>
              <a:t>Real GISAID 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57600"/>
            <a:ext cx="10332720" cy="20116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49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Why the gap?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defRPr sz="1600">
                <a:solidFill>
                  <a:srgbClr val="333333"/>
                </a:solidFill>
              </a:defRPr>
            </a:pPr>
            <a:r>
              <a:t>Enrichment ratios are preserved (6.9–8.0×)</a:t>
            </a:r>
            <a:br/>
            <a:r>
              <a:t>Gap = calibration factor from simulation assumptions, not method invalidation</a:t>
            </a:r>
            <a:br/>
            <a:r>
              <a:t>Relative rankings remain consistent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H3N2 Reverses the Rankings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29260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SARS-CoV-2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defRPr sz="1600">
                <a:solidFill>
                  <a:srgbClr val="FFFFFF"/>
                </a:solidFill>
              </a:defRPr>
            </a:pPr>
            <a:r>
              <a:t>Best: MutClust-Hybrid</a:t>
            </a:r>
            <a:br/>
            <a:r>
              <a:t>Hotspot-score: 0.778</a:t>
            </a:r>
            <a:br/>
            <a:br/>
            <a:r>
              <a:t>Fast-evolving, high diversity</a:t>
            </a:r>
            <a:br/>
            <a:r>
              <a:t>Entropy highly informative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2926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H3N2 Influenza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defRPr sz="1600">
                <a:solidFill>
                  <a:srgbClr val="FFFFFF"/>
                </a:solidFill>
              </a:defRPr>
            </a:pPr>
            <a:r>
              <a:t>Best: Fixed threshold</a:t>
            </a:r>
            <a:br/>
            <a:r>
              <a:t>Hotspot-score: 0.661</a:t>
            </a:r>
            <a:br/>
            <a:br/>
            <a:r>
              <a:t>Antigenic drift, segment reassortment</a:t>
            </a:r>
            <a:br/>
            <a:r>
              <a:t>Different mutation landscape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377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defRPr sz="4800" b="1">
                <a:solidFill>
                  <a:srgbClr val="E74C3C"/>
                </a:solidFill>
              </a:defRPr>
            </a:pPr>
            <a:r>
              <a:t>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defRPr sz="2400" b="1">
                <a:solidFill>
                  <a:srgbClr val="E74C3C"/>
                </a:solidFill>
              </a:defRPr>
            </a:pPr>
            <a:r>
              <a:t>→ The best method depends on the pathogen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Stage 2 — Scale of Evaluation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800"/>
              </a:lnSpc>
              <a:defRPr sz="6000" b="1">
                <a:solidFill>
                  <a:srgbClr val="2980B9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defRPr sz="1400" b="0">
                <a:solidFill>
                  <a:srgbClr val="333333"/>
                </a:solidFill>
              </a:defRPr>
            </a:pPr>
            <a:r>
              <a:t>Pathogens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defRPr sz="4800" b="0">
                <a:solidFill>
                  <a:srgbClr val="333333"/>
                </a:solidFill>
              </a:defRPr>
            </a:pPr>
            <a:r>
              <a:t>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800"/>
              </a:lnSpc>
              <a:defRPr sz="6000" b="1">
                <a:solidFill>
                  <a:srgbClr val="27AE60"/>
                </a:solidFill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defRPr sz="1400" b="0">
                <a:solidFill>
                  <a:srgbClr val="333333"/>
                </a:solidFill>
              </a:defRPr>
            </a:pPr>
            <a:r>
              <a:t>Scoring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defRPr sz="4800" b="0">
                <a:solidFill>
                  <a:srgbClr val="333333"/>
                </a:solidFill>
              </a:defRPr>
            </a:pPr>
            <a: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800"/>
              </a:lnSpc>
              <a:defRPr sz="6000" b="1">
                <a:solidFill>
                  <a:srgbClr val="E67E22"/>
                </a:solidFill>
              </a:defRPr>
            </a:pPr>
            <a:r>
              <a:t>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defRPr sz="1400" b="0">
                <a:solidFill>
                  <a:srgbClr val="333333"/>
                </a:solidFill>
              </a:defRPr>
            </a:pPr>
            <a:r>
              <a:t>Detection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defRPr sz="2800" b="1">
                <a:solidFill>
                  <a:srgbClr val="2C3E50"/>
                </a:solidFill>
              </a:defRPr>
            </a:pPr>
            <a:r>
              <a:t>= 3,321 evaluations  (2,544 valid for ANOVA)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0">
                <a:solidFill>
                  <a:srgbClr val="646464"/>
                </a:solidFill>
              </a:defRPr>
            </a:pPr>
            <a:r>
              <a:t>6 major RNA virus families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defRPr sz="1500" b="0">
                <a:solidFill>
                  <a:srgbClr val="646464"/>
                </a:solidFill>
              </a:defRPr>
            </a:pPr>
            <a:r>
              <a:t>SARS-CoV-2  |  H3N2  |  HIV-1  |  MERS  |  RSV  |  Dengue  |  HCV  |  Norovirus  |  Influenza 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FINDING — 4 Lines of Evidence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defRPr sz="3600" b="1">
                <a:solidFill>
                  <a:srgbClr val="2980B9"/>
                </a:solidFill>
              </a:defRPr>
            </a:pPr>
            <a:r>
              <a:t>ω² = 0.285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3619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333333"/>
                </a:solidFill>
              </a:defRPr>
            </a:pPr>
            <a:r>
              <a:t>Interaction is the LARGEST variance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defRPr sz="3600" b="1">
                <a:solidFill>
                  <a:srgbClr val="27AE60"/>
                </a:solidFill>
              </a:defRPr>
            </a:pPr>
            <a:r>
              <a:t>9/9 unique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72491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333333"/>
                </a:solidFill>
              </a:defRPr>
            </a:pPr>
            <a:r>
              <a:t>Every pathogen has a different best combination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defRPr sz="3600" b="1">
                <a:solidFill>
                  <a:srgbClr val="E67E22"/>
                </a:solidFill>
              </a:defRPr>
            </a:pPr>
            <a:r>
              <a:t>Friedman p = 0.0015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91363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333333"/>
                </a:solidFill>
              </a:defRPr>
            </a:pPr>
            <a:r>
              <a:t>Significant rank differences (χ² = 42.44)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defRPr sz="3600" b="1">
                <a:solidFill>
                  <a:srgbClr val="E74C3C"/>
                </a:solidFill>
              </a:defRPr>
            </a:pPr>
            <a:r>
              <a:t>LOPO: 0/9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10235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0">
                <a:solidFill>
                  <a:srgbClr val="333333"/>
                </a:solidFill>
              </a:defRPr>
            </a:pPr>
            <a:r>
              <a:t>No method generalizes (4.9% match rate)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486400"/>
            <a:ext cx="941832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5321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80"/>
              </a:lnSpc>
              <a:defRPr sz="2600" b="1">
                <a:solidFill>
                  <a:srgbClr val="FFFFFF"/>
                </a:solidFill>
              </a:defRPr>
            </a:pPr>
            <a:r>
              <a:t>No single best method exists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ESM-2 Cross-Paradigm Validation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Pathogen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ESM-LLR Rank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ESM-LLR Score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Existing Best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SARS-CoV-2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0.168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0.118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MERS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1st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0.143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0.088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Norovirus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Last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0.438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HIV-1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Last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0.182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>
                <a:solidFill>
                  <a:srgbClr val="2C3E50"/>
                </a:solidFill>
              </a:defRPr>
            </a:pPr>
            <a:r>
              <a:t>→ No single scoring paradigm dominates across all pathogens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500" b="0">
                <a:solidFill>
                  <a:srgbClr val="646464"/>
                </a:solidFill>
              </a:defRPr>
            </a:pPr>
            <a:r>
              <a:t>ESM-2 (protein language model) excels on Betacoronaviruses but fails on high-diversity pathogens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Position-Exact is Conservative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defRPr sz="1800" b="1">
                <a:solidFill>
                  <a:srgbClr val="333333"/>
                </a:solidFill>
              </a:defRPr>
            </a:pPr>
            <a:r>
              <a:t>Exact match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691640"/>
            <a:ext cx="77724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91640"/>
            <a:ext cx="2246223" cy="5486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38063" y="1691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defRPr sz="1600" b="1">
                <a:solidFill>
                  <a:srgbClr val="2980B9"/>
                </a:solidFill>
              </a:defRPr>
            </a:pPr>
            <a:r>
              <a:t>0.289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defRPr sz="1800" b="1">
                <a:solidFill>
                  <a:srgbClr val="333333"/>
                </a:solidFill>
              </a:defRPr>
            </a:pPr>
            <a:r>
              <a:t>±5 positions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880360"/>
            <a:ext cx="77724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2880360"/>
            <a:ext cx="4958791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0631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defRPr sz="1600" b="1">
                <a:solidFill>
                  <a:srgbClr val="27AE60"/>
                </a:solidFill>
              </a:defRPr>
            </a:pPr>
            <a:r>
              <a:t>0.638 (+121%)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defRPr sz="1800" b="1">
                <a:solidFill>
                  <a:srgbClr val="333333"/>
                </a:solidFill>
              </a:defRPr>
            </a:pPr>
            <a:r>
              <a:t>±10 positions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4069080"/>
            <a:ext cx="77724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4069080"/>
            <a:ext cx="5533948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5788" y="4069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defRPr sz="1600" b="1">
                <a:solidFill>
                  <a:srgbClr val="E67E22"/>
                </a:solidFill>
              </a:defRPr>
            </a:pPr>
            <a:r>
              <a:t>0.712 (+146%)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defRPr sz="1800" b="1">
                <a:solidFill>
                  <a:srgbClr val="2C3E50"/>
                </a:solidFill>
              </a:defRPr>
            </a:pPr>
            <a:r>
              <a:t>→ Detected hotspots are spatially proximate to ground truth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PAHD — Proof of Concept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defRPr sz="1800" b="0">
                <a:solidFill>
                  <a:srgbClr val="333333"/>
                </a:solidFill>
              </a:defRPr>
            </a:pPr>
            <a:r>
              <a:t>Problem: 369 combinations, only n=9 pathogens → exact prediction impossible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defRPr sz="1800" b="1">
                <a:solidFill>
                  <a:srgbClr val="2980B9"/>
                </a:solidFill>
              </a:defRPr>
            </a:pPr>
            <a:r>
              <a:t>Solution: Predict at FAMILY level instead of exact combination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2743200"/>
          <a:ext cx="914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Prediction Level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Oracle Recovery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Exact combination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1.7%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Detection family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48.3%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+28×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Scoring family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57.7%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+34×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defRPr sz="1800" b="1">
                <a:solidFill>
                  <a:srgbClr val="27AE60"/>
                </a:solidFill>
              </a:defRPr>
            </a:pPr>
            <a:r>
              <a:t>→ Family-level prediction makes adaptive selection feasible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Phylogenetic Correction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• TreeTime on 500 real SARS-CoV-2 sequences</a:t>
            </a:r>
          </a:p>
          <a:p>
            <a:pPr>
              <a:lnSpc>
                <a:spcPts val="2850"/>
              </a:lnSpc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• Result: MCC = −0.018 (temporal mismatch)</a:t>
            </a:r>
          </a:p>
          <a:p>
            <a:pPr>
              <a:lnSpc>
                <a:spcPts val="2850"/>
              </a:lnSpc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• D614G: homoplasy = 0 (founder effect confirmed)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10332720" cy="2286000"/>
          </a:xfrm>
          <a:prstGeom prst="roundRect">
            <a:avLst/>
          </a:prstGeom>
          <a:solidFill>
            <a:srgbClr val="FDEBD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3192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defRPr sz="1600">
                <a:solidFill>
                  <a:srgbClr val="333333"/>
                </a:solidFill>
              </a:defRPr>
            </a:pPr>
            <a:r>
              <a:t>Phylogenetic correction requires temporally aligned data</a:t>
            </a:r>
            <a:br/>
            <a:br/>
            <a:r>
              <a:t>Current public databases (GISAID) have sampling bias:</a:t>
            </a:r>
            <a:br/>
            <a:r>
              <a:t>  - Over-representation of certain lineages</a:t>
            </a:r>
            <a:br/>
            <a:r>
              <a:t>  - Temporal gaps in coverage</a:t>
            </a:r>
            <a:br/>
            <a:r>
              <a:t>  - Geographic sampling heterogeneity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Limitations &amp; Roadmap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Direction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Phylogenetic correction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Founder-effect resolution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PAHD implementation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Adaptive method selection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DNA virus extension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Broader applicability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Real-time integration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Public health utility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572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defRPr sz="1600" b="0">
                <a:solidFill>
                  <a:srgbClr val="646464"/>
                </a:solidFill>
              </a:defRPr>
            </a:pPr>
            <a:r>
              <a:t>MutBench provides the infrastructure for systematic evaluation.</a:t>
            </a:r>
            <a:br/>
            <a:r>
              <a:t>Each limitation is a concrete, addressable research direction.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27432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MutBench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FFFFFF"/>
                </a:solidFill>
              </a:defRPr>
            </a:pPr>
            <a:r>
              <a:t>First systematic benchmark for</a:t>
            </a:r>
            <a:br/>
            <a:r>
              <a:t>viral hotspot detection</a:t>
            </a:r>
            <a:br/>
            <a:br/>
            <a:r>
              <a:t>3-layer ground truth</a:t>
            </a:r>
            <a:br/>
            <a:r>
              <a:t>Hotspot-score metric</a:t>
            </a:r>
            <a:br/>
            <a:r>
              <a:t>2-stage design (3,321 evaluations)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303520" cy="2743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Statistical 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FFFFFF"/>
                </a:solidFill>
              </a:defRPr>
            </a:pPr>
            <a:r>
              <a:t>No universal best method exists</a:t>
            </a:r>
            <a:br/>
            <a:br/>
            <a:r>
              <a:t>ω² = 0.285 (interaction dominates)</a:t>
            </a:r>
            <a:br/>
            <a:r>
              <a:t>LOPO: 0/9 generalization</a:t>
            </a:r>
            <a:br/>
            <a:r>
              <a:t>Friedman p = 0.0015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572000"/>
            <a:ext cx="941832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Broader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029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defRPr sz="1600">
                <a:solidFill>
                  <a:srgbClr val="333333"/>
                </a:solidFill>
              </a:defRPr>
            </a:pPr>
            <a:r>
              <a:t>Method-pathogen interaction dominates variance → systematic benchmarking is needed across all genomic analysis domains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60"/>
              </a:lnSpc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defRPr sz="2800" b="0">
                <a:solidFill>
                  <a:srgbClr val="BDC3C7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defRPr sz="1800" b="0">
                <a:solidFill>
                  <a:srgbClr val="2980B9"/>
                </a:solidFill>
              </a:defRPr>
            </a:pPr>
            <a:r>
              <a:t>github.com/hwijun/mutbench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2120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defRPr sz="1600" b="0">
                <a:solidFill>
                  <a:srgbClr val="BDC3C7"/>
                </a:solidFill>
              </a:defRPr>
            </a:pPr>
            <a:r>
              <a:t>Hwijun Kwon  |  Kyungpook National University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BACKUP: ANOVA Diagnostics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B1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3-way ANOVA: scoring × detection × pathogen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ω² (omega-squared) used instead of η² to avoid upward bias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ω²_detection = 0.350 (largest main effect)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ω²_scoring = 0.083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ω²_pathogen = 0.008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ω²_scoring×pathogen = 0.285 (interaction)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Residuals checked: Q-Q plot, homoscedasticity, independence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Levene test: p &lt; 0.001 (heteroscedastic → Welch correction applied)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BACKUP: Friedman Power Analysis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B2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Friedman test: non-parametric rank-based alternative to repeated-measures ANOVA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Top 20 combinations ranked across 9 pathogens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χ² = 42.44, df = 19, p = 0.0015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Post-hoc Nemenyi: significant pairwise differences detected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Power analysis: n=9 pathogens sufficient for W = 0.234 effect size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Monte Carlo simulation: 10,000 iterations confirm stability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BACKUP: PAHD v1 vs v2 Comparison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B3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PAHD v1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PAHD v2 (Current)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Prediction level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Exact combo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Family level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Entropy stats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Pathogen profile (8-dim)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Oracle recovery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1.7%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48.3% (family)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Required data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Full MSA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Summary statistics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Failed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Proof-of-concept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BACKUP: DMS Threshold Sensitivity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B4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DMS fitness threshold varied: 0.3, 0.4, 0.5, 0.6, 0.7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Primary threshold: 0.5 (median fitness)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Result: rankings stable across thresholds (τ &gt; 0.85)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Jaccard overlap between threshold sets: 0.72–0.89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Convergent evolution labels unaffected (independent layer)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Conclusion: results robust to DMS threshold choice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BACKUP: MutClust Bug Description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B5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Original MutClust: fixed p-value threshold (0.05)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Bug: multiple testing correction not applied to clustering step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Effect: inflated false positive rate in hotspot calls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Fix: Bonferroni correction + adaptive threshold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Hybrid approach: combines fixed + adaptive for robustness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This bug motivated the need for systematic benchmarking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BACKUP: Weight Sensitivity (171 combinations)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B6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Hotspot-score weights: (w_recall, w_precision, w_stability)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171 weight combinations tested (step = 0.1, sum = 1.0)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Default: equal weights (1/3, 1/3, 1/3)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Result: Hybrid robust across 89% of weight combinations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Only extreme weights (w_stability &gt; 0.7) change winner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Equal weighting is justified: no prior reason to favor any component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BACKUP: 9 Pathogens Coverage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B7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Pathogen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Family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Genome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Sequences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Known Hotspots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SARS-CoV-2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Coronaviridae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 kb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&gt;15M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S: 501, 484, 452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MERS-CoV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Coronaviridae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 kb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~800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S: limited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H3N2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Orthomyxoviridae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14 kb (seg)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~50K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HA: antigenic sites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Influenza B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Orthomyxoviridae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14 kb (seg)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~30K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HA: limited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HIV-1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Retroviridae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 kb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&gt;500K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Env: V1-V5 loops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RSV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Pneumoviridae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15 kb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~10K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F: site Ø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Dengue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Flaviviridae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 kb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~20K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E: DIII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HCV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Flaviviridae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 kb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~30K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E2: HVR1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Norovirus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Caliciviridae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7.5 kb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~5K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VP1: P2 domain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BACKUP: TreeTime Pipeline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B8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Input: 500 SARS-CoV-2 sequences with collection dates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Step 1: Multiple sequence alignment (MAFFT)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Step 2: Maximum likelihood tree (IQ-TREE2)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Step 3: Molecular clock fitting (TreeTime)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Step 4: Ancestral state reconstruction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Step 5: Homoplasy detection per site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Result: D614G homoplasy = 0 (single origin, founder effect)</a:t>
            </a:r>
          </a:p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Challenge: GISAID sampling bias distorts temporal signal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BACKUP: MOSD → MutBench Transfer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B9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MOSD (Multi-Omics Subtype Discovery): benchmarking framework for multi-omics integration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Key lesson: single-method evaluation insufficient across cancer types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Transferred concepts to MutBench: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  - Systematic method comparison framework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  - Multiple evaluation metrics (not just accuracy)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  - Cross-dataset generalization testing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MutClust: mutation clustering algorithm, predecessor to MutBench scoring/detection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MutBench = synthesis of MOSD methodology + MutClust domain knowledge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BACKUP: Approach Comparison Table</a:t>
            </a:r>
          </a:p>
        </p:txBody>
      </p:sp>
      <p:pic>
        <p:nvPicPr>
          <p:cNvPr id="3" name="Picture 2" descr="knu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09728"/>
            <a:ext cx="6400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83680"/>
            <a:ext cx="731520" cy="274320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B10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Previous Studies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MutBench</a:t>
                      </a:r>
                    </a:p>
                  </a:txBody>
                  <a:tcPr marL="73152" marR="73152" marT="36576" marB="36576"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Ground truth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Literature-derived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3-layer (convergent+purifying+DMS)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Overlap counting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Hotspot-score (3 components)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Pathogens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 (usually SARS-CoV-2)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9 pathogens, 6 families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Methods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1–3 methods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369 combinations (9×41)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Statistics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None / p-value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ANOVA + Friedman + LOPO + bootstrap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Interaction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Not tested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ω² = 0.285 (demonstrated)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Reproducibility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Ad hoc scripts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Open-source framework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474720" cy="21031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I.  Introduction</a:t>
            </a:r>
          </a:p>
          <a:p>
            <a:pPr>
              <a:spcBef>
                <a:spcPts val="1200"/>
              </a:spcBef>
              <a:defRPr sz="1400">
                <a:solidFill>
                  <a:srgbClr val="DCDCDC"/>
                </a:solidFill>
              </a:defRPr>
            </a:pPr>
            <a:r>
              <a:t>Background, Problem, Contributions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474720" cy="21031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II.  MutBench Framework</a:t>
            </a:r>
          </a:p>
          <a:p>
            <a:pPr>
              <a:spcBef>
                <a:spcPts val="1200"/>
              </a:spcBef>
              <a:defRPr sz="1400">
                <a:solidFill>
                  <a:srgbClr val="DCDCDC"/>
                </a:solidFill>
              </a:defRPr>
            </a:pPr>
            <a:r>
              <a:t>3-Layer GT, Hotspot-score,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1031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716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III.  Stage 1 Results</a:t>
            </a:r>
          </a:p>
          <a:p>
            <a:pPr>
              <a:spcBef>
                <a:spcPts val="1200"/>
              </a:spcBef>
              <a:defRPr sz="1400">
                <a:solidFill>
                  <a:srgbClr val="DCDCDC"/>
                </a:solidFill>
              </a:defRPr>
            </a:pPr>
            <a:r>
              <a:t>SARS-CoV-2 Depth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3474720" cy="21031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31919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IV.  Stage 2 Results</a:t>
            </a:r>
          </a:p>
          <a:p>
            <a:pPr>
              <a:spcBef>
                <a:spcPts val="1200"/>
              </a:spcBef>
              <a:defRPr sz="1400">
                <a:solidFill>
                  <a:srgbClr val="DCDCDC"/>
                </a:solidFill>
              </a:defRPr>
            </a:pPr>
            <a:r>
              <a:t>9-Pathogen Benchmark, 4 Evidence 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49039"/>
            <a:ext cx="3474720" cy="21031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931919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V.  Extensions</a:t>
            </a:r>
          </a:p>
          <a:p>
            <a:pPr>
              <a:spcBef>
                <a:spcPts val="1200"/>
              </a:spcBef>
              <a:defRPr sz="1400">
                <a:solidFill>
                  <a:srgbClr val="DCDCDC"/>
                </a:solidFill>
              </a:defRPr>
            </a:pPr>
            <a:r>
              <a:t>ESM-2, PAHD, Phylo Correction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749039"/>
            <a:ext cx="3474720" cy="21031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931919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VI.  Conclusion</a:t>
            </a:r>
          </a:p>
          <a:p>
            <a:pPr>
              <a:spcBef>
                <a:spcPts val="1200"/>
              </a:spcBef>
              <a:defRPr sz="1400">
                <a:solidFill>
                  <a:srgbClr val="DCDCDC"/>
                </a:solidFill>
              </a:defRPr>
            </a:pPr>
            <a:r>
              <a:t>Contributions, Limitations, Future Work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Prior Work: MOSD &amp; MutClust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Kyungpook National University  |  Dept. of Computer Science  |  Hwijun Kwon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653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980B9"/>
                </a:solidFill>
              </a:defRPr>
            </a:pPr>
            <a:r>
              <a:t>MOSD (BMC Genomics 2025)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Multi-Omics Study Design Framework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10 MOI methods × 10 TCGA cancers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Cluster-score: (ARI + NMI + F-measure) / 3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Single-factor isolation design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Key finding: study design &gt; algorithm choice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→ Design principles transferred to MutBench: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  composite metric + controlled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MutClust (BioData Mining 2025)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Adaptive Density-Based Hotspot Detection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H-score = log₂(frequency × entropy × 100 + 1)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CCM seed detection + adaptive DBSCAN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• 477 hotspots in SARS-CoV-2 Spike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Limitations motivating MutBench: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  1. Implementation bug (cumulative decay)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  2. Parameters tuned for SARS-CoV-2 only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  3. No independent ground truth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486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→ MutBench fills these gaps 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