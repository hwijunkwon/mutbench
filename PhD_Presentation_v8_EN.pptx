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76" r:id="rId13"/>
    <p:sldId id="267" r:id="rId14"/>
    <p:sldId id="268" r:id="rId15"/>
    <p:sldId id="269" r:id="rId16"/>
    <p:sldId id="270" r:id="rId17"/>
    <p:sldId id="271" r:id="rId18"/>
    <p:sldId id="272" r:id="rId19"/>
    <p:sldId id="278" r:id="rId20"/>
    <p:sldId id="273" r:id="rId21"/>
    <p:sldId id="274" r:id="rId22"/>
    <p:sldId id="275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14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Graduate School, Kyungpook 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PhD Comprehensive Oral Examination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Multi-Omics Integration Analysis and</a:t>
            </a:r>
            <a:br>
              <a:rPr dirty="0"/>
            </a:br>
            <a:r>
              <a:rPr dirty="0"/>
              <a:t>Viral Mutation Hotspot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7377"/>
                </a:solidFill>
                <a:latin typeface="Segoe UI"/>
              </a:defRPr>
            </a:pPr>
            <a:r>
              <a:t>From MOSD study design framework to COVID-19 severity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Segoe UI"/>
              </a:defRPr>
            </a:pPr>
            <a:r>
              <a:t>Hwijun Kwon | Advisor: Prof. Inuk Jung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95057"/>
                </a:solidFill>
                <a:latin typeface="Segoe UI"/>
              </a:defRPr>
            </a:pPr>
            <a:r>
              <a:t>Dept. of Computer Science, KNU | March 9,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5349240" cy="1188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7377"/>
                </a:solidFill>
                <a:latin typeface="Segoe UI"/>
              </a:defRPr>
            </a:pPr>
            <a:r>
              <a:t>BMC Genomics 2025 (SCIE)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2803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altLang="ko-KR" dirty="0"/>
              <a:t>A review on multi-omics integration for aiding</a:t>
            </a:r>
          </a:p>
          <a:p>
            <a:pPr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altLang="ko-KR" dirty="0"/>
              <a:t>study design of large scale TCGA cancer datasets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389120"/>
            <a:ext cx="5349240" cy="1188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4572000"/>
            <a:ext cx="457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BioData Mining 2025 (SCIE)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82803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dirty="0"/>
              <a:t>Identification of severity related mutation hotspots in SARS-CoV-2 using a density-based clustering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20440" cy="23774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7377"/>
                </a:solidFill>
                <a:latin typeface="Segoe UI"/>
              </a:defRPr>
            </a:pPr>
            <a:r>
              <a:t>I.  Paper 1: MOSD</a:t>
            </a:r>
          </a:p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Multi-Omics Study Design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Background, Prior Work, Framework,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Benchmark, Results, Guidelines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D7377"/>
                </a:solidFill>
                <a:latin typeface="Segoe UI"/>
              </a:defRPr>
            </a:pPr>
            <a:r>
              <a:t>Slides 4–11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097280"/>
            <a:ext cx="3520440" cy="23774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17136" y="1280160"/>
            <a:ext cx="457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2801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C62828"/>
                </a:solidFill>
                <a:latin typeface="Segoe UI"/>
              </a:defRPr>
            </a:pPr>
            <a:r>
              <a:t>II.  Paper 2: MutClust</a:t>
            </a:r>
          </a:p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Mutation Hotspot Detection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Background, Prior Work, H-score,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Algorithm, Results, Validation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C62828"/>
                </a:solidFill>
                <a:latin typeface="Segoe UI"/>
              </a:defRPr>
            </a:pPr>
            <a:r>
              <a:t>Slides 12–20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097280"/>
            <a:ext cx="3520440" cy="23774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1280160"/>
            <a:ext cx="4572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28016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B2A4A"/>
                </a:solidFill>
                <a:latin typeface="Segoe UI"/>
              </a:defRPr>
            </a:pPr>
            <a:r>
              <a:t>III.  Conclusion</a:t>
            </a:r>
          </a:p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Research Contributions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Unified contributions, common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themes, future directions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Slides 21–22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94960" cy="52120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t>Paper 1 — Multi-Omics (MOSD)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GE (Gene Expression)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mRNA abundance; reflects active gene transcription levels.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ME (DNA Methylation)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Epigenetic modification; CpG site methylation affects gene regulation.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MI (miRNA Expression)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Small non-coding RNA; post-transcriptional regulators of gene expression.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CNV (Copy Number Variation)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Gain or loss of genomic segments; alters gene dosage.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MOI (Multi-Omics Integration)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Combining two or more omics layers for unified analysis.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Cluster-score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Metric evaluating clustering quality across integration methods.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097280"/>
            <a:ext cx="5394960" cy="52120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28232" y="1280160"/>
            <a:ext cx="457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28016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C62828"/>
                </a:solidFill>
                <a:latin typeface="Segoe UI"/>
              </a:defRPr>
            </a:pPr>
            <a:r>
              <a:t>Paper 2 — Mutation Hotspot (MutClust)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Nucleotide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Basic unit of DNA/RNA (A, T/U, G, C); mutation target.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Mutation Hotspot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Genomic region with statistically significant mutation clustering.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Epitope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Protein region recognized by immune receptors; key for immune response.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HLA (Human Leukocyte Antigen)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Cell-surface proteins presenting antigens to T cells.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NK Cell (Natural Killer Cell)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Innate immune lymphocyte; kills virus-infected cells without prior sensitization.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Cytokine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Signaling proteins mediating immune/inflammatory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C619-BE81-AA94-6BE8-6E495EF5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12AFD6-4B33-FF3D-2447-92B3CEEB7AA0}"/>
              </a:ext>
            </a:extLst>
          </p:cNvPr>
          <p:cNvSpPr/>
          <p:nvPr/>
        </p:nvSpPr>
        <p:spPr>
          <a:xfrm>
            <a:off x="0" y="0"/>
            <a:ext cx="12188952" cy="2867025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D9D54-4D0F-B729-EC25-13F8DA3EFF90}"/>
              </a:ext>
            </a:extLst>
          </p:cNvPr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02A255-4DBC-FF86-F341-355124BF35BE}"/>
              </a:ext>
            </a:extLst>
          </p:cNvPr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72BAF-E1D9-45F3-690D-898381BF67C8}"/>
              </a:ext>
            </a:extLst>
          </p:cNvPr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>
            <a:extLst>
              <a:ext uri="{FF2B5EF4-FFF2-40B4-BE49-F238E27FC236}">
                <a16:creationId xmlns:a16="http://schemas.microsoft.com/office/drawing/2014/main" id="{4772130B-5247-2882-AB2C-A43123794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EA2D9-A0A7-1540-CEDE-8FF2186200A3}"/>
              </a:ext>
            </a:extLst>
          </p:cNvPr>
          <p:cNvSpPr txBox="1"/>
          <p:nvPr/>
        </p:nvSpPr>
        <p:spPr>
          <a:xfrm>
            <a:off x="11091672" y="6528816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4/22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5C374C-4CDC-FEFC-A2EF-2B3E47092F66}"/>
              </a:ext>
            </a:extLst>
          </p:cNvPr>
          <p:cNvSpPr txBox="1"/>
          <p:nvPr/>
        </p:nvSpPr>
        <p:spPr>
          <a:xfrm>
            <a:off x="548640" y="1554480"/>
            <a:ext cx="114528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lang="en-US" altLang="ko-KR" sz="3800" b="1" dirty="0"/>
              <a:t>A review on multi-omics integration for aiding study design of large scale TCGA cancer datasets</a:t>
            </a:r>
            <a:endParaRPr dirty="0"/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6FFDDB50-B1FB-D83D-1129-042B58EF7981}"/>
              </a:ext>
            </a:extLst>
          </p:cNvPr>
          <p:cNvSpPr/>
          <p:nvPr/>
        </p:nvSpPr>
        <p:spPr>
          <a:xfrm>
            <a:off x="548640" y="4389120"/>
            <a:ext cx="5349240" cy="1188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2B878EE0-981B-C24F-BBAD-745E8CDD4580}"/>
              </a:ext>
            </a:extLst>
          </p:cNvPr>
          <p:cNvSpPr/>
          <p:nvPr/>
        </p:nvSpPr>
        <p:spPr>
          <a:xfrm>
            <a:off x="731520" y="457200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AB4ADC-8C5D-1DE0-8288-2CD8B75F9567}"/>
              </a:ext>
            </a:extLst>
          </p:cNvPr>
          <p:cNvSpPr txBox="1"/>
          <p:nvPr/>
        </p:nvSpPr>
        <p:spPr>
          <a:xfrm>
            <a:off x="868680" y="45262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7377"/>
                </a:solidFill>
                <a:latin typeface="Segoe UI"/>
              </a:defRPr>
            </a:pPr>
            <a:r>
              <a:t>BMC Genomics 2025 (SCIE)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D20089-DD0C-0C01-A5C1-941200C2CE3D}"/>
              </a:ext>
            </a:extLst>
          </p:cNvPr>
          <p:cNvSpPr txBox="1"/>
          <p:nvPr/>
        </p:nvSpPr>
        <p:spPr>
          <a:xfrm>
            <a:off x="868680" y="4828032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dirty="0"/>
              <a:t>A review on multi-omics integration for aiding</a:t>
            </a:r>
          </a:p>
          <a:p>
            <a:pPr algn="l"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dirty="0"/>
              <a:t>study design of large scale TCGA cancer datasets</a:t>
            </a:r>
          </a:p>
        </p:txBody>
      </p:sp>
    </p:spTree>
    <p:extLst>
      <p:ext uri="{BB962C8B-B14F-4D97-AF65-F5344CB8AC3E}">
        <p14:creationId xmlns:p14="http://schemas.microsoft.com/office/powerpoint/2010/main" val="70412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The Challenge of Multi-Omics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5/22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4975860" cy="3291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t>Four TCGA Omics Data Types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GE (Gene Expression)  ~17,000 features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ME (DNA Methylation)  ~396,000 features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MI (miRNA Expression)  ~2,200 features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CNV (Copy Number Variation)  ~22,000 features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1B2A4A"/>
                </a:solidFill>
                <a:latin typeface="Segoe UI"/>
              </a:defRPr>
            </a:pPr>
            <a:r>
              <a:t>Combined: ~437,000 features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495057"/>
                </a:solidFill>
                <a:latin typeface="Segoe UI"/>
              </a:defRPr>
            </a:pPr>
            <a:r>
              <a:t>•  Core challenges: different scales, high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495057"/>
                </a:solidFill>
                <a:latin typeface="Segoe UI"/>
              </a:defRPr>
            </a:pPr>
            <a:r>
              <a:t>dimensionality, no systematic guidelines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t>“How to systematically design MOI analysis?”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3520440" cy="1005840"/>
          </a:xfrm>
          <a:prstGeom prst="roundRect">
            <a:avLst>
              <a:gd name="adj" fmla="val 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77316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Benchmarked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EE2E6"/>
                </a:solidFill>
                <a:latin typeface="Segoe UI"/>
              </a:defRPr>
            </a:pPr>
            <a:r>
              <a:t>10 TCGA cancers, 3,988 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4663440"/>
            <a:ext cx="3520440" cy="1005840"/>
          </a:xfrm>
          <a:prstGeom prst="roundRect">
            <a:avLst>
              <a:gd name="adj" fmla="val 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477316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5120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EE2E6"/>
                </a:solidFill>
                <a:latin typeface="Segoe UI"/>
              </a:defRPr>
            </a:pPr>
            <a:r>
              <a:t>10 integration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4663440"/>
            <a:ext cx="3520440" cy="1005840"/>
          </a:xfrm>
          <a:prstGeom prst="roundRect">
            <a:avLst>
              <a:gd name="adj" fmla="val 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477316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5120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EE2E6"/>
                </a:solidFill>
                <a:latin typeface="Segoe UI"/>
              </a:defRPr>
            </a:pPr>
            <a:r>
              <a:t>MOSD quantitative guidelines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3BD6CFB-51AC-6F01-901F-AAD42E48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00" y="1005095"/>
            <a:ext cx="6014650" cy="3455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Prior Work and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6/22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28910"/>
              </p:ext>
            </p:extLst>
          </p:nvPr>
        </p:nvGraphicFramePr>
        <p:xfrm>
          <a:off x="548640" y="1051560"/>
          <a:ext cx="11091672" cy="2859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Study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Methods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</a:t>
                      </a:r>
                      <a:br/>
                      <a:r>
                        <a:t>(of 6)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Bio</a:t>
                      </a:r>
                      <a:br/>
                      <a:r>
                        <a:t>(of 3)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Limitation</a:t>
                      </a:r>
                    </a:p>
                  </a:txBody>
                  <a:tcPr marL="50800" marR="50800" marT="25400" marB="25400"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Rappoport &amp;</a:t>
                      </a:r>
                      <a:br/>
                      <a:r>
                        <a:t>Shamir 2018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TCGA</a:t>
                      </a:r>
                      <a:br/>
                      <a:r>
                        <a:t>(10 cancers)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SNF, LRA, COCA,</a:t>
                      </a:r>
                      <a:br/>
                      <a:r>
                        <a:t>Spectrum, PINS, etc.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 / 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 / 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computational</a:t>
                      </a:r>
                      <a:br/>
                      <a:r>
                        <a:t>design factors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Tini et al.</a:t>
                      </a:r>
                      <a:br/>
                      <a:r>
                        <a:t>2019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TCGA</a:t>
                      </a:r>
                      <a:br/>
                      <a:r>
                        <a:t>breast cancer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SNF, iClusterPlus,</a:t>
                      </a:r>
                      <a:br/>
                      <a:r>
                        <a:t>MOFA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 / 6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 / 3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Single cancer type,</a:t>
                      </a:r>
                      <a:br/>
                      <a:r>
                        <a:t>few methods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Chauvel et al.</a:t>
                      </a:r>
                      <a:br/>
                      <a:r>
                        <a:t>2020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Simulated +</a:t>
                      </a:r>
                      <a:br/>
                      <a:r>
                        <a:t>real data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MOFA, NMF, CC,</a:t>
                      </a:r>
                      <a:br/>
                      <a:r>
                        <a:t>iCluster, SNF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2 / 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 / 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biological</a:t>
                      </a:r>
                      <a:br/>
                      <a:r>
                        <a:t>factor analysis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Pierre-Jean</a:t>
                      </a:r>
                      <a:br/>
                      <a:r>
                        <a:t>et al. 2020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TCGA</a:t>
                      </a:r>
                      <a:br/>
                      <a:r>
                        <a:t>(4 cancers)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SNF, CIMLR,</a:t>
                      </a:r>
                      <a:br/>
                      <a:r>
                        <a:t>PINS, MoCluster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 / 6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1 / 3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feature selection</a:t>
                      </a:r>
                      <a:br/>
                      <a:r>
                        <a:t>or noise tests</a:t>
                      </a:r>
                    </a:p>
                  </a:txBody>
                  <a:tcPr marL="50800" marR="50800" marT="25400" marB="25400"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Duan et al.</a:t>
                      </a:r>
                      <a:br/>
                      <a:r>
                        <a:t>2021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TCGA</a:t>
                      </a:r>
                      <a:br/>
                      <a:r>
                        <a:t>(33 cancers)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SNF, Spectrum,</a:t>
                      </a:r>
                      <a:br/>
                      <a:r>
                        <a:t>PINS, NEMO, etc.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0 / 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3 / 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  <a:latin typeface="Segoe UI"/>
                        </a:defRPr>
                      </a:pPr>
                      <a:r>
                        <a:t>No computational</a:t>
                      </a:r>
                      <a:br/>
                      <a:r>
                        <a:t>design factors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MOSD</a:t>
                      </a:r>
                      <a:br>
                        <a:rPr dirty="0"/>
                      </a:br>
                      <a:r>
                        <a:rPr dirty="0"/>
                        <a:t>(Ours)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TCGA</a:t>
                      </a:r>
                      <a:br>
                        <a:rPr dirty="0"/>
                      </a:br>
                      <a:r>
                        <a:rPr dirty="0"/>
                        <a:t>(10 cancers)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SNF, Spectrum, PINS+,</a:t>
                      </a:r>
                      <a:br>
                        <a:rPr dirty="0"/>
                      </a:br>
                      <a:r>
                        <a:rPr dirty="0"/>
                        <a:t>COCA, LRA, CC, MOFA,</a:t>
                      </a:r>
                      <a:br>
                        <a:rPr dirty="0"/>
                      </a:br>
                      <a:r>
                        <a:rPr dirty="0"/>
                        <a:t>NEMO, </a:t>
                      </a:r>
                      <a:r>
                        <a:rPr dirty="0" err="1"/>
                        <a:t>IntNMF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iCl</a:t>
                      </a:r>
                      <a:r>
                        <a:rPr dirty="0"/>
                        <a:t>+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6 / 6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3 / 3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i="1" dirty="0"/>
                        <a:t>First unified</a:t>
                      </a:r>
                      <a:br>
                        <a:rPr sz="1100" i="1" dirty="0"/>
                      </a:br>
                      <a:r>
                        <a:rPr sz="1100" i="1" dirty="0"/>
                        <a:t>benchmark</a:t>
                      </a:r>
                    </a:p>
                  </a:txBody>
                  <a:tcPr marL="50800" marR="50800" marT="25400" marB="254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77639"/>
            <a:ext cx="11091672" cy="777240"/>
          </a:xfrm>
          <a:prstGeom prst="roundRect">
            <a:avLst>
              <a:gd name="adj" fmla="val 0"/>
            </a:avLst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050791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Segoe UI"/>
              </a:defRPr>
            </a:pPr>
            <a:r>
              <a:t>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399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529"/>
                </a:solidFill>
                <a:latin typeface="Segoe UI"/>
              </a:defRPr>
            </a:pPr>
            <a:r>
              <a:t>No study covers all 6 computational + 3 biological factors with specific method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0"/>
            </a:avLst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0109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→ MOSD: Our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10 cancers  |  10 methods  |  6/6 computational + 3/3 biological factors  |  First unified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MOSD — 9-Factor Benchmark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7/22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11091672" cy="34747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987552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Computational Factors (6)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2704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1  Sample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≥26 per class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52704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2  Feature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8562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Top 1–10% recommended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417320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52704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3 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562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RAW / NORM / GL modes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505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5603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4  Noise Tolerance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895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&lt;30% recommended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24505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25603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5  Class 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8895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&lt;3:1 ratio 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24505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25603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7377"/>
                </a:solidFill>
                <a:latin typeface="Segoe UI"/>
              </a:defRPr>
            </a:pPr>
            <a:r>
              <a:t>6  Number of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8895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Subtype count effect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93592"/>
            <a:ext cx="1109167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621024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Biological Factors (3)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507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Segoe UI"/>
              </a:defRPr>
            </a:pPr>
            <a:r>
              <a:t>7  Cancer Subtype Combination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Subtype pairing matters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6" y="40507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Segoe UI"/>
              </a:defRPr>
            </a:pPr>
            <a:r>
              <a:t>8  Omics Combination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4897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GE-ME most effective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4050792"/>
            <a:ext cx="3520440" cy="868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41605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Segoe UI"/>
              </a:defRPr>
            </a:pPr>
            <a:r>
              <a:t>9  Clinical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48970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95057"/>
                </a:solidFill>
                <a:latin typeface="Segoe UI"/>
              </a:defRPr>
            </a:pPr>
            <a:r>
              <a:t>Subtype &gt; Gender &gt; Stage &gt; 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206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68E96"/>
                </a:solidFill>
                <a:latin typeface="Segoe UI"/>
              </a:defRPr>
            </a:pPr>
            <a:r>
              <a:t>Single-factor isolation: vary one factor, fix all others, 10 repetitions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Data and Benchmark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8/22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5760720" cy="2514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Segoe UI"/>
              </a:defRPr>
            </a:pPr>
            <a:r>
              <a:t>Data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10 TCGA cancer types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3,988 patients across all cohorts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4 omics modalities (~437K features)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10 MOI methods evaluated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Cluster-score-based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7328"/>
            <a:ext cx="5760720" cy="2514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950208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50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Segoe UI"/>
              </a:defRPr>
            </a:pPr>
            <a:r>
              <a:t>10 MOI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SNF, Spectrum, PINSPlus, COCA, LRAcluster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CC, MOFA, NEMO, IntNMF, iClusterPlus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Selection criteria: R/Python availability, broad adoption,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multi-omics input support, reproducibility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42C5C5E-4481-01E0-6FD0-A5FAF3704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37641"/>
            <a:ext cx="5249008" cy="5458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Segoe UI"/>
              </a:defRPr>
            </a:pPr>
            <a:r>
              <a:t>9/22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868680"/>
            <a:ext cx="11091672" cy="45720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951923"/>
            <a:ext cx="10725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rPr b="1" dirty="0"/>
              <a:t>Evaluation Metric:  Cluster-score = ( ARI + NMI + F-measure ) / 3 </a:t>
            </a:r>
            <a:r>
              <a:rPr dirty="0"/>
              <a:t>   —    </a:t>
            </a:r>
            <a:r>
              <a:rPr sz="900" dirty="0"/>
              <a:t>Combines chance-corrected, information-theoretic, and set-based perspectives to avoid single-metric bias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t>1. Sample Size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t>≥ 26 per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9659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5831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478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Variance stabilizes at 26; below → catastrophic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4630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5087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t>2. Class Balance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t>&lt; 3:1 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19659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9976" y="25831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5478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Imbalance &gt;3:1 → bimodal distribution (p&lt;0.0001)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4630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5087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t>3. Feature Selection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t>1–10% optimal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9659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25831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35478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Peak at 1–10%; using 100% → system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0233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t>4. Noise Tolerance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t>&lt; 30% 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4805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0977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0624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30% cliff; &gt;80% → total failure (score &lt;0.10)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9776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16552" y="40233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t>5. Omics Combination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t>GE-ME preferred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44805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9976" y="50977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60624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Gene Expression + Methylation best across 10 cancers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3977640"/>
            <a:ext cx="3575304" cy="237744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23360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6. Subtype Distinctness</a:t>
            </a:r>
          </a:p>
          <a:p>
            <a:pPr>
              <a:defRPr sz="1100" b="1">
                <a:solidFill>
                  <a:srgbClr val="1B2A4A"/>
                </a:solidFill>
                <a:latin typeface="Segoe UI"/>
              </a:defRPr>
            </a:pPr>
            <a:r>
              <a:rPr dirty="0"/>
              <a:t>Molecular &gt; clinical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480560"/>
            <a:ext cx="3429000" cy="1508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50977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DEE2E6"/>
                </a:solidFill>
                <a:latin typeface="Segoe UI"/>
              </a:defRPr>
            </a:pPr>
            <a:r>
              <a:t>[Figure]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6062472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Molecularly distinct pairs → high score (&gt;0.90)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7FF5E72-54D8-9694-9F91-4C5A783D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80601"/>
            <a:ext cx="3392424" cy="149411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614CEB0-BCCF-0832-F1A9-ADE523276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80602"/>
            <a:ext cx="3428999" cy="150797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955E41-1FC5-6F24-1F37-EFB360C65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995419"/>
            <a:ext cx="3429000" cy="147833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CE7640E-E474-4192-7E53-D88DB55D0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465" y="4485133"/>
            <a:ext cx="1571624" cy="150875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ED2B2A52-238E-A246-1345-C1E4844D3D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431" y="4518782"/>
            <a:ext cx="3355848" cy="147511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F8370D1F-35C2-6F09-5A13-3D3567043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4480560"/>
            <a:ext cx="3428234" cy="14817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1: MOSD Guidelines &amp; Method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10/22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5760720" cy="5074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Segoe UI"/>
              </a:defRPr>
            </a:pPr>
            <a:r>
              <a:t>MOSD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≥ 26 samples per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Minimum for stable clustering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≤ 10% feature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Top features reduce noise significantly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&lt; 3:1 class balance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Avoid imbalance-driven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GE-ME omics preferred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Gene expression + methylation most effective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&lt; 30% noise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Keep below threshold for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  <a:latin typeface="Segoe UI"/>
              </a:defRPr>
            </a:pPr>
            <a:r>
              <a:t>✓  Molecularly distinct subtypes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E96"/>
                </a:solidFill>
                <a:latin typeface="Segoe UI"/>
              </a:defRPr>
            </a:pPr>
            <a:r>
              <a:t>Choose subtypes with clear biological signal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40F3912-0999-FF7F-5883-CA8C9EA80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80" y="1983486"/>
            <a:ext cx="4599432" cy="406648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75704" y="1005840"/>
            <a:ext cx="4599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7377"/>
                </a:solidFill>
                <a:latin typeface="Segoe UI"/>
              </a:defRPr>
            </a:pPr>
            <a:r>
              <a:t>Top Performing Methods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75704" y="1353312"/>
            <a:ext cx="1081278" cy="548640"/>
          </a:xfrm>
          <a:prstGeom prst="roundRect">
            <a:avLst>
              <a:gd name="adj" fmla="val 15000"/>
            </a:avLst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75704" y="1389888"/>
            <a:ext cx="10812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SNF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75704" y="1627632"/>
            <a:ext cx="10812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Computational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48422" y="1353312"/>
            <a:ext cx="1081278" cy="54864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48422" y="1389888"/>
            <a:ext cx="10812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48422" y="1627632"/>
            <a:ext cx="10812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Clinical / Bio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21140" y="1353312"/>
            <a:ext cx="1081278" cy="548640"/>
          </a:xfrm>
          <a:prstGeom prst="roundRect">
            <a:avLst>
              <a:gd name="adj" fmla="val 15000"/>
            </a:avLst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1140" y="1389888"/>
            <a:ext cx="10812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PINSPlus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1140" y="1627632"/>
            <a:ext cx="10812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Noise Robust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93858" y="1353312"/>
            <a:ext cx="1081278" cy="54864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93858" y="1389888"/>
            <a:ext cx="10812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93858" y="1627632"/>
            <a:ext cx="10812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Gender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1 Summary: MOSD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11/22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11091672" cy="19659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Key Contributions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543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First unified 9-factor benchmark framework for multi-omics integration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10 methods × 10 cancers × 3,988 patients — systematic evaluation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Actionable guidelines with statistical thresholds for practitioners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91672" cy="43891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300984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BMC Genomics (2025, SCIE)  |  github.com/</a:t>
            </a:r>
            <a:r>
              <a:rPr dirty="0" err="1"/>
              <a:t>cobi</a:t>
            </a:r>
            <a:r>
              <a:rPr dirty="0"/>
              <a:t>-git/MOPARAM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13632"/>
            <a:ext cx="11091672" cy="19659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096512"/>
            <a:ext cx="45720" cy="411480"/>
          </a:xfrm>
          <a:prstGeom prst="rect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965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Limitations &amp; Future Directions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10543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TCGA-specific results — external cohort validation needed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Single-cell multi-omics extension planned as next step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Factor interaction effects to be explored in future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C1EE-F218-CA5D-CA1A-5AA25577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07F481-B89E-F82E-6610-430AC38C9F63}"/>
              </a:ext>
            </a:extLst>
          </p:cNvPr>
          <p:cNvSpPr/>
          <p:nvPr/>
        </p:nvSpPr>
        <p:spPr>
          <a:xfrm>
            <a:off x="0" y="0"/>
            <a:ext cx="12188952" cy="33147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F25E-7391-7F8C-651E-D6AD188E1397}"/>
              </a:ext>
            </a:extLst>
          </p:cNvPr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Paper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9F311-4482-DA3F-0F11-B13526DB2263}"/>
              </a:ext>
            </a:extLst>
          </p:cNvPr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1F459-CACB-9CE0-D63F-FC87AB6EF3E9}"/>
              </a:ext>
            </a:extLst>
          </p:cNvPr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316E3-E529-C952-7BB6-63B6B670DE7F}"/>
              </a:ext>
            </a:extLst>
          </p:cNvPr>
          <p:cNvSpPr txBox="1"/>
          <p:nvPr/>
        </p:nvSpPr>
        <p:spPr>
          <a:xfrm>
            <a:off x="11091672" y="6528816"/>
            <a:ext cx="82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12/22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568C9-2C43-56E7-8931-6DFBECE7A4A0}"/>
              </a:ext>
            </a:extLst>
          </p:cNvPr>
          <p:cNvSpPr txBox="1"/>
          <p:nvPr/>
        </p:nvSpPr>
        <p:spPr>
          <a:xfrm>
            <a:off x="461772" y="1336048"/>
            <a:ext cx="114528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lang="en-US" altLang="ko-KR" sz="3800" b="1" dirty="0"/>
              <a:t>Identification of severity related mutation hotspots in SARS-CoV-2 using a density-based clustering approach</a:t>
            </a:r>
            <a:endParaRPr dirty="0"/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5C1A4E8F-B156-45DF-17A4-FA004FD2B38E}"/>
              </a:ext>
            </a:extLst>
          </p:cNvPr>
          <p:cNvSpPr/>
          <p:nvPr/>
        </p:nvSpPr>
        <p:spPr>
          <a:xfrm>
            <a:off x="548640" y="4370844"/>
            <a:ext cx="5349240" cy="11887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DD2C0A08-CF84-9394-C496-FA75CA5D0000}"/>
              </a:ext>
            </a:extLst>
          </p:cNvPr>
          <p:cNvSpPr/>
          <p:nvPr/>
        </p:nvSpPr>
        <p:spPr>
          <a:xfrm>
            <a:off x="731520" y="4553724"/>
            <a:ext cx="457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EBC31-3C4B-1F0B-1E3B-855E58793280}"/>
              </a:ext>
            </a:extLst>
          </p:cNvPr>
          <p:cNvSpPr txBox="1"/>
          <p:nvPr/>
        </p:nvSpPr>
        <p:spPr>
          <a:xfrm>
            <a:off x="868680" y="45080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BioData Mining 2025 (SCIE)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E6750-0435-64A9-7931-C022EAE789AF}"/>
              </a:ext>
            </a:extLst>
          </p:cNvPr>
          <p:cNvSpPr txBox="1"/>
          <p:nvPr/>
        </p:nvSpPr>
        <p:spPr>
          <a:xfrm>
            <a:off x="868680" y="4809756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Segoe UI"/>
              </a:defRPr>
            </a:pPr>
            <a:r>
              <a:rPr lang="en-US" altLang="ko-KR" sz="1200" dirty="0"/>
              <a:t>Identification of severity related mutation hotspots in SARS-CoV-2 using a density-based clustering approach</a:t>
            </a:r>
            <a:endParaRPr dirty="0"/>
          </a:p>
        </p:txBody>
      </p:sp>
      <p:pic>
        <p:nvPicPr>
          <p:cNvPr id="20" name="Picture 19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2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The Frequency Trap in Viral Mutation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13/22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95057"/>
                </a:solidFill>
                <a:latin typeface="Segoe UI"/>
              </a:defRPr>
            </a:pPr>
            <a:r>
              <a:t>Traditional frequency-based tracking misses rare but clinically critical immune-evasion mutations.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2560320"/>
          </a:xfrm>
          <a:prstGeom prst="roundRect">
            <a:avLst>
              <a:gd name="adj" fmla="val 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C62828"/>
                </a:solidFill>
                <a:latin typeface="Segoe UI"/>
              </a:defRPr>
            </a:pPr>
            <a:r>
              <a:t>Limitation (Traditional)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Frequency-only or entropy-only approaches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Mullick et al. (2021):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Spike protein region only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K-means with pre-specified 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No whole-genome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17320"/>
            <a:ext cx="5394960" cy="25603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600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t>Innovation (The H-score)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Unifies mutation probability and diversity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into a single density-aware metric.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2971800"/>
            <a:ext cx="4663440" cy="502920"/>
          </a:xfrm>
          <a:prstGeom prst="roundRect">
            <a:avLst>
              <a:gd name="adj" fmla="val 0"/>
            </a:avLst>
          </a:prstGeom>
          <a:solidFill>
            <a:srgbClr val="E6F4F4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3044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7377"/>
                </a:solidFill>
                <a:latin typeface="Segoe UI"/>
              </a:defRPr>
            </a:pPr>
            <a:r>
              <a:t>H-score = Probability × Entropy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65027BB-4107-F0F9-4851-5961AE54F158}"/>
              </a:ext>
            </a:extLst>
          </p:cNvPr>
          <p:cNvGrpSpPr/>
          <p:nvPr/>
        </p:nvGrpSpPr>
        <p:grpSpPr>
          <a:xfrm>
            <a:off x="1909217" y="4084809"/>
            <a:ext cx="8297773" cy="2425719"/>
            <a:chOff x="-1402103" y="2691130"/>
            <a:chExt cx="13024000" cy="3807355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AB55C4E-839B-9769-E45D-3EB5E33CF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6255" y="2697480"/>
              <a:ext cx="6925642" cy="3801005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03DC90E1-9C7D-C202-AFA0-F1278CD90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402103" y="2691130"/>
              <a:ext cx="6315956" cy="3667637"/>
            </a:xfrm>
            <a:prstGeom prst="rect">
              <a:avLst/>
            </a:prstGeom>
          </p:spPr>
        </p:pic>
      </p:grpSp>
      <p:pic>
        <p:nvPicPr>
          <p:cNvPr id="25" name="Picture 24" descr="knu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Three Approaches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14/22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3566160" cy="3657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35661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1064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Frequency-Based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"Frequent = important?"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62828"/>
                </a:solidFill>
                <a:latin typeface="Segoe UI"/>
              </a:defRPr>
            </a:pPr>
            <a:r>
              <a:t>•  ✘  Lineage bias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D614G &gt;90% frequency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but low diversity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High frequency does not imply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clinical significance.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1396" y="1051560"/>
            <a:ext cx="3566160" cy="3657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1396" y="1051560"/>
            <a:ext cx="3566160" cy="38404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4276" y="11064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Entropy-Based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6" y="15544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"Diverse = important?"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6C00"/>
                </a:solidFill>
                <a:latin typeface="Segoe UI"/>
              </a:defRPr>
            </a:pPr>
            <a:r>
              <a:t>•  ✘  Ignores frequency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Rare positions inflated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when diversity is high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Diversity alone misleads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without frequency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051560"/>
            <a:ext cx="3566160" cy="3657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051560"/>
            <a:ext cx="3566160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1064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H-score (This 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15544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t>"Frequency × Diversity = Severity"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D7377"/>
                </a:solidFill>
                <a:latin typeface="Segoe UI"/>
              </a:defRPr>
            </a:pPr>
            <a:r>
              <a:t>•  ✓  c315: high P, low 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Detected via density clustering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not simple thresholding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Combines both signals into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a unified severity metric.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10328"/>
            <a:ext cx="11091672" cy="502920"/>
          </a:xfrm>
          <a:prstGeom prst="roundRect">
            <a:avLst>
              <a:gd name="adj" fmla="val 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001768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62828"/>
                </a:solidFill>
                <a:latin typeface="Segoe UI"/>
              </a:defRPr>
            </a:pPr>
            <a:r>
              <a:t>DBSCAN direct: 4 clusters, 99.76% in one mega-cluster → Adaptive density clustering needed</a:t>
            </a:r>
          </a:p>
        </p:txBody>
      </p:sp>
      <p:pic>
        <p:nvPicPr>
          <p:cNvPr id="22" name="Picture 21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H-score — Unifying Frequency and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15/22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5303520" cy="51206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7377"/>
                </a:solidFill>
                <a:latin typeface="Segoe UI"/>
              </a:defRPr>
            </a:pPr>
            <a:r>
              <a:t>H-score Formula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4572000" cy="685800"/>
          </a:xfrm>
          <a:prstGeom prst="roundRect">
            <a:avLst>
              <a:gd name="adj" fmla="val 0"/>
            </a:avLst>
          </a:prstGeom>
          <a:solidFill>
            <a:srgbClr val="E6F4F4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739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7377"/>
                </a:solidFill>
                <a:latin typeface="Segoe UI"/>
              </a:defRPr>
            </a:pPr>
            <a:r>
              <a:t>Hᵢ = log₂( Pᵢ · Eᵢ · 100 + 1 )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Step 1  Nucleotide Ratios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Count A, T, G, C at each position across all sequences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Step 2  Mutation Probability Pᵢ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Pᵢ = 1 − (dominant nucleotide fraction)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Step 3  Mutation Entropy Eᵢ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Shannon entropy over non-dominant nucleotides only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B2A4A"/>
                </a:solidFill>
                <a:latin typeface="Segoe UI"/>
              </a:defRPr>
            </a:pPr>
            <a:r>
              <a:t>Step 4  Scaling &amp; Log Transform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Multiply P×E×100, then log₂(x+1) for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7377"/>
                </a:solidFill>
                <a:latin typeface="Segoe UI"/>
              </a:defRPr>
            </a:pPr>
            <a:r>
              <a:t>High H-score = frequent AND diverse mutations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Segoe UI"/>
              </a:defRPr>
            </a:pPr>
            <a:r>
              <a:t>Why Mutation Entropy?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508760"/>
            <a:ext cx="5486400" cy="164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16916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C62828"/>
                </a:solidFill>
                <a:latin typeface="Segoe UI"/>
              </a:defRPr>
            </a:pPr>
            <a:r>
              <a:t>Nucleotide Entropy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Measures all uncertainty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including the dominant base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c315: P = 0.97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2828"/>
                </a:solidFill>
                <a:latin typeface="Segoe UI"/>
              </a:defRPr>
            </a:pPr>
            <a:r>
              <a:t>→ 99.8th percentile  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3337560"/>
            <a:ext cx="5486400" cy="1554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3520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E7D32"/>
                </a:solidFill>
                <a:latin typeface="Segoe UI"/>
              </a:defRPr>
            </a:pPr>
            <a:r>
              <a:t>Mutation Entropy (This Work)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Conditional diversity only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excludes the dominant base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c315: → 2.3rd percentile 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074920"/>
            <a:ext cx="5486400" cy="594360"/>
          </a:xfrm>
          <a:prstGeom prst="roundRect">
            <a:avLst>
              <a:gd name="adj" fmla="val 0"/>
            </a:avLst>
          </a:prstGeom>
          <a:solidFill>
            <a:srgbClr val="E6F4F4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5184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224,318 GISAID sequences</a:t>
            </a:r>
            <a:br>
              <a:rPr dirty="0"/>
            </a:br>
            <a:r>
              <a:rPr dirty="0"/>
              <a:t>29,409 positions scored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CC0D0D-6554-D987-E951-E4A396A308F9}"/>
              </a:ext>
            </a:extLst>
          </p:cNvPr>
          <p:cNvSpPr txBox="1"/>
          <p:nvPr/>
        </p:nvSpPr>
        <p:spPr>
          <a:xfrm>
            <a:off x="5877687" y="5850374"/>
            <a:ext cx="6038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7377"/>
                </a:solidFill>
                <a:latin typeface="Segoe UI"/>
              </a:defRPr>
            </a:pPr>
            <a:r>
              <a:rPr lang="en-US" sz="900" dirty="0">
                <a:solidFill>
                  <a:srgbClr val="FF0000"/>
                </a:solidFill>
              </a:rPr>
              <a:t>*</a:t>
            </a:r>
            <a:r>
              <a:rPr lang="en-US" altLang="ko-KR" sz="900" b="1" dirty="0">
                <a:solidFill>
                  <a:srgbClr val="FF0000"/>
                </a:solidFill>
              </a:rPr>
              <a:t>GISAID (the Global Initiative on Sharing All Influenza Data) is a massive, international database that allows scientists around the world to share the genetic "blueprints" (genomic sequences) of viruses in real-time</a:t>
            </a:r>
            <a:endParaRPr sz="900" dirty="0">
              <a:solidFill>
                <a:srgbClr val="FF0000"/>
              </a:solidFill>
            </a:endParaRPr>
          </a:p>
        </p:txBody>
      </p:sp>
      <p:pic>
        <p:nvPicPr>
          <p:cNvPr id="22" name="Picture 21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MutClust — Adaptive Density-Based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16/22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59"/>
            <a:ext cx="3566160" cy="49267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C62828"/>
                </a:solidFill>
                <a:latin typeface="Segoe UI"/>
              </a:defRPr>
            </a:pPr>
            <a:r>
              <a:t>1. Beyond Global ε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DBSCAN uses a fixed radius ε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for all points in the dataset.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C62828"/>
                </a:solidFill>
                <a:latin typeface="Segoe UI"/>
              </a:defRPr>
            </a:pPr>
            <a:r>
              <a:t>Problem: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99.76% of positions fall into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a single mega-cluster.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Only 4 clusters total.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A global radius cannot capture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local density variations in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t>mutation score distributions.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4276" y="1234440"/>
            <a:ext cx="32004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2. H-score Driven Local ε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Adaptive neighborhood size: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Deps = ⌈γ · Hᵢ⌉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(γ = 10)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Decay factor:</a:t>
            </a:r>
          </a:p>
          <a:p>
            <a:pPr algn="l">
              <a:spcAft>
                <a:spcPts val="800"/>
              </a:spcAft>
              <a:defRPr sz="18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∂ = 3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rPr dirty="0"/>
              <a:t>Higher H-score → larger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rPr dirty="0"/>
              <a:t>neighborhood; decay controls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68E96"/>
                </a:solidFill>
                <a:latin typeface="Segoe UI"/>
              </a:defRPr>
            </a:pPr>
            <a:r>
              <a:rPr dirty="0"/>
              <a:t>influence fall-off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3924" y="12344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3. Hotspot Detection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477 hotspots identified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from 224,318 sequences.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D7377"/>
                </a:solidFill>
                <a:latin typeface="Segoe UI"/>
              </a:defRPr>
            </a:pPr>
            <a:r>
              <a:rPr dirty="0"/>
              <a:t>CCM 4 Conditions: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•  H &gt; 0.03 (individual)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•  Mean H &gt; 0.01 (cluster avg)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•  Sum H &gt; 0.05 (cluster total)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rPr dirty="0"/>
              <a:t>•  Mutations &gt; 5 (min size)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576" y="6133719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68E96"/>
                </a:solidFill>
                <a:latin typeface="Segoe UI"/>
              </a:defRPr>
            </a:pPr>
            <a:r>
              <a:rPr dirty="0"/>
              <a:t>Parameters: 5-dist plot valley = 500 → γ = 10, ∂ = 3  |  Whole-genome, data-driven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DF2C57B-27D6-C949-C051-293CDC8A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56" y="3985741"/>
            <a:ext cx="2493519" cy="190192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2E66D11-122E-CE1D-5CB8-144D414BE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932" y="3994129"/>
            <a:ext cx="2302130" cy="17190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8F01F9-78E9-6A86-54EB-46FA268952F5}"/>
              </a:ext>
            </a:extLst>
          </p:cNvPr>
          <p:cNvSpPr txBox="1"/>
          <p:nvPr/>
        </p:nvSpPr>
        <p:spPr>
          <a:xfrm>
            <a:off x="4469478" y="3994129"/>
            <a:ext cx="44975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rPr lang="en-US" altLang="ko-KR" sz="1200" dirty="0"/>
              <a:t>Key Innovations: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 b="1">
                <a:solidFill>
                  <a:srgbClr val="0D7377"/>
                </a:solidFill>
                <a:latin typeface="Segoe UI"/>
              </a:defRPr>
            </a:pPr>
            <a:r>
              <a:rPr lang="en-US" altLang="ko-KR" sz="1200" dirty="0"/>
              <a:t> Local Epsilon Adjustment: Expands or shrinks search boundaries dynamically based on the local H-score (y=10).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 b="1">
                <a:solidFill>
                  <a:srgbClr val="0D7377"/>
                </a:solidFill>
                <a:latin typeface="Segoe UI"/>
              </a:defRPr>
            </a:pPr>
            <a:r>
              <a:rPr lang="en-US" altLang="ko-KR" sz="1200" dirty="0"/>
              <a:t>Diminishing Factor: Boundary edges dynamically attenuate (2=3) to drop low H-score bases and cleanly isolate biological hotspots. </a:t>
            </a:r>
            <a:endParaRPr lang="ko-KR" altLang="en-US" sz="1200" dirty="0"/>
          </a:p>
          <a:p>
            <a:pPr algn="l">
              <a:spcAft>
                <a:spcPts val="12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endParaRPr sz="1200" dirty="0"/>
          </a:p>
        </p:txBody>
      </p:sp>
      <p:pic>
        <p:nvPicPr>
          <p:cNvPr id="22" name="Picture 21" descr="knu_symb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Hotspot Detection Results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17/22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39" y="1051560"/>
            <a:ext cx="5193029" cy="1844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B2A4A"/>
                </a:solidFill>
                <a:latin typeface="Segoe UI"/>
              </a:defRPr>
            </a:pPr>
            <a:r>
              <a:t>Detection Summary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12529"/>
                </a:solidFill>
                <a:latin typeface="Segoe UI"/>
              </a:defRPr>
            </a:pPr>
            <a:r>
              <a:t>477 hotspots identified across 9/10 genes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495057"/>
                </a:solidFill>
                <a:latin typeface="Segoe UI"/>
              </a:defRPr>
            </a:pPr>
            <a:r>
              <a:t>•  D614G, N501Y, E484K, K417N/T, P681H/R, L452R, etc.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62828"/>
                </a:solidFill>
                <a:latin typeface="Segoe UI"/>
              </a:defRPr>
            </a:pPr>
            <a:r>
              <a:t>•  DBSCAN: 4 clusters (99.76% in one)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0D7377"/>
                </a:solidFill>
                <a:latin typeface="Segoe UI"/>
              </a:defRPr>
            </a:pPr>
            <a:r>
              <a:t>•  MutClust: 477 meaningful hotspots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FE9580-39DF-E98E-576A-AED57259F962}"/>
              </a:ext>
            </a:extLst>
          </p:cNvPr>
          <p:cNvGrpSpPr/>
          <p:nvPr/>
        </p:nvGrpSpPr>
        <p:grpSpPr>
          <a:xfrm>
            <a:off x="6241542" y="1078992"/>
            <a:ext cx="5193030" cy="1844040"/>
            <a:chOff x="548640" y="4160520"/>
            <a:chExt cx="5029200" cy="1645920"/>
          </a:xfrm>
        </p:grpSpPr>
        <p:sp>
          <p:nvSpPr>
            <p:cNvPr id="10" name="Rounded Rectangle 9"/>
            <p:cNvSpPr/>
            <p:nvPr/>
          </p:nvSpPr>
          <p:spPr>
            <a:xfrm>
              <a:off x="548640" y="4160520"/>
              <a:ext cx="5029200" cy="1645920"/>
            </a:xfrm>
            <a:prstGeom prst="roundRect">
              <a:avLst>
                <a:gd name="adj" fmla="val 0"/>
              </a:avLst>
            </a:prstGeom>
            <a:solidFill>
              <a:srgbClr val="E6F4F4"/>
            </a:solidFill>
            <a:ln w="19050">
              <a:solidFill>
                <a:srgbClr val="0D73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4343400"/>
              <a:ext cx="4663440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  <a:defRPr sz="1500" b="1">
                  <a:solidFill>
                    <a:srgbClr val="0D7377"/>
                  </a:solidFill>
                  <a:latin typeface="Segoe UI"/>
                </a:defRPr>
              </a:pPr>
              <a:r>
                <a:t>Bootstrap Validation</a:t>
              </a:r>
            </a:p>
            <a:p>
              <a:pPr algn="l">
                <a:spcAft>
                  <a:spcPts val="400"/>
                </a:spcAft>
                <a:defRPr sz="1200" b="0">
                  <a:solidFill>
                    <a:srgbClr val="212529"/>
                  </a:solidFill>
                  <a:latin typeface="Segoe UI"/>
                </a:defRPr>
              </a:pPr>
              <a:r>
                <a:t>•  1,000 random same-size regions tested</a:t>
              </a:r>
            </a:p>
            <a:p>
              <a:pPr algn="l">
                <a:spcAft>
                  <a:spcPts val="400"/>
                </a:spcAft>
                <a:defRPr sz="1200" b="0">
                  <a:solidFill>
                    <a:srgbClr val="495057"/>
                  </a:solidFill>
                  <a:latin typeface="Segoe UI"/>
                </a:defRPr>
              </a:pPr>
              <a:r>
                <a:t>•  3 metrics: mean H, max H, mutation count</a:t>
              </a:r>
            </a:p>
            <a:p>
              <a:pPr algn="l">
                <a:spcAft>
                  <a:spcPts val="200"/>
                </a:spcAft>
                <a:defRPr sz="1200" b="0">
                  <a:solidFill>
                    <a:srgbClr val="495057"/>
                  </a:solidFill>
                  <a:latin typeface="Segoe UI"/>
                </a:defRPr>
              </a:pPr>
              <a:r>
                <a:t>•  Benjamini–Hochberg (BH) correction applied</a:t>
              </a: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56D046F-9D21-23BB-88A2-FA0AE71F5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98" y="3105912"/>
            <a:ext cx="10195404" cy="3249168"/>
          </a:xfrm>
          <a:prstGeom prst="rect">
            <a:avLst/>
          </a:prstGeom>
        </p:spPr>
      </p:pic>
      <p:pic>
        <p:nvPicPr>
          <p:cNvPr id="16" name="Picture 15" descr="knu_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Severity &amp; Biological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18/22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D8BF90A-2816-223C-AD30-2F6016AA96F1}"/>
              </a:ext>
            </a:extLst>
          </p:cNvPr>
          <p:cNvGrpSpPr/>
          <p:nvPr/>
        </p:nvGrpSpPr>
        <p:grpSpPr>
          <a:xfrm>
            <a:off x="9159241" y="1398589"/>
            <a:ext cx="2952336" cy="1417320"/>
            <a:chOff x="6263640" y="1463040"/>
            <a:chExt cx="5376672" cy="1417320"/>
          </a:xfrm>
        </p:grpSpPr>
        <p:sp>
          <p:nvSpPr>
            <p:cNvPr id="13" name="Rounded Rectangle 12"/>
            <p:cNvSpPr/>
            <p:nvPr/>
          </p:nvSpPr>
          <p:spPr>
            <a:xfrm>
              <a:off x="6263640" y="1463040"/>
              <a:ext cx="5376672" cy="1417320"/>
            </a:xfrm>
            <a:prstGeom prst="roundRect">
              <a:avLst>
                <a:gd name="adj" fmla="val 0"/>
              </a:avLst>
            </a:prstGeom>
            <a:solidFill>
              <a:srgbClr val="C628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46520" y="1536192"/>
              <a:ext cx="5010912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Hotspot c315 (Spike)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6520" y="1920240"/>
              <a:ext cx="5010912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  <a:defRPr sz="1300" b="0">
                  <a:solidFill>
                    <a:srgbClr val="FFFFFF"/>
                  </a:solidFill>
                  <a:latin typeface="Segoe UI"/>
                </a:defRPr>
              </a:pPr>
              <a:r>
                <a:t>SMS avg 7.04  vs  MMS avg 0.24</a:t>
              </a:r>
            </a:p>
            <a:p>
              <a:pPr algn="l">
                <a:spcAft>
                  <a:spcPts val="200"/>
                </a:spcAft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t>~30× difference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09482C-1926-3ADE-DA25-67EEEC6A4747}"/>
              </a:ext>
            </a:extLst>
          </p:cNvPr>
          <p:cNvGrpSpPr/>
          <p:nvPr/>
        </p:nvGrpSpPr>
        <p:grpSpPr>
          <a:xfrm>
            <a:off x="9159241" y="2944811"/>
            <a:ext cx="2952336" cy="1417320"/>
            <a:chOff x="6263640" y="2990088"/>
            <a:chExt cx="5376672" cy="1417320"/>
          </a:xfrm>
        </p:grpSpPr>
        <p:sp>
          <p:nvSpPr>
            <p:cNvPr id="16" name="Rounded Rectangle 15"/>
            <p:cNvSpPr/>
            <p:nvPr/>
          </p:nvSpPr>
          <p:spPr>
            <a:xfrm>
              <a:off x="6263640" y="2990088"/>
              <a:ext cx="5376672" cy="1417320"/>
            </a:xfrm>
            <a:prstGeom prst="roundRect">
              <a:avLst>
                <a:gd name="adj" fmla="val 0"/>
              </a:avLst>
            </a:prstGeom>
            <a:solidFill>
              <a:srgbClr val="C628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46520" y="3063240"/>
              <a:ext cx="5010912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Hotspot c442 (ORF8/N)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46520" y="3447288"/>
              <a:ext cx="5010912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  <a:defRPr sz="1300" b="0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SMS avg 9.04  vs  MMS avg 1.23</a:t>
              </a:r>
            </a:p>
            <a:p>
              <a:pPr algn="l">
                <a:spcAft>
                  <a:spcPts val="200"/>
                </a:spcAft>
                <a:defRPr sz="15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~7× difference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22B5416-E343-3B6C-BF26-308C729A0A80}"/>
              </a:ext>
            </a:extLst>
          </p:cNvPr>
          <p:cNvGrpSpPr/>
          <p:nvPr/>
        </p:nvGrpSpPr>
        <p:grpSpPr>
          <a:xfrm>
            <a:off x="1520126" y="4750751"/>
            <a:ext cx="9148572" cy="1604329"/>
            <a:chOff x="6263640" y="4517136"/>
            <a:chExt cx="5376672" cy="1856232"/>
          </a:xfrm>
        </p:grpSpPr>
        <p:sp>
          <p:nvSpPr>
            <p:cNvPr id="19" name="Rounded Rectangle 18"/>
            <p:cNvSpPr/>
            <p:nvPr/>
          </p:nvSpPr>
          <p:spPr>
            <a:xfrm>
              <a:off x="6263640" y="4517136"/>
              <a:ext cx="5376672" cy="1856232"/>
            </a:xfrm>
            <a:prstGeom prst="roundRect">
              <a:avLst>
                <a:gd name="adj" fmla="val 0"/>
              </a:avLst>
            </a:prstGeom>
            <a:solidFill>
              <a:srgbClr val="F1F3F5"/>
            </a:solidFill>
            <a:ln w="19050">
              <a:solidFill>
                <a:srgbClr val="1B2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46520" y="4700016"/>
              <a:ext cx="45720" cy="41148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83680" y="4700016"/>
              <a:ext cx="4873752" cy="1536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  <a:defRPr sz="1500" b="1">
                  <a:solidFill>
                    <a:srgbClr val="1B2A4A"/>
                  </a:solidFill>
                  <a:latin typeface="Segoe UI"/>
                </a:defRPr>
              </a:pPr>
              <a:r>
                <a:rPr dirty="0"/>
                <a:t>Biological Implication</a:t>
              </a:r>
            </a:p>
            <a:p>
              <a:pPr algn="l">
                <a:spcAft>
                  <a:spcPts val="400"/>
                </a:spcAft>
                <a:defRPr sz="1300" b="0">
                  <a:solidFill>
                    <a:srgbClr val="212529"/>
                  </a:solidFill>
                  <a:latin typeface="Segoe UI"/>
                </a:defRPr>
              </a:pPr>
              <a:r>
                <a:rPr dirty="0"/>
                <a:t>•  c315 → immune recognition disruption</a:t>
              </a:r>
            </a:p>
            <a:p>
              <a:pPr algn="l">
                <a:spcAft>
                  <a:spcPts val="800"/>
                </a:spcAft>
                <a:defRPr sz="1300" b="0">
                  <a:solidFill>
                    <a:srgbClr val="212529"/>
                  </a:solidFill>
                  <a:latin typeface="Segoe UI"/>
                </a:defRPr>
              </a:pPr>
              <a:r>
                <a:rPr dirty="0"/>
                <a:t>•  c442 → NK cell overactivation</a:t>
              </a:r>
            </a:p>
            <a:p>
              <a:pPr algn="l">
                <a:spcAft>
                  <a:spcPts val="200"/>
                </a:spcAft>
                <a:defRPr sz="1100" b="0">
                  <a:solidFill>
                    <a:srgbClr val="868E96"/>
                  </a:solidFill>
                  <a:latin typeface="Segoe UI"/>
                </a:defRPr>
              </a:pPr>
              <a:r>
                <a:rPr dirty="0"/>
                <a:t>⚠ In silico; experimental validation needed</a:t>
              </a:r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BA922540-C27F-DBEB-4CB1-2EECD2DEE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05" y="885487"/>
            <a:ext cx="8702153" cy="3709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19058" y="1050033"/>
            <a:ext cx="3092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Segoe UI"/>
              </a:defRPr>
            </a:pPr>
            <a:r>
              <a:rPr sz="1200" dirty="0"/>
              <a:t>Dominant Signatures in</a:t>
            </a:r>
            <a:r>
              <a:rPr lang="en-US" sz="1200" dirty="0"/>
              <a:t> </a:t>
            </a:r>
            <a:r>
              <a:rPr sz="1200" dirty="0"/>
              <a:t>Severe Patients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14ADF05-8CD6-CC40-8488-867020666BF8}"/>
              </a:ext>
            </a:extLst>
          </p:cNvPr>
          <p:cNvCxnSpPr>
            <a:cxnSpLocks/>
          </p:cNvCxnSpPr>
          <p:nvPr/>
        </p:nvCxnSpPr>
        <p:spPr>
          <a:xfrm flipV="1">
            <a:off x="8353425" y="2556191"/>
            <a:ext cx="665633" cy="166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F95CB54-8FE6-1699-DB9E-D626BC6BBD00}"/>
              </a:ext>
            </a:extLst>
          </p:cNvPr>
          <p:cNvCxnSpPr>
            <a:cxnSpLocks/>
          </p:cNvCxnSpPr>
          <p:nvPr/>
        </p:nvCxnSpPr>
        <p:spPr>
          <a:xfrm flipV="1">
            <a:off x="8353425" y="3813491"/>
            <a:ext cx="665633" cy="56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ADF9405-C4B3-D413-BD5F-C0F05ED5CE4C}"/>
              </a:ext>
            </a:extLst>
          </p:cNvPr>
          <p:cNvSpPr/>
          <p:nvPr/>
        </p:nvSpPr>
        <p:spPr>
          <a:xfrm>
            <a:off x="475020" y="899437"/>
            <a:ext cx="476250" cy="2670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7" name="Picture 46" descr="knu_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019058" y="1372752"/>
            <a:ext cx="3092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495057"/>
                </a:solidFill>
                <a:latin typeface="Segoe UI"/>
              </a:defRPr>
            </a:pPr>
            <a:r>
              <a:t>SMS = Severe Mutation Signature</a:t>
            </a:r>
          </a:p>
          <a:p>
            <a:pPr>
              <a:defRPr sz="900">
                <a:solidFill>
                  <a:srgbClr val="495057"/>
                </a:solidFill>
                <a:latin typeface="Segoe UI"/>
              </a:defRPr>
            </a:pPr>
            <a:r>
              <a:t>MMS = Moderate Mutation Signature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Paper 2: Influenza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Segoe UI"/>
              </a:defRPr>
            </a:pPr>
            <a:r>
              <a:t>19/22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5039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95057"/>
                </a:solidFill>
                <a:latin typeface="Segoe UI"/>
              </a:defRPr>
            </a:pPr>
            <a:r>
              <a:t>MutClust applied to 3 influenza strains with zero parameter changes — validating cross-virus generalizability.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34747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 / H1N1  (26,703 sequences)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2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D222G (HA segment)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2009 pandemic high-mortality variant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Captured without parameter tuning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Up to 39 hotspots per segment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All 8 gene segments analyzed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34747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 / H3N2  (52,734 sequences)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Consistent hotspot detection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across all 8 gene segments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Validates mid-scale performance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No predefined cluster count needed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Same γ=10, ∂=3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474720" cy="3200400"/>
          </a:xfrm>
          <a:prstGeom prst="roundRect">
            <a:avLst>
              <a:gd name="adj" fmla="val 2000"/>
            </a:avLst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234440"/>
            <a:ext cx="34747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 / Victoria  (197,473 sequences)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56232"/>
            <a:ext cx="3108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E627K (PB2 segment)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Avian → human adaptation marker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Captured at ~200K sequence scale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212529"/>
                </a:solidFill>
                <a:latin typeface="Segoe UI"/>
              </a:defRPr>
            </a:pPr>
            <a:r>
              <a:t>•  Largest dataset tested</a:t>
            </a:r>
          </a:p>
          <a:p>
            <a:pPr>
              <a:spcAft>
                <a:spcPts val="3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Demonstrates robustness at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99432"/>
            <a:ext cx="11091672" cy="1234440"/>
          </a:xfrm>
          <a:prstGeom prst="roundRect">
            <a:avLst>
              <a:gd name="adj" fmla="val 200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62828"/>
                </a:solidFill>
                <a:latin typeface="Segoe UI"/>
              </a:defRPr>
            </a:pPr>
            <a:r>
              <a:t>Cross-Virus Generalizability Confirmed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Segoe UI"/>
              </a:defRPr>
            </a:pPr>
            <a:r>
              <a:t>•  Same parameters (γ=10, ∂=3) applied to SARS-CoV-2 and all 3 influenza strains without any modification</a:t>
            </a:r>
          </a:p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•  Known functional mutations (D222G, E627K) successfully captured → MutClust is a universal viral surveillance tool</a:t>
            </a:r>
          </a:p>
        </p:txBody>
      </p:sp>
      <p:pic>
        <p:nvPicPr>
          <p:cNvPr id="23" name="Picture 2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Paper 2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20/22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610" y="1051560"/>
            <a:ext cx="10721338" cy="2194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2490" y="1234440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9650" y="1234440"/>
            <a:ext cx="50566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0D7377"/>
                </a:solidFill>
                <a:latin typeface="Segoe UI"/>
              </a:defRPr>
            </a:pPr>
            <a:r>
              <a:t>Paper 2 Key Contributions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H-score unified metric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MutClust 477 hotspots across 9/10 genes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•  28 severity hotspots + NK hypothesis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9609" y="3410712"/>
            <a:ext cx="10721339" cy="521208"/>
          </a:xfrm>
          <a:prstGeom prst="roundRect">
            <a:avLst>
              <a:gd name="adj" fmla="val 0"/>
            </a:avLst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2489" y="3502914"/>
            <a:ext cx="10433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1600" dirty="0" err="1"/>
              <a:t>BioData</a:t>
            </a:r>
            <a:r>
              <a:rPr sz="1600" dirty="0"/>
              <a:t> Mining (2025, SCIE)</a:t>
            </a:r>
            <a:r>
              <a:rPr lang="ko-KR" altLang="en-US" sz="1600" dirty="0"/>
              <a:t> </a:t>
            </a:r>
            <a:r>
              <a:rPr lang="en-US" altLang="ko-KR" sz="1600" dirty="0"/>
              <a:t>| </a:t>
            </a:r>
            <a:r>
              <a:rPr sz="1600" dirty="0"/>
              <a:t>github.com/</a:t>
            </a:r>
            <a:r>
              <a:rPr sz="1600" dirty="0" err="1"/>
              <a:t>cobi</a:t>
            </a:r>
            <a:r>
              <a:rPr sz="1600" dirty="0"/>
              <a:t>-git/</a:t>
            </a:r>
            <a:r>
              <a:rPr sz="1600" dirty="0" err="1"/>
              <a:t>mutclust</a:t>
            </a:r>
            <a:endParaRPr sz="1600" dirty="0"/>
          </a:p>
        </p:txBody>
      </p:sp>
      <p:sp>
        <p:nvSpPr>
          <p:cNvPr id="26" name="Rounded Rectangle 25"/>
          <p:cNvSpPr/>
          <p:nvPr/>
        </p:nvSpPr>
        <p:spPr>
          <a:xfrm>
            <a:off x="689610" y="4169664"/>
            <a:ext cx="10721340" cy="1956816"/>
          </a:xfrm>
          <a:prstGeom prst="roundRect">
            <a:avLst>
              <a:gd name="adj" fmla="val 0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2490" y="4352544"/>
            <a:ext cx="5193792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95057"/>
                </a:solidFill>
                <a:latin typeface="Segoe UI"/>
              </a:defRPr>
            </a:pPr>
            <a:r>
              <a:t>Acknowledged Limitations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In silico → experimental validation needed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γ=10 SARS-CoV-2 specific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•  Future: HIV, HBV, somatic mutations,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real-time surveillance</a:t>
            </a:r>
          </a:p>
        </p:txBody>
      </p:sp>
      <p:pic>
        <p:nvPicPr>
          <p:cNvPr id="28" name="Picture 27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32891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Conclusion: Computational Frameworks for Precision Medicine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pic>
        <p:nvPicPr>
          <p:cNvPr id="6" name="Picture 5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21/22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0165"/>
            <a:ext cx="11091672" cy="1371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3045"/>
            <a:ext cx="45720" cy="411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84757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7377"/>
                </a:solidFill>
                <a:latin typeface="Segoe UI"/>
              </a:defRPr>
            </a:pPr>
            <a:r>
              <a:t>1. Evaluating Methods (MOSD)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3085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How to design multi-omics integration studies?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9-factor benchmark → data-driven thresholds (26 samples, 10% features, 3:1 ratio)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10 methods evaluated → method selection guidelines per research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4645"/>
            <a:ext cx="11091672" cy="1371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057525"/>
            <a:ext cx="457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39237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Segoe UI"/>
              </a:defRPr>
            </a:pPr>
            <a:r>
              <a:t>2. Creating Methods (MutClust)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77565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How to extract clinical insights from viral mutations?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H-score + adaptive clustering → data-driven hotspot detection (γ from 5-dist plot)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477 hotspots, 28 severity-linked → NK cell immune evasion hypothesis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29125"/>
            <a:ext cx="11091672" cy="1371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612005"/>
            <a:ext cx="4572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93717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3. Unifying Theme: Data-Driven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2045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Paper 1 evaluates existing methods → Paper 2 creates a new one (evaluator → creator)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Both discover quantitative thresholds from data, not arbitrary cutoffs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 Unsupervised clustering + rigorous validation → biological insight, open source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knu_symbol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32004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4173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2876" y="2240280"/>
            <a:ext cx="2743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12529"/>
                </a:solidFill>
                <a:latin typeface="Segoe UI"/>
              </a:defRPr>
            </a:pPr>
            <a:r>
              <a:t>Hwijun Kwon | Advisor: Prof. Inuk Jung</a:t>
            </a:r>
          </a:p>
          <a:p>
            <a:pPr algn="ctr">
              <a:spcAft>
                <a:spcPts val="1200"/>
              </a:spcAft>
              <a:defRPr sz="1500" b="0">
                <a:solidFill>
                  <a:srgbClr val="495057"/>
                </a:solidFill>
                <a:latin typeface="Segoe UI"/>
              </a:defRPr>
            </a:pPr>
            <a:r>
              <a:t>Dept. of Computer Science, KNU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495057"/>
                </a:solidFill>
                <a:latin typeface="Segoe UI"/>
              </a:defRPr>
            </a:pPr>
            <a:r>
              <a:t>BMC Genomics (2025, SCIE)  |  BioData Mining (2025, SCIE)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0D7377"/>
                </a:solidFill>
                <a:latin typeface="Segoe UI"/>
              </a:defRPr>
            </a:pPr>
            <a:r>
              <a:t>github.com/cobi-git/mosd  |  github.com/cobi-git/mutclust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2721</Words>
  <Application>Microsoft Office PowerPoint</Application>
  <PresentationFormat>사용자 지정</PresentationFormat>
  <Paragraphs>424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휘준 권</cp:lastModifiedBy>
  <cp:revision>9</cp:revision>
  <dcterms:created xsi:type="dcterms:W3CDTF">2013-01-27T09:14:16Z</dcterms:created>
  <dcterms:modified xsi:type="dcterms:W3CDTF">2026-03-05T09:25:18Z</dcterms:modified>
  <cp:category/>
</cp:coreProperties>
</file>